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83cb9071-eade-fe7b-40c3-87128f48e687}">
          <p14:sldIdLst>
            <p14:sldId id="256"/>
            <p14:sldId id="257"/>
            <p14:sldId id="258"/>
          </p14:sldIdLst>
        </p14:section>
        <p14:section name="Results" id="{68ef3bfb-6437-bec2-b6d7-0be13d88474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 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747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CBD7E6"/>
                </a:solidFill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CBD7E6"/>
                </a:solidFill>
              </a:rPr>
              <a:t> 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D6E6EF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D6E6EF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Risk-Aware Data Repair · full progress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50" dirty="0">
                <a:solidFill>
                  <a:schemeClr val="accent3"/>
                </a:solidFill>
              </a:defRPr>
            </a:lvl1pPr>
          </a:lstStyle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99"/>
                </a:solidFill>
              </a:rPr>
              <a:t>Risk-Aware Data Repair · full progress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50" dirty="0">
                <a:solidFill>
                  <a:srgbClr val="6B7F99"/>
                </a:solidFill>
              </a:defRPr>
            </a:lvl1pPr>
          </a:lstStyle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Risk-Aware, LLM-Assisted Data Repair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747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b="1" dirty="0">
                <a:solidFill>
                  <a:srgbClr val="CBD7E6"/>
                </a:solidFill>
              </a:rPr>
              <a:t>Full progress report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BD7E6"/>
                </a:solidFill>
              </a:rPr>
              <a:t>13 pipeline phases, then four research waves rebuilding the method from fundamentals</a:t>
            </a:r>
            <a:endParaRPr lang="en-US" sz="1700" dirty="0"/>
          </a:p>
        </p:txBody>
      </p:sp>
      <p:sp>
        <p:nvSpPr>
          <p:cNvPr id="4" name="r0"/>
          <p:cNvSpPr/>
          <p:nvPr/>
        </p:nvSpPr>
        <p:spPr>
          <a:xfrm>
            <a:off x="822960" y="5120640"/>
            <a:ext cx="146304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r1"/>
          <p:cNvSpPr/>
          <p:nvPr/>
        </p:nvSpPr>
        <p:spPr>
          <a:xfrm>
            <a:off x="2377440" y="5120640"/>
            <a:ext cx="146304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r2"/>
          <p:cNvSpPr/>
          <p:nvPr/>
        </p:nvSpPr>
        <p:spPr>
          <a:xfrm>
            <a:off x="3931920" y="5120640"/>
            <a:ext cx="1463040" cy="54864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7" name="r3"/>
          <p:cNvSpPr/>
          <p:nvPr/>
        </p:nvSpPr>
        <p:spPr>
          <a:xfrm>
            <a:off x="5486400" y="5120640"/>
            <a:ext cx="1463040" cy="5486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0"/>
                </a:solidFill>
              </a:rPr>
              <a:t>Every number measured · losses reported · ~1,850 tests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are testing</a:t>
            </a:r>
            <a:endParaRPr lang="en-US" sz="3000" dirty="0"/>
          </a:p>
        </p:txBody>
      </p:sp>
      <p:sp>
        <p:nvSpPr>
          <p:cNvPr id="3" name="c0.71.35"/>
          <p:cNvSpPr/>
          <p:nvPr/>
        </p:nvSpPr>
        <p:spPr>
          <a:xfrm>
            <a:off x="640080" y="123444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EAF3F8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89888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The claim is not “we repair data well.” It is:
</a:t>
            </a:r>
            <a:endParaRPr lang="en-US" sz="1250" dirty="0"/>
          </a:p>
          <a:p>
            <a:pPr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A calibrated probability of correctness, combined with explicit costs of being wrong, produces better decisions than acting on raw confidence.</a:t>
            </a:r>
            <a:endParaRPr lang="en-US" sz="1250" dirty="0"/>
          </a:p>
        </p:txBody>
      </p:sp>
      <p:sp>
        <p:nvSpPr>
          <p:cNvPr id="5" name="c0.73.1"/>
          <p:cNvSpPr/>
          <p:nvPr/>
        </p:nvSpPr>
        <p:spPr>
          <a:xfrm>
            <a:off x="640080" y="2834640"/>
            <a:ext cx="345643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6" name="d0"/>
          <p:cNvSpPr/>
          <p:nvPr/>
        </p:nvSpPr>
        <p:spPr>
          <a:xfrm>
            <a:off x="896112" y="30632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AUTO-REPAIR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E[cost] = (1 − p) × C_wrong</a:t>
            </a:r>
            <a:endParaRPr lang="en-US" sz="1150" dirty="0"/>
          </a:p>
        </p:txBody>
      </p:sp>
      <p:sp>
        <p:nvSpPr>
          <p:cNvPr id="9" name="c4.783.1"/>
          <p:cNvSpPr/>
          <p:nvPr/>
        </p:nvSpPr>
        <p:spPr>
          <a:xfrm>
            <a:off x="4370832" y="2834640"/>
            <a:ext cx="345643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0" name="d1"/>
          <p:cNvSpPr/>
          <p:nvPr/>
        </p:nvSpPr>
        <p:spPr>
          <a:xfrm>
            <a:off x="4626864" y="30632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02352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HUMAN REVIEW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E[cost] = C_human</a:t>
            </a:r>
            <a:endParaRPr lang="en-US" sz="1150" dirty="0"/>
          </a:p>
        </p:txBody>
      </p:sp>
      <p:sp>
        <p:nvSpPr>
          <p:cNvPr id="13" name="c8.863.1"/>
          <p:cNvSpPr/>
          <p:nvPr/>
        </p:nvSpPr>
        <p:spPr>
          <a:xfrm>
            <a:off x="8101584" y="2834640"/>
            <a:ext cx="345643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4" name="d2"/>
          <p:cNvSpPr/>
          <p:nvPr/>
        </p:nvSpPr>
        <p:spPr>
          <a:xfrm>
            <a:off x="8357616" y="306324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833104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ABSTAIN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E[cost] = q × C_abstain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389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Pick the cheapest of the three, cell by cell. Costs are abstract penalty units — never money.</a:t>
            </a:r>
            <a:endParaRPr lang="en-US" sz="1200" dirty="0"/>
          </a:p>
        </p:txBody>
      </p:sp>
      <p:sp>
        <p:nvSpPr>
          <p:cNvPr id="18" name="c0.75.3"/>
          <p:cNvSpPr/>
          <p:nvPr/>
        </p:nvSpPr>
        <p:spPr>
          <a:xfrm>
            <a:off x="640080" y="484632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FDF3E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010912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8"/>
                </a:solidFill>
              </a:rPr>
              <a:t>The constraint we measured first.  </a:t>
            </a:r>
            <a:pPr indent="0" marL="0">
              <a:buNone/>
            </a:pPr>
            <a:r>
              <a:rPr lang="en-US" sz="1250" dirty="0">
                <a:solidFill>
                  <a:srgbClr val="5F4206"/>
                </a:solidFill>
              </a:rPr>
              <a:t>Smudged values (out-of-range, format errors) are repaired 98–100 % correctly. Erased values (missing) only 29–50 %. You cannot recover destroyed information — so repair accuracy mostly measures the dataset, and the contribution must live in the decision layer.</a:t>
            </a:r>
            <a:endParaRPr lang="en-US" sz="1350" dirty="0"/>
          </a:p>
        </p:txBody>
      </p:sp>
      <p:sp>
        <p:nvSpPr>
          <p:cNvPr id="20" name="Text 1"/>
          <p:cNvSpPr/>
          <p:nvPr>
            <p:ph idx="102" hasCustomPrompt="1"/>
          </p:nvPr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pipeline: 13 phases</a:t>
            </a:r>
            <a:endParaRPr lang="en-US" sz="3000" dirty="0"/>
          </a:p>
        </p:txBody>
      </p:sp>
      <p:sp>
        <p:nvSpPr>
          <p:cNvPr id="3" name="s0"/>
          <p:cNvSpPr/>
          <p:nvPr/>
        </p:nvSpPr>
        <p:spPr>
          <a:xfrm>
            <a:off x="566928" y="1463040"/>
            <a:ext cx="1417320" cy="1554480"/>
          </a:xfrm>
          <a:prstGeom prst="roundRect">
            <a:avLst>
              <a:gd name="adj" fmla="val 6452"/>
            </a:avLst>
          </a:prstGeom>
          <a:solidFill>
            <a:srgbClr val="16294C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591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</a:rPr>
              <a:t>1–2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3852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Load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profile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956816" y="1965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3"/>
                </a:solidFill>
              </a:rPr>
              <a:t>›</a:t>
            </a:r>
            <a:endParaRPr lang="en-US" sz="1900" dirty="0"/>
          </a:p>
        </p:txBody>
      </p:sp>
      <p:sp>
        <p:nvSpPr>
          <p:cNvPr id="7" name="s1"/>
          <p:cNvSpPr/>
          <p:nvPr/>
        </p:nvSpPr>
        <p:spPr>
          <a:xfrm>
            <a:off x="2194560" y="1463040"/>
            <a:ext cx="1417320" cy="1554480"/>
          </a:xfrm>
          <a:prstGeom prst="roundRect">
            <a:avLst>
              <a:gd name="adj" fmla="val 6452"/>
            </a:avLst>
          </a:prstGeom>
          <a:solidFill>
            <a:srgbClr val="16294C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591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193852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Detect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1965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3"/>
                </a:solidFill>
              </a:rPr>
              <a:t>›</a:t>
            </a:r>
            <a:endParaRPr lang="en-US" sz="1900" dirty="0"/>
          </a:p>
        </p:txBody>
      </p:sp>
      <p:sp>
        <p:nvSpPr>
          <p:cNvPr id="11" name="s2"/>
          <p:cNvSpPr/>
          <p:nvPr/>
        </p:nvSpPr>
        <p:spPr>
          <a:xfrm>
            <a:off x="3822192" y="1463040"/>
            <a:ext cx="1417320" cy="1554480"/>
          </a:xfrm>
          <a:prstGeom prst="roundRect">
            <a:avLst>
              <a:gd name="adj" fmla="val 6452"/>
            </a:avLst>
          </a:prstGeom>
          <a:solidFill>
            <a:srgbClr val="16294C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22192" y="1591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4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822192" y="193852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Repair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1965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3"/>
                </a:solidFill>
              </a:rPr>
              <a:t>›</a:t>
            </a:r>
            <a:endParaRPr lang="en-US" sz="1900" dirty="0"/>
          </a:p>
        </p:txBody>
      </p:sp>
      <p:sp>
        <p:nvSpPr>
          <p:cNvPr id="15" name="s3"/>
          <p:cNvSpPr/>
          <p:nvPr/>
        </p:nvSpPr>
        <p:spPr>
          <a:xfrm>
            <a:off x="5449824" y="1463040"/>
            <a:ext cx="1417320" cy="1554480"/>
          </a:xfrm>
          <a:prstGeom prst="roundRect">
            <a:avLst>
              <a:gd name="adj" fmla="val 6452"/>
            </a:avLst>
          </a:prstGeom>
          <a:solidFill>
            <a:srgbClr val="16294C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9824" y="1591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5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49824" y="193852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Uncertainty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1965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3"/>
                </a:solidFill>
              </a:rPr>
              <a:t>›</a:t>
            </a:r>
            <a:endParaRPr lang="en-US" sz="1900" dirty="0"/>
          </a:p>
        </p:txBody>
      </p:sp>
      <p:sp>
        <p:nvSpPr>
          <p:cNvPr id="19" name="s4"/>
          <p:cNvSpPr/>
          <p:nvPr/>
        </p:nvSpPr>
        <p:spPr>
          <a:xfrm>
            <a:off x="7077456" y="1463040"/>
            <a:ext cx="1417320" cy="1554480"/>
          </a:xfrm>
          <a:prstGeom prst="roundRect">
            <a:avLst>
              <a:gd name="adj" fmla="val 6452"/>
            </a:avLst>
          </a:prstGeom>
          <a:solidFill>
            <a:srgbClr val="16294C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77456" y="1591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6 / 6b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077456" y="193852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Calibrate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p and q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467344" y="1965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3"/>
                </a:solidFill>
              </a:rPr>
              <a:t>›</a:t>
            </a:r>
            <a:endParaRPr lang="en-US" sz="1900" dirty="0"/>
          </a:p>
        </p:txBody>
      </p:sp>
      <p:sp>
        <p:nvSpPr>
          <p:cNvPr id="23" name="s5"/>
          <p:cNvSpPr/>
          <p:nvPr/>
        </p:nvSpPr>
        <p:spPr>
          <a:xfrm>
            <a:off x="8705088" y="1463040"/>
            <a:ext cx="1417320" cy="1554480"/>
          </a:xfrm>
          <a:prstGeom prst="roundRect">
            <a:avLst>
              <a:gd name="adj" fmla="val 6452"/>
            </a:avLst>
          </a:prstGeom>
          <a:solidFill>
            <a:srgbClr val="16294C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05088" y="1591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7–8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705088" y="193852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Cost model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&amp; decision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094976" y="1965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3"/>
                </a:solidFill>
              </a:rPr>
              <a:t>›</a:t>
            </a:r>
            <a:endParaRPr lang="en-US" sz="1900" dirty="0"/>
          </a:p>
        </p:txBody>
      </p:sp>
      <p:sp>
        <p:nvSpPr>
          <p:cNvPr id="27" name="s6"/>
          <p:cNvSpPr/>
          <p:nvPr/>
        </p:nvSpPr>
        <p:spPr>
          <a:xfrm>
            <a:off x="10332720" y="1463040"/>
            <a:ext cx="1417320" cy="1554480"/>
          </a:xfrm>
          <a:prstGeom prst="roundRect">
            <a:avLst>
              <a:gd name="adj" fmla="val 6452"/>
            </a:avLst>
          </a:prstGeom>
          <a:solidFill>
            <a:srgbClr val="16294C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32720" y="1591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9–10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193852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Baselines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evaluation</a:t>
            </a:r>
            <a:endParaRPr lang="en-US" sz="1050" dirty="0"/>
          </a:p>
        </p:txBody>
      </p:sp>
      <p:sp>
        <p:nvSpPr>
          <p:cNvPr id="30" name="e0"/>
          <p:cNvSpPr/>
          <p:nvPr/>
        </p:nvSpPr>
        <p:spPr>
          <a:xfrm>
            <a:off x="566928" y="342900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11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342900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</a:rPr>
              <a:t>Dashboard — move a cost slider, watch the decision flip live</a:t>
            </a:r>
            <a:endParaRPr lang="en-US" sz="1250" dirty="0"/>
          </a:p>
        </p:txBody>
      </p:sp>
      <p:sp>
        <p:nvSpPr>
          <p:cNvPr id="33" name="e1"/>
          <p:cNvSpPr/>
          <p:nvPr/>
        </p:nvSpPr>
        <p:spPr>
          <a:xfrm>
            <a:off x="566928" y="4142232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66928" y="4142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12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2103120" y="414223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</a:rPr>
              <a:t>Real LLM repair via Groq (GPT-OSS-120B), per-cell fallback</a:t>
            </a:r>
            <a:endParaRPr lang="en-US" sz="1250" dirty="0"/>
          </a:p>
        </p:txBody>
      </p:sp>
      <p:sp>
        <p:nvSpPr>
          <p:cNvPr id="36" name="e2"/>
          <p:cNvSpPr/>
          <p:nvPr/>
        </p:nvSpPr>
        <p:spPr>
          <a:xfrm>
            <a:off x="566928" y="4855464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66928" y="48554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13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103120" y="485546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</a:rPr>
              <a:t>One command regenerates every number, deterministically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</a:rPr>
              <a:t>Hard invariant throughout: no ground-truth leakage. Verified by scrambling clean values — detections, repairs and uncertainty come out byte-identical.</a:t>
            </a:r>
            <a:endParaRPr lang="en-US" sz="1100" dirty="0"/>
          </a:p>
        </p:txBody>
      </p:sp>
      <p:sp>
        <p:nvSpPr>
          <p:cNvPr id="40" name="Text 1"/>
          <p:cNvSpPr/>
          <p:nvPr>
            <p:ph idx="102" hasCustomPrompt="1"/>
          </p:nvPr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Part 1 — the original method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rgbClr val="D6E6EF"/>
                </a:solidFill>
              </a:rPr>
              <a:t>Full datasets, 20 repeated splits, bootstrap confidence intervals, fixed seed.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 fixed rule works everywhere; the adaptive one does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Policy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Adult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Breast Cancer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Smart Factory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Worst-case regret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Proposed (calibrated + cost-aware)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1,615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14,186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6B2E8F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Always human review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11,658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1,775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14,186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11,658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Raw confidence ≥ 0.70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11,658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1,720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14,186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11,658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Always abstain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3,550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35,465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21,279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Always auto-repair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58,290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5,800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126,275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112,089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0.74.1"/>
          <p:cNvSpPr/>
          <p:nvPr/>
        </p:nvSpPr>
        <p:spPr>
          <a:xfrm>
            <a:off x="640080" y="3749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EEFA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391363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060"/>
                </a:solidFill>
              </a:rPr>
              <a:t>Zero worst-case regret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261104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060"/>
                </a:solidFill>
              </a:rPr>
              <a:t>Best cost on every dataset. Every fixed rule is beaten badly somewhere — always-human wastes 11,658 units reviewing Adult’s false alarms.</a:t>
            </a:r>
            <a:endParaRPr lang="en-US" sz="1200" dirty="0"/>
          </a:p>
        </p:txBody>
      </p:sp>
      <p:sp>
        <p:nvSpPr>
          <p:cNvPr id="7" name="c6.854.1"/>
          <p:cNvSpPr/>
          <p:nvPr/>
        </p:nvSpPr>
        <p:spPr>
          <a:xfrm>
            <a:off x="6263640" y="3749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DF3E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37960" y="391363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8"/>
                </a:solidFill>
              </a:rPr>
              <a:t>But: wins vs ties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4261104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4206"/>
                </a:solidFill>
              </a:rPr>
              <a:t>Breast Cancer is an outright win. Adult TIES always-abstain at 0. Smart Factory TIES always-human. Reported as ties, not spun as wins.</a:t>
            </a:r>
            <a:endParaRPr lang="en-US" sz="1200" dirty="0"/>
          </a:p>
        </p:txBody>
      </p:sp>
      <p:sp>
        <p:nvSpPr>
          <p:cNvPr id="10" name="Text 1"/>
          <p:cNvSpPr/>
          <p:nvPr>
            <p:ph idx="102" hasCustomPrompt="1"/>
          </p:nvPr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What did not work — reported, not hidden</a:t>
            </a:r>
            <a:endParaRPr lang="en-US" sz="3000" dirty="0"/>
          </a:p>
        </p:txBody>
      </p:sp>
      <p:sp>
        <p:nvSpPr>
          <p:cNvPr id="3" name="n0"/>
          <p:cNvSpPr/>
          <p:nvPr/>
        </p:nvSpPr>
        <p:spPr>
          <a:xfrm>
            <a:off x="640080" y="128016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16294C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nd0"/>
          <p:cNvSpPr/>
          <p:nvPr/>
        </p:nvSpPr>
        <p:spPr>
          <a:xfrm>
            <a:off x="914400" y="1581912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✘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3716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9D4"/>
                </a:solidFill>
              </a:rPr>
              <a:t>Our own multivariate calibrator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70078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2E6"/>
                </a:solidFill>
              </a:rPr>
              <a:t>Indistinguishable from raw on Breast Cancer; worse than isotonic on Smart Factory (0.1883 vs 0.1632). A failed ablation, not a feature.</a:t>
            </a:r>
            <a:endParaRPr lang="en-US" sz="1150" dirty="0"/>
          </a:p>
        </p:txBody>
      </p:sp>
      <p:sp>
        <p:nvSpPr>
          <p:cNvPr id="8" name="n1"/>
          <p:cNvSpPr/>
          <p:nvPr/>
        </p:nvSpPr>
        <p:spPr>
          <a:xfrm>
            <a:off x="640080" y="2487168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16294C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nd1"/>
          <p:cNvSpPr/>
          <p:nvPr/>
        </p:nvSpPr>
        <p:spPr>
          <a:xfrm>
            <a:off x="914400" y="2788920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✘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257860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9D4"/>
                </a:solidFill>
              </a:rPr>
              <a:t>A number we had been quoting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9077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2E6"/>
                </a:solidFill>
              </a:rPr>
              <a:t>Logistic vs raw on Breast Cancer: 0.1979 vs 0.1982. One split had made it look real. Twenty splits killed it.</a:t>
            </a:r>
            <a:endParaRPr lang="en-US" sz="1150" dirty="0"/>
          </a:p>
        </p:txBody>
      </p:sp>
      <p:sp>
        <p:nvSpPr>
          <p:cNvPr id="13" name="n2"/>
          <p:cNvSpPr/>
          <p:nvPr/>
        </p:nvSpPr>
        <p:spPr>
          <a:xfrm>
            <a:off x="640080" y="3694176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16294C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nd2"/>
          <p:cNvSpPr/>
          <p:nvPr/>
        </p:nvSpPr>
        <p:spPr>
          <a:xfrm>
            <a:off x="914400" y="3995928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✘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378561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9D4"/>
                </a:solidFill>
              </a:rPr>
              <a:t>The real LLM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114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2E6"/>
                </a:solidFill>
              </a:rPr>
              <a:t>Repairs better (71.0 % vs 67.3 %) yet our policy does worse, and a four-line threshold beats us. On easy cases the LLM scores 92.5 % where a rule scores 100 %.</a:t>
            </a:r>
            <a:endParaRPr lang="en-US" sz="1150" dirty="0"/>
          </a:p>
        </p:txBody>
      </p:sp>
      <p:sp>
        <p:nvSpPr>
          <p:cNvPr id="18" name="n3"/>
          <p:cNvSpPr/>
          <p:nvPr/>
        </p:nvSpPr>
        <p:spPr>
          <a:xfrm>
            <a:off x="640080" y="4901184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16294C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d3"/>
          <p:cNvSpPr/>
          <p:nvPr/>
        </p:nvSpPr>
        <p:spPr>
          <a:xfrm>
            <a:off x="914400" y="5202936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202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✘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499262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9D4"/>
                </a:solidFill>
              </a:rPr>
              <a:t>Only one dataset really tests the claim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532180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2E6"/>
                </a:solidFill>
              </a:rPr>
              <a:t>Adult’s corruption is invisible to detection; Smart Factory’s is all destroyed values.</a:t>
            </a:r>
            <a:endParaRPr lang="en-US" sz="1150" dirty="0"/>
          </a:p>
        </p:txBody>
      </p:sp>
      <p:sp>
        <p:nvSpPr>
          <p:cNvPr id="23" name="Text 1"/>
          <p:cNvSpPr/>
          <p:nvPr>
            <p:ph idx="102" hasCustomPrompt="1"/>
          </p:nvPr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Part 2 — four research waves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rgbClr val="D6E6EF"/>
                </a:solidFill>
              </a:rPr>
              <a:t>We stopped optimising repair accuracy and started optimising detection: P(this cell is corrupted).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we reframed: detection was the broken link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Prevalence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PR-AUC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Reading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Smart Factory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1.58 %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trivial — corruption is literally blank cells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Breast Cancer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7.52 %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0.6712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0.8222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real signal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Adult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0.25 %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0.0025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0.4957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no information at all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0.73.1"/>
          <p:cNvSpPr/>
          <p:nvPr/>
        </p:nvSpPr>
        <p:spPr>
          <a:xfrm>
            <a:off x="640080" y="283464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BECEC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2999232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B22"/>
                </a:solidFill>
              </a:rPr>
              <a:t>Adult’s PR-AUC equals its prevalence to six decimals — that is the signature of a constant scorer. </a:t>
            </a:r>
            <a:pPr indent="0" marL="0">
              <a:buNone/>
            </a:pPr>
            <a:r>
              <a:rPr lang="en-US" sz="1250" dirty="0">
                <a:solidFill>
                  <a:srgbClr val="6E241D"/>
                </a:solidFill>
              </a:rPr>
              <a:t>Its ROC-AUC of 0.4957 is BELOW 0.5, so the ranking is slightly anti-correlated with corruption. It found 0 of 1,701 real errors and raised 5,829 false alarms. 0.0025 is the floor, never a score.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434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Why? Adult’s corruption swaps a valid value for another valid value — like changing “cat” to “dog”. A spell-checker sees nothing wrong. Published systems behave identically: HoloDetect reports F1 = 0.002 for outlier detection on Adult.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257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A rule detector is a SET, not a RANKING — Breast Cancer has only 5 distinct scores, 95 % of cells sharing one. PR-AUC measures it on an axis it does not attempt. That gap is the headroom.</a:t>
            </a:r>
            <a:endParaRPr lang="en-US" sz="1200" dirty="0"/>
          </a:p>
        </p:txBody>
      </p:sp>
      <p:sp>
        <p:nvSpPr>
          <p:cNvPr id="8" name="Text 1"/>
          <p:cNvSpPr/>
          <p:nvPr>
            <p:ph idx="102" hasCustomPrompt="1"/>
          </p:nvPr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Waves 1–3: what each one established</a:t>
            </a:r>
            <a:endParaRPr lang="en-US" sz="3000" dirty="0"/>
          </a:p>
        </p:txBody>
      </p:sp>
      <p:sp>
        <p:nvSpPr>
          <p:cNvPr id="3" name="c0.71.3"/>
          <p:cNvSpPr/>
          <p:nvPr/>
        </p:nvSpPr>
        <p:spPr>
          <a:xfrm>
            <a:off x="640080" y="1188720"/>
            <a:ext cx="1097280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4" name="w0"/>
          <p:cNvSpPr/>
          <p:nvPr/>
        </p:nvSpPr>
        <p:spPr>
          <a:xfrm>
            <a:off x="868680" y="1371600"/>
            <a:ext cx="1188720" cy="457200"/>
          </a:xfrm>
          <a:prstGeom prst="roundRect">
            <a:avLst>
              <a:gd name="adj" fmla="val 14000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Wave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4416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Ask whether a value fits its ROW, not whether it is malformed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719072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Adult 0.0025 → 0.0120 overall; 0.13 → 0.70 on the tampered column. ROC 0.4957 → 0.8875. A built-in control proved conditioning is the factor — but it LOSES on Breast Cancer (0.6404 vs 0.6712).</a:t>
            </a:r>
            <a:endParaRPr lang="en-US" sz="1150" dirty="0"/>
          </a:p>
        </p:txBody>
      </p:sp>
      <p:sp>
        <p:nvSpPr>
          <p:cNvPr id="8" name="c0.73"/>
          <p:cNvSpPr/>
          <p:nvPr/>
        </p:nvSpPr>
        <p:spPr>
          <a:xfrm>
            <a:off x="640080" y="2743200"/>
            <a:ext cx="1097280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9" name="w1"/>
          <p:cNvSpPr/>
          <p:nvPr/>
        </p:nvSpPr>
        <p:spPr>
          <a:xfrm>
            <a:off x="868680" y="2926080"/>
            <a:ext cx="1188720" cy="4572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Wave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89864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Combine the rule and the conditional detector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3273552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Breast Cancer 0.7209 at ZERO labels, beating both (0.6712 / 0.6361) with non-overlapping intervals. Raha’s famous 20-label jump does NOT transfer: at 0.25 % prevalence, 20 labels found zero errors in 5/5 splits.</a:t>
            </a:r>
            <a:endParaRPr lang="en-US" sz="1150" dirty="0"/>
          </a:p>
        </p:txBody>
      </p:sp>
      <p:sp>
        <p:nvSpPr>
          <p:cNvPr id="13" name="c0.74.7"/>
          <p:cNvSpPr/>
          <p:nvPr/>
        </p:nvSpPr>
        <p:spPr>
          <a:xfrm>
            <a:off x="640080" y="4297680"/>
            <a:ext cx="1097280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4" name="w2"/>
          <p:cNvSpPr/>
          <p:nvPr/>
        </p:nvSpPr>
        <p:spPr>
          <a:xfrm>
            <a:off x="868680" y="4480560"/>
            <a:ext cx="1188720" cy="457200"/>
          </a:xfrm>
          <a:prstGeom prst="roundRect">
            <a:avLst>
              <a:gd name="adj" fmla="val 14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480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Wave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44531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Decide which cells to spend a label budget 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4828032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Spreading the budget reaches 50 % of full supervision with 100 labels; asking in small batches needs 5× fewer than all at once. Asking about the most-suspicious cells NEVER works — zero positives at every budget.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Measurement catch worth keeping: conditional features are scored out-of-fold. An in-sample fit scored 0.5014 vs 0.6408 — it would have handed us a handicapped baseline and a fabricated improvement.</a:t>
            </a:r>
            <a:endParaRPr lang="en-US" sz="1100" dirty="0"/>
          </a:p>
        </p:txBody>
      </p:sp>
      <p:sp>
        <p:nvSpPr>
          <p:cNvPr id="19" name="Text 1"/>
          <p:cNvSpPr/>
          <p:nvPr>
            <p:ph idx="102" hasCustomPrompt="1"/>
          </p:nvPr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Wave 4: answering external review</a:t>
            </a:r>
            <a:endParaRPr lang="en-US" sz="3000" dirty="0"/>
          </a:p>
        </p:txBody>
      </p:sp>
      <p:sp>
        <p:nvSpPr>
          <p:cNvPr id="3" name="c0.71.25"/>
          <p:cNvSpPr/>
          <p:nvPr/>
        </p:nvSpPr>
        <p:spPr>
          <a:xfrm>
            <a:off x="640080" y="11430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CF7F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603A"/>
                </a:solidFill>
              </a:rPr>
              <a:t>Are the costs defensible?  Yes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4846320" cy="914400"/>
        </p:xfrm>
        <a:graphic>
          <a:graphicData uri="http://schemas.openxmlformats.org/drawingml/2006/table">
            <a:tbl>
              <a:tblPr/>
              <a:tblGrid>
                <a:gridCol w="1615440"/>
                <a:gridCol w="1615440"/>
                <a:gridCol w="16154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Best or tied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Strictly best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Adult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100.0 %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0.0 %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Breast Cancer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96.5 %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57.9 %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Smart Factory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98.5 %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2.9 %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914400" y="2834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B44"/>
                </a:solidFill>
              </a:rPr>
              <a:t>Robust across a principled cost sweep — but Adult’s 100 % is 100 % TIES. Robustness and superiority are different claims.</a:t>
            </a:r>
            <a:endParaRPr lang="en-US" sz="1100" dirty="0"/>
          </a:p>
        </p:txBody>
      </p:sp>
      <p:sp>
        <p:nvSpPr>
          <p:cNvPr id="7" name="c6.81.25"/>
          <p:cNvSpPr/>
          <p:nvPr/>
        </p:nvSpPr>
        <p:spPr>
          <a:xfrm>
            <a:off x="6217920" y="11430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4EEFA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2060"/>
                </a:solidFill>
              </a:rPr>
              <a:t>Routing easy vs hard cells</a:t>
            </a:r>
            <a:endParaRPr lang="en-US" sz="13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91640"/>
          <a:ext cx="4846320" cy="914400"/>
        </p:xfrm>
        <a:graphic>
          <a:graphicData uri="http://schemas.openxmlformats.org/drawingml/2006/table">
            <a:tbl>
              <a:tblPr/>
              <a:tblGrid>
                <a:gridCol w="1211580"/>
                <a:gridCol w="1211580"/>
                <a:gridCol w="1211580"/>
                <a:gridCol w="12115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Calls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Rule only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67.3 %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1,615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LLM only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71.0 %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355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1,670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Routed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71.0 %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210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1,680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49224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2060"/>
                </a:solidFill>
              </a:rPr>
              <a:t>Same accuracy as the LLM with 41 % fewer API calls.</a:t>
            </a:r>
            <a:endParaRPr lang="en-US" sz="1100" dirty="0"/>
          </a:p>
        </p:txBody>
      </p:sp>
      <p:sp>
        <p:nvSpPr>
          <p:cNvPr id="11" name="c0.74"/>
          <p:cNvSpPr/>
          <p:nvPr/>
        </p:nvSpPr>
        <p:spPr>
          <a:xfrm>
            <a:off x="640080" y="36576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DF3E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14400" y="382219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8"/>
                </a:solidFill>
              </a:rPr>
              <a:t>The sharpest finding: better repairs produce WORSE policy cost.  </a:t>
            </a:r>
            <a:pPr indent="0" marL="0">
              <a:buNone/>
            </a:pPr>
            <a:r>
              <a:rPr lang="en-US" sz="1200" dirty="0">
                <a:solidFill>
                  <a:srgbClr val="5F4206"/>
                </a:solidFill>
              </a:rPr>
              <a:t>The least accurate method is cheapest (1,615); the oracle is most accurate and most expensive (1,775). Better repairs raise confidence, more cells auto-repair, and a wrong auto-repair costs 50 against review’s 5. The LLM did not fail — it succeeded at the wrong objective.</a:t>
            </a:r>
            <a:endParaRPr lang="en-US" sz="1300" dirty="0"/>
          </a:p>
        </p:txBody>
      </p:sp>
      <p:sp>
        <p:nvSpPr>
          <p:cNvPr id="13" name="c0.75.45"/>
          <p:cNvSpPr/>
          <p:nvPr/>
        </p:nvSpPr>
        <p:spPr>
          <a:xfrm>
            <a:off x="640080" y="498348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BECEC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14400" y="514807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B22"/>
                </a:solidFill>
              </a:rPr>
              <a:t>Two of our ideas turned out to be prior art or formally wrong.  </a:t>
            </a:r>
            <a:pPr indent="0" marL="0">
              <a:buNone/>
            </a:pPr>
            <a:r>
              <a:rPr lang="en-US" sz="1200" dirty="0">
                <a:solidFill>
                  <a:srgbClr val="6E241D"/>
                </a:solidFill>
              </a:rPr>
              <a:t>ED2 (CIKM 2019) already contains a “Column Selector” doing what we were about to claim. And our scoring statistic is a density where theory calls for a likelihood ratio (Ren et al., NeurIPS 2019). We tested the fix and it was REFUTED.</a:t>
            </a:r>
            <a:endParaRPr lang="en-US" sz="1300" dirty="0"/>
          </a:p>
        </p:txBody>
      </p:sp>
      <p:sp>
        <p:nvSpPr>
          <p:cNvPr id="15" name="Text 1"/>
          <p:cNvSpPr/>
          <p:nvPr>
            <p:ph idx="102" hasCustomPrompt="1"/>
          </p:nvPr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open problem, found by measuring carefully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D4"/>
                </a:solidFill>
              </a:rPr>
              <a:t>On Adult, of the top 5,000 cells our detector is most suspicious about, ZERO are in the tampered column.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766560" cy="914400"/>
        </p:xfrm>
        <a:graphic>
          <a:graphicData uri="http://schemas.openxmlformats.org/drawingml/2006/table">
            <a:tbl>
              <a:tblPr/>
              <a:tblGrid>
                <a:gridCol w="2255520"/>
                <a:gridCol w="2255520"/>
                <a:gridCol w="2255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Cells in top 1,701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Actually corrupted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native_country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1,348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occupation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343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marital_status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workclass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</a:rPr>
                        <a:t>income (the tampered one)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8.41.8"/>
          <p:cNvSpPr/>
          <p:nvPr/>
        </p:nvSpPr>
        <p:spPr>
          <a:xfrm>
            <a:off x="7680960" y="164592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6294C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792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CCF2"/>
                </a:solidFill>
              </a:rPr>
              <a:t>Why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1031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5"/>
                </a:solidFill>
              </a:rPr>
              <a:t>Almost everyone in that column is from the United States, so a rare country is genuinely improbable. The model is CORRECT that it is surprising. It is also completely clean.</a:t>
            </a:r>
            <a:endParaRPr lang="en-US" sz="1150" dirty="0"/>
          </a:p>
        </p:txBody>
      </p:sp>
      <p:sp>
        <p:nvSpPr>
          <p:cNvPr id="8" name="c0.74.35"/>
          <p:cNvSpPr/>
          <p:nvPr/>
        </p:nvSpPr>
        <p:spPr>
          <a:xfrm>
            <a:off x="640080" y="397764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1D3A6B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41422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CCF2"/>
                </a:solidFill>
              </a:rPr>
              <a:t>Rarity is not corruption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48056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5"/>
                </a:solidFill>
              </a:rPr>
              <a:t>Our detector ranks corruption well WITHIN a column (0.6873 on the right one) but has no idea WHICH column is worth looking at. Those are two different skills and we only have the first.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7F5"/>
                </a:solidFill>
              </a:rPr>
              <a:t>This also explains wave 3: strategies that asked about the most-suspicious cells found zero errors, because the top of the ranking was never the tampered column. Column-level triage is the next thing to build.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2" hasCustomPrompt="1"/>
          </p:nvPr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we stand</a:t>
            </a:r>
            <a:endParaRPr lang="en-US" sz="3000" dirty="0"/>
          </a:p>
        </p:txBody>
      </p:sp>
      <p:sp>
        <p:nvSpPr>
          <p:cNvPr id="3" name="c0.71.3"/>
          <p:cNvSpPr/>
          <p:nvPr/>
        </p:nvSpPr>
        <p:spPr>
          <a:xfrm>
            <a:off x="640080" y="11887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ECF7F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533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603A"/>
                </a:solidFill>
              </a:rPr>
              <a:t>Done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3736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6B44"/>
                </a:solidFill>
              </a:rPr>
              <a:t>All 13 pipeline phases, end to end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6B44"/>
                </a:solidFill>
              </a:rPr>
              <a:t>Calibrated three-way decision layer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6B44"/>
                </a:solidFill>
              </a:rPr>
              <a:t>Interactive dashboard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6B44"/>
                </a:solidFill>
              </a:rPr>
              <a:t>Real LLM integration, measured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6B44"/>
                </a:solidFill>
              </a:rPr>
              <a:t>Reproducible experiment runner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6B44"/>
                </a:solidFill>
              </a:rPr>
              <a:t>Four research waves with honest ablations</a:t>
            </a:r>
            <a:endParaRPr lang="en-US" sz="1150" dirty="0"/>
          </a:p>
        </p:txBody>
      </p:sp>
      <p:sp>
        <p:nvSpPr>
          <p:cNvPr id="6" name="c6.81.3"/>
          <p:cNvSpPr/>
          <p:nvPr/>
        </p:nvSpPr>
        <p:spPr>
          <a:xfrm>
            <a:off x="6217920" y="11887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DF3E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3533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8"/>
                </a:solidFill>
              </a:rPr>
              <a:t>Open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73736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4206"/>
                </a:solidFill>
              </a:rPr>
              <a:t>Run Raha — a published baseline, installable today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4206"/>
                </a:solidFill>
              </a:rPr>
              <a:t>Column-level triage (the real open problem)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4206"/>
                </a:solidFill>
              </a:rPr>
              <a:t>Only one dataset truly tests the claim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4206"/>
                </a:solidFill>
              </a:rPr>
              <a:t>Title says “LLM-Assisted”; the LLM barely helps</a:t>
            </a:r>
            <a:endParaRPr lang="en-US" sz="1150" dirty="0"/>
          </a:p>
        </p:txBody>
      </p:sp>
      <p:sp>
        <p:nvSpPr>
          <p:cNvPr id="9" name="c0.74.1"/>
          <p:cNvSpPr/>
          <p:nvPr/>
        </p:nvSpPr>
        <p:spPr>
          <a:xfrm>
            <a:off x="640080" y="3749040"/>
            <a:ext cx="10972800" cy="2011680"/>
          </a:xfrm>
          <a:prstGeom prst="roundRect">
            <a:avLst>
              <a:gd name="adj" fmla="val 3636"/>
            </a:avLst>
          </a:prstGeom>
          <a:solidFill>
            <a:srgbClr val="EAF3F8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9136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A63"/>
                </a:solidFill>
              </a:rPr>
              <a:t>The honest takeaway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261104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506B"/>
                </a:solidFill>
              </a:rPr>
              <a:t>Smudged values are fixed almost perfectly by simple rules. Erased values cannot be fixed by anything — not by a rule, not by a large language model. What actually matters is knowing which is which, and refusing to trust a repair that should not be trusted.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506B"/>
                </a:solidFill>
              </a:rPr>
              <a:t>That is the decision layer, and it works. Discovering that several of our own ideas were worthless is the project working properly — we found out before the paper, not after.</a:t>
            </a:r>
            <a:endParaRPr lang="en-US" sz="1250" dirty="0"/>
          </a:p>
        </p:txBody>
      </p:sp>
      <p:sp>
        <p:nvSpPr>
          <p:cNvPr id="12" name="Text 1"/>
          <p:cNvSpPr/>
          <p:nvPr>
            <p:ph idx="102" hasCustomPrompt="1"/>
          </p:nvPr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kAwareRepairFull">
  <a:themeElements>
    <a:clrScheme name="RiskAwareRepairFull">
      <a:dk1>
        <a:srgbClr val="0F1E3D"/>
      </a:dk1>
      <a:lt1>
        <a:srgbClr val="FFFFFF"/>
      </a:lt1>
      <a:dk2>
        <a:srgbClr val="1C7293"/>
      </a:dk2>
      <a:lt2>
        <a:srgbClr val="F1F5F9"/>
      </a:lt2>
      <a:accent1>
        <a:srgbClr val="27AE60"/>
      </a:accent1>
      <a:accent2>
        <a:srgbClr val="F39C12"/>
      </a:accent2>
      <a:accent3>
        <a:srgbClr val="7F8C8D"/>
      </a:accent3>
      <a:accent4>
        <a:srgbClr val="8E44AD"/>
      </a:accent4>
      <a:accent5>
        <a:srgbClr val="C0392B"/>
      </a:accent5>
      <a:accent6>
        <a:srgbClr val="065A82"/>
      </a:accent6>
      <a:hlink>
        <a:srgbClr val="1C7293"/>
      </a:hlink>
      <a:folHlink>
        <a:srgbClr val="7F8C8D"/>
      </a:folHlink>
    </a:clrScheme>
    <a:fontScheme name="RiskAwareRepairFul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Risk-Aware Data Repair - Full Progress</dc:title>
  <dc:subject>PptxGenJS Presentation</dc:subject>
  <dc:creator>Saanvi</dc:creator>
  <cp:lastModifiedBy>Saanvi</cp:lastModifiedBy>
  <cp:revision>1</cp:revision>
  <dcterms:created xsi:type="dcterms:W3CDTF">2026-10-17T14:52:44Z</dcterms:created>
  <dcterms:modified xsi:type="dcterms:W3CDTF">2026-10-17T14:52:44Z</dcterms:modified>
</cp:coreProperties>
</file>