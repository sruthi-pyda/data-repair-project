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91db737-944d-aa59-6b5f-7f1498689d56}">
          <p14:sldIdLst>
            <p14:sldId id="256"/>
            <p14:sldId id="257"/>
          </p14:sldIdLst>
        </p14:section>
        <p14:section name="What was built" id="{e9104508-2529-3785-8900-16deecee9f56}">
          <p14:sldIdLst>
            <p14:sldId id="258"/>
            <p14:sldId id="259"/>
            <p14:sldId id="260"/>
            <p14:sldId id="261"/>
            <p14:sldId id="262"/>
          </p14:sldIdLst>
        </p14:section>
        <p14:section name="Results" id="{5885b44f-b389-2dc8-1841-36504fce116a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E3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0F1E3D"/>
                </a:solidFill>
                <a:latin typeface="+mj-lt"/>
              </a:rPr>
              <a:t>Brier score (lower is better), 20 splits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Breast Cancer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Raw</c:v>
                  </c:pt>
                  <c:pt idx="1">
                    <c:v>Logistic</c:v>
                  </c:pt>
                  <c:pt idx="2">
                    <c:v>Isotonic</c:v>
                  </c:pt>
                  <c:pt idx="3">
                    <c:v>Multivariate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0.1982</c:v>
                </c:pt>
                <c:pt idx="1">
                  <c:v>0.1979</c:v>
                </c:pt>
                <c:pt idx="2">
                  <c:v>0.1842</c:v>
                </c:pt>
                <c:pt idx="3">
                  <c:v>0.1968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Smart Factory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Raw</c:v>
                  </c:pt>
                  <c:pt idx="1">
                    <c:v>Logistic</c:v>
                  </c:pt>
                  <c:pt idx="2">
                    <c:v>Isotonic</c:v>
                  </c:pt>
                  <c:pt idx="3">
                    <c:v>Multivariate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0.2732</c:v>
                </c:pt>
                <c:pt idx="1">
                  <c:v>0.1691</c:v>
                </c:pt>
                <c:pt idx="2">
                  <c:v>0.1632</c:v>
                </c:pt>
                <c:pt idx="3">
                  <c:v>0.1883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E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C8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1E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review. All 13 planned phases are complete; a research extension is in progress. Every number in this deck comes from code that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= calibrated probability the proposed repair is correct. q = calibrated probability the flagged cell is genuinely corrupted. Costs are abstract experimental penalty units, not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1-10 form the core pipeline. 6b was added during this period. 11-13 are the dashboard, the real LLM and the reproducible experiment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Adult's corruption is income-label flips. No syntactic rule can see them. This is the motivating failure for the research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computes raw confidence, self-consistency across resampled calls, and entropy over the candidate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scrambling test is the strongest evidence: it changes only the labels, so anything that moves must have been leaking.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Costs are abstract experimental penalty units from configs/costs.yaml. Never monetary, never clinical, never supplied by the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Costs are experimental penalty units. Adult's 0 is zero residual-corruption cost on the FLAGGED cells only: 1,701 genuine corruptions were never detected and are priced at zero for every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Brier score measures how well-calibrated a probability is - lower is better. ECE tells the same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overthinks deterministic cases that a simple rule gets right every time. On genuinely destroyed values nothing can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that two of our own ideas do not work is not the same as the project not working. Catching them before the paper is the good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discipline matters because two previously reported claims turned out to be noise. Honest measurement is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reframes the project: the repairer barely matters; the decision layer does. That is a stronger finding than the original framing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7E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BD7E6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D6E6E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D6E6EF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Risk-Aware LLM-Assisted Data Repair  ·  Review 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9"/>
                </a:solidFill>
              </a:rPr>
              <a:t>Risk-Aware LLM-Assisted Data Repair  ·  Review 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6B7F99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Risk-Aware, LLM-Assisted Data Repair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7E6"/>
                </a:solidFill>
              </a:rPr>
              <a:t>Second Review  ·  Progress Report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BD7E6"/>
                </a:solidFill>
              </a:rPr>
              <a:t>Calibrated uncertainty and explicit costs for deciding when to repair, review, or abstain</a:t>
            </a:r>
            <a:endParaRPr lang="en-US" sz="1800" dirty="0"/>
          </a:p>
        </p:txBody>
      </p:sp>
      <p:sp>
        <p:nvSpPr>
          <p:cNvPr id="4" name="rule-a"/>
          <p:cNvSpPr/>
          <p:nvPr/>
        </p:nvSpPr>
        <p:spPr>
          <a:xfrm>
            <a:off x="822960" y="5257800"/>
            <a:ext cx="146304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rule-b"/>
          <p:cNvSpPr/>
          <p:nvPr/>
        </p:nvSpPr>
        <p:spPr>
          <a:xfrm>
            <a:off x="2377440" y="5257800"/>
            <a:ext cx="1463040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rule-c"/>
          <p:cNvSpPr/>
          <p:nvPr/>
        </p:nvSpPr>
        <p:spPr>
          <a:xfrm>
            <a:off x="3931920" y="5257800"/>
            <a:ext cx="1463040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0"/>
                </a:solidFill>
              </a:rPr>
              <a:t>13 phases complete  ·  1,850 tests passing  ·  3 benchmark datasets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are actually testing</a:t>
            </a:r>
            <a:endParaRPr lang="en-US" sz="3200" dirty="0"/>
          </a:p>
        </p:txBody>
      </p:sp>
      <p:sp>
        <p:nvSpPr>
          <p:cNvPr id="3" name="card-0.7-1.5"/>
          <p:cNvSpPr/>
          <p:nvPr/>
        </p:nvSpPr>
        <p:spPr>
          <a:xfrm>
            <a:off x="640080" y="13716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36192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The research claim is not “we repair data well.” It is:
</a:t>
            </a:r>
            <a:endParaRPr lang="en-US" sz="1300" dirty="0"/>
          </a:p>
          <a:p>
            <a:pPr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A calibrated probability of correctness, combined with explicit costs of being wrong, produces better decisions than acting on raw model confidence.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906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same confidence should lead to different actions when the consequences change.</a:t>
            </a:r>
            <a:endParaRPr lang="en-US" sz="1400" dirty="0"/>
          </a:p>
        </p:txBody>
      </p:sp>
      <p:sp>
        <p:nvSpPr>
          <p:cNvPr id="6" name="card-0.7-3.8"/>
          <p:cNvSpPr/>
          <p:nvPr/>
        </p:nvSpPr>
        <p:spPr>
          <a:xfrm>
            <a:off x="640080" y="3474720"/>
            <a:ext cx="345643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7" name="dot0"/>
          <p:cNvSpPr/>
          <p:nvPr/>
        </p:nvSpPr>
        <p:spPr>
          <a:xfrm>
            <a:off x="896112" y="3703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3703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AUTO-REPAIR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24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Apply the fix automatically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E[cost] = (1 − p) × C_wrong</a:t>
            </a:r>
            <a:endParaRPr lang="en-US" sz="1200" dirty="0"/>
          </a:p>
        </p:txBody>
      </p:sp>
      <p:sp>
        <p:nvSpPr>
          <p:cNvPr id="11" name="card-4.78-3.8"/>
          <p:cNvSpPr/>
          <p:nvPr/>
        </p:nvSpPr>
        <p:spPr>
          <a:xfrm>
            <a:off x="4370832" y="3474720"/>
            <a:ext cx="345643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2" name="dot1"/>
          <p:cNvSpPr/>
          <p:nvPr/>
        </p:nvSpPr>
        <p:spPr>
          <a:xfrm>
            <a:off x="4626864" y="3703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48072" y="3703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HUMAN REVIEW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4224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Send the cell to a person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E[cost] = C_human</a:t>
            </a:r>
            <a:endParaRPr lang="en-US" sz="1200" dirty="0"/>
          </a:p>
        </p:txBody>
      </p:sp>
      <p:sp>
        <p:nvSpPr>
          <p:cNvPr id="16" name="card-8.86-3.8"/>
          <p:cNvSpPr/>
          <p:nvPr/>
        </p:nvSpPr>
        <p:spPr>
          <a:xfrm>
            <a:off x="8101584" y="3474720"/>
            <a:ext cx="345643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7" name="dot2"/>
          <p:cNvSpPr/>
          <p:nvPr/>
        </p:nvSpPr>
        <p:spPr>
          <a:xfrm>
            <a:off x="8357616" y="37033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78824" y="3703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ABSTAIN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4224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Leave the cell unchanged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E[cost] = q × C_abstain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The system picks whichever of the three has the lowest expected cost, cell by cell.</a:t>
            </a:r>
            <a:endParaRPr lang="en-US" sz="1200" dirty="0"/>
          </a:p>
        </p:txBody>
      </p:sp>
      <p:sp>
        <p:nvSpPr>
          <p:cNvPr id="23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pipeline: 13 phases, end to end</a:t>
            </a:r>
            <a:endParaRPr lang="en-US" sz="3200" dirty="0"/>
          </a:p>
        </p:txBody>
      </p:sp>
      <p:sp>
        <p:nvSpPr>
          <p:cNvPr id="3" name="st0"/>
          <p:cNvSpPr/>
          <p:nvPr/>
        </p:nvSpPr>
        <p:spPr>
          <a:xfrm>
            <a:off x="566928" y="18288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1–2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Load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Profile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56816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›</a:t>
            </a:r>
            <a:endParaRPr lang="en-US" sz="2000" dirty="0"/>
          </a:p>
        </p:txBody>
      </p:sp>
      <p:sp>
        <p:nvSpPr>
          <p:cNvPr id="7" name="st1"/>
          <p:cNvSpPr/>
          <p:nvPr/>
        </p:nvSpPr>
        <p:spPr>
          <a:xfrm>
            <a:off x="2194560" y="18288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suspicious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›</a:t>
            </a:r>
            <a:endParaRPr lang="en-US" sz="2000" dirty="0"/>
          </a:p>
        </p:txBody>
      </p:sp>
      <p:sp>
        <p:nvSpPr>
          <p:cNvPr id="11" name="st2"/>
          <p:cNvSpPr/>
          <p:nvPr/>
        </p:nvSpPr>
        <p:spPr>
          <a:xfrm>
            <a:off x="3822192" y="18288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Repair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candidates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t3"/>
          <p:cNvSpPr/>
          <p:nvPr/>
        </p:nvSpPr>
        <p:spPr>
          <a:xfrm>
            <a:off x="5449824" y="18288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9824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49824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Quantify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uncertainty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t4"/>
          <p:cNvSpPr/>
          <p:nvPr/>
        </p:nvSpPr>
        <p:spPr>
          <a:xfrm>
            <a:off x="7077456" y="18288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 / 6b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Calibrate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p and q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st5"/>
          <p:cNvSpPr/>
          <p:nvPr/>
        </p:nvSpPr>
        <p:spPr>
          <a:xfrm>
            <a:off x="8705088" y="18288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05088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7–8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705088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Cost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&amp; decision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094976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›</a:t>
            </a:r>
            <a:endParaRPr lang="en-US" sz="2000" dirty="0"/>
          </a:p>
        </p:txBody>
      </p:sp>
      <p:sp>
        <p:nvSpPr>
          <p:cNvPr id="27" name="st6"/>
          <p:cNvSpPr/>
          <p:nvPr/>
        </p:nvSpPr>
        <p:spPr>
          <a:xfrm>
            <a:off x="10332720" y="18288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9–10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Baselines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2F0"/>
                </a:solidFill>
              </a:rPr>
              <a:t>&amp; evaluation</a:t>
            </a:r>
            <a:endParaRPr lang="en-US" sz="1100" dirty="0"/>
          </a:p>
        </p:txBody>
      </p:sp>
      <p:sp>
        <p:nvSpPr>
          <p:cNvPr id="30" name="ex0"/>
          <p:cNvSpPr/>
          <p:nvPr/>
        </p:nvSpPr>
        <p:spPr>
          <a:xfrm>
            <a:off x="566928" y="393192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39319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</a:rPr>
              <a:t>Streamlit dashboard — move a cost slider, watch the decision flip live</a:t>
            </a:r>
            <a:endParaRPr lang="en-US" sz="1300" dirty="0"/>
          </a:p>
        </p:txBody>
      </p:sp>
      <p:sp>
        <p:nvSpPr>
          <p:cNvPr id="33" name="ex1"/>
          <p:cNvSpPr/>
          <p:nvPr/>
        </p:nvSpPr>
        <p:spPr>
          <a:xfrm>
            <a:off x="566928" y="4645152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66928" y="4645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103120" y="46451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</a:rPr>
              <a:t>Real LLM repair via Groq (GPT-OSS-120B), with per-cell fallback</a:t>
            </a:r>
            <a:endParaRPr lang="en-US" sz="1300" dirty="0"/>
          </a:p>
        </p:txBody>
      </p:sp>
      <p:sp>
        <p:nvSpPr>
          <p:cNvPr id="36" name="ex2"/>
          <p:cNvSpPr/>
          <p:nvPr/>
        </p:nvSpPr>
        <p:spPr>
          <a:xfrm>
            <a:off x="566928" y="5358384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6928" y="53583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103120" y="53583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</a:rPr>
              <a:t>One command regenerates every number, figure and table, deterministically</a:t>
            </a:r>
            <a:endParaRPr lang="en-US" sz="1300" dirty="0"/>
          </a:p>
        </p:txBody>
      </p:sp>
      <p:sp>
        <p:nvSpPr>
          <p:cNvPr id="40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Phases 1–3: profile, then flag suspicious cells</a:t>
            </a:r>
            <a:endParaRPr lang="en-US" sz="3200" dirty="0"/>
          </a:p>
        </p:txBody>
      </p:sp>
      <p:sp>
        <p:nvSpPr>
          <p:cNvPr id="3" name="card-0.7-1.45"/>
          <p:cNvSpPr/>
          <p:nvPr/>
        </p:nvSpPr>
        <p:spPr>
          <a:xfrm>
            <a:off x="640080" y="132588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Six independent checks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Missing / null-token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Out-of-range against observed bounds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IQR fence outlier (k = 3)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Format error (e.g. “1a0” in a numeric column)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Novel category outside the vocabulary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Whitespace anomaly</a:t>
            </a:r>
            <a:endParaRPr lang="en-US" sz="1250" dirty="0"/>
          </a:p>
        </p:txBody>
      </p:sp>
      <p:sp>
        <p:nvSpPr>
          <p:cNvPr id="6" name="card-7-1.45"/>
          <p:cNvSpPr/>
          <p:nvPr/>
        </p:nvSpPr>
        <p:spPr>
          <a:xfrm>
            <a:off x="6400800" y="13258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EAF3F8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Three benchmark datasets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965960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Rows × Cols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Corrupted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Breast Cancer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699 × 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Smart Factory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23,645 × 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7,093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45,222 × 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1,701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finding1"/>
          <p:cNvSpPr/>
          <p:nvPr/>
        </p:nvSpPr>
        <p:spPr>
          <a:xfrm>
            <a:off x="640080" y="384048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DF3E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8"/>
                </a:solidFill>
              </a:rPr>
              <a:t>Finding: detection is the weak link, and it fails in opposite ways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4348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F4206"/>
                </a:solidFill>
              </a:rPr>
              <a:t>Smart Factory — perfect detection (the corruption is literally blank cells), but repairs are only 28.8% right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F4206"/>
                </a:solidFill>
              </a:rPr>
              <a:t>Adult — detector finds 0 of 1,701 real errors and raises 5,829 false alarms; the corruption is a valid value swapped for another valid value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F4206"/>
                </a:solidFill>
              </a:rPr>
              <a:t>Breast Cancer — the only dataset where detection and repair both work (precision 1.00, recall 0.56)</a:t>
            </a:r>
            <a:endParaRPr lang="en-US" sz="1250" dirty="0"/>
          </a:p>
        </p:txBody>
      </p:sp>
      <p:sp>
        <p:nvSpPr>
          <p:cNvPr id="13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Phases 4–5: repair candidates and uncertainty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 governing constraint we measured, not assumed</a:t>
            </a:r>
            <a:endParaRPr lang="en-US" sz="1500" dirty="0"/>
          </a:p>
        </p:txBody>
      </p:sp>
      <p:sp>
        <p:nvSpPr>
          <p:cNvPr id="4" name="card-0.7-1.9"/>
          <p:cNvSpPr/>
          <p:nvPr/>
        </p:nvSpPr>
        <p:spPr>
          <a:xfrm>
            <a:off x="640080" y="1737360"/>
            <a:ext cx="10972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Out-of-range value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98.4%</a:t>
            </a:r>
            <a:endParaRPr lang="en-US" sz="1700" dirty="0"/>
          </a:p>
        </p:txBody>
      </p:sp>
      <p:sp>
        <p:nvSpPr>
          <p:cNvPr id="7" name="bar0"/>
          <p:cNvSpPr/>
          <p:nvPr/>
        </p:nvSpPr>
        <p:spPr>
          <a:xfrm>
            <a:off x="5760720" y="1938528"/>
            <a:ext cx="2519355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0" y="17373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recoverable — the original is implied</a:t>
            </a:r>
            <a:endParaRPr lang="en-US" sz="1100" dirty="0"/>
          </a:p>
        </p:txBody>
      </p:sp>
      <p:sp>
        <p:nvSpPr>
          <p:cNvPr id="9" name="card-0.7-2.62"/>
          <p:cNvSpPr/>
          <p:nvPr/>
        </p:nvSpPr>
        <p:spPr>
          <a:xfrm>
            <a:off x="640080" y="2395728"/>
            <a:ext cx="10972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395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Format error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100%</a:t>
            </a:r>
            <a:endParaRPr lang="en-US" sz="1700" dirty="0"/>
          </a:p>
        </p:txBody>
      </p:sp>
      <p:sp>
        <p:nvSpPr>
          <p:cNvPr id="12" name="bar1"/>
          <p:cNvSpPr/>
          <p:nvPr/>
        </p:nvSpPr>
        <p:spPr>
          <a:xfrm>
            <a:off x="5760720" y="2596896"/>
            <a:ext cx="2560320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0" y="23957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recoverable — the original is implied</a:t>
            </a:r>
            <a:endParaRPr lang="en-US" sz="1100" dirty="0"/>
          </a:p>
        </p:txBody>
      </p:sp>
      <p:sp>
        <p:nvSpPr>
          <p:cNvPr id="14" name="card-0.7-3.34"/>
          <p:cNvSpPr/>
          <p:nvPr/>
        </p:nvSpPr>
        <p:spPr>
          <a:xfrm>
            <a:off x="640080" y="3054096"/>
            <a:ext cx="10972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0540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Missing (Breast Cancer)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0540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50.0%</a:t>
            </a:r>
            <a:endParaRPr lang="en-US" sz="1700" dirty="0"/>
          </a:p>
        </p:txBody>
      </p:sp>
      <p:sp>
        <p:nvSpPr>
          <p:cNvPr id="17" name="bar2"/>
          <p:cNvSpPr/>
          <p:nvPr/>
        </p:nvSpPr>
        <p:spPr>
          <a:xfrm>
            <a:off x="5760720" y="3255264"/>
            <a:ext cx="1280160" cy="16459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305409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destroyed — nothing left to recover</a:t>
            </a:r>
            <a:endParaRPr lang="en-US" sz="1100" dirty="0"/>
          </a:p>
        </p:txBody>
      </p:sp>
      <p:sp>
        <p:nvSpPr>
          <p:cNvPr id="19" name="card-0.7-4.0600000000000005"/>
          <p:cNvSpPr/>
          <p:nvPr/>
        </p:nvSpPr>
        <p:spPr>
          <a:xfrm>
            <a:off x="640080" y="3712464"/>
            <a:ext cx="10972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7124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Missing (Smart Factory)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28.8%</a:t>
            </a:r>
            <a:endParaRPr lang="en-US" sz="1700" dirty="0"/>
          </a:p>
        </p:txBody>
      </p:sp>
      <p:sp>
        <p:nvSpPr>
          <p:cNvPr id="22" name="bar3"/>
          <p:cNvSpPr/>
          <p:nvPr/>
        </p:nvSpPr>
        <p:spPr>
          <a:xfrm>
            <a:off x="5760720" y="3913632"/>
            <a:ext cx="737372" cy="16459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5360" y="37124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destroyed — nothing left to recover</a:t>
            </a:r>
            <a:endParaRPr lang="en-US" sz="1100" dirty="0"/>
          </a:p>
        </p:txBody>
      </p:sp>
      <p:sp>
        <p:nvSpPr>
          <p:cNvPr id="24" name="insight"/>
          <p:cNvSpPr/>
          <p:nvPr/>
        </p:nvSpPr>
        <p:spPr>
          <a:xfrm>
            <a:off x="640080" y="452628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ECF7F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709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603A"/>
                </a:solidFill>
              </a:rPr>
              <a:t>You cannot recover information that was destroyed.  </a:t>
            </a:r>
            <a:pPr indent="0" marL="0">
              <a:buNone/>
            </a:pPr>
            <a:r>
              <a:rPr lang="en-US" sz="1300" dirty="0">
                <a:solidFill>
                  <a:srgbClr val="1F6B44"/>
                </a:solidFill>
              </a:rPr>
              <a:t>Repair accuracy therefore measures a dataset’s mix of recoverable vs destroyed corruption, not the method. That is why the contribution has to live in the decision layer — knowing when a repair cannot be trusted.</a:t>
            </a:r>
            <a:endParaRPr lang="en-US" sz="1500" dirty="0"/>
          </a:p>
        </p:txBody>
      </p:sp>
      <p:sp>
        <p:nvSpPr>
          <p:cNvPr id="27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Phases 6 and 6b: two probabilities, both learned</a:t>
            </a:r>
            <a:endParaRPr lang="en-US" sz="3200" dirty="0"/>
          </a:p>
        </p:txBody>
      </p:sp>
      <p:sp>
        <p:nvSpPr>
          <p:cNvPr id="3" name="card-0.7-1.5"/>
          <p:cNvSpPr/>
          <p:nvPr/>
        </p:nvSpPr>
        <p:spPr>
          <a:xfrm>
            <a:off x="640080" y="1371600"/>
            <a:ext cx="52120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p0"/>
          <p:cNvSpPr/>
          <p:nvPr/>
        </p:nvSpPr>
        <p:spPr>
          <a:xfrm>
            <a:off x="960120" y="16459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64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P(the proposed repair is correct)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Logistic / isotonic / multivariate, fitted on a held-out split of 0/1 correctness labels</a:t>
            </a:r>
            <a:endParaRPr lang="en-US" sz="1200" dirty="0"/>
          </a:p>
        </p:txBody>
      </p:sp>
      <p:sp>
        <p:nvSpPr>
          <p:cNvPr id="8" name="card-7-1.5"/>
          <p:cNvSpPr/>
          <p:nvPr/>
        </p:nvSpPr>
        <p:spPr>
          <a:xfrm>
            <a:off x="6400800" y="1371600"/>
            <a:ext cx="52120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9" name="p1"/>
          <p:cNvSpPr/>
          <p:nvPr/>
        </p:nvSpPr>
        <p:spPr>
          <a:xfrm>
            <a:off x="6720840" y="164592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q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664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P(the flagged cell is genuinely corrupted)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560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Learned per detector check type — added this period so abstention responds to evidence</a:t>
            </a:r>
            <a:endParaRPr lang="en-US" sz="1200" dirty="0"/>
          </a:p>
        </p:txBody>
      </p:sp>
      <p:sp>
        <p:nvSpPr>
          <p:cNvPr id="13" name="leak"/>
          <p:cNvSpPr/>
          <p:nvPr/>
        </p:nvSpPr>
        <p:spPr>
          <a:xfrm>
            <a:off x="640080" y="370332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FBECE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886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B22"/>
                </a:solidFill>
              </a:rPr>
              <a:t>Non-negotiable: no ground-truth leakage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2976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41D"/>
                </a:solidFill>
              </a:rPr>
              <a:t>Clean data may produce 0/1 labels only, on a training split, and only for the two calibrators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41D"/>
                </a:solidFill>
              </a:rPr>
              <a:t>No detector, repairer or decision function ever receives clean data — enforced by construction and asserted in tests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41D"/>
                </a:solidFill>
              </a:rPr>
              <a:t>Verified empirically: scrambling the clean values leaves detections, repairs and uncertainty signals byte-identical</a:t>
            </a:r>
            <a:endParaRPr lang="en-US" sz="1250" dirty="0"/>
          </a:p>
        </p:txBody>
      </p:sp>
      <p:sp>
        <p:nvSpPr>
          <p:cNvPr id="17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Phases 7–8: the decision rule, verified</a:t>
            </a:r>
            <a:endParaRPr lang="en-US" sz="3200" dirty="0"/>
          </a:p>
        </p:txBody>
      </p:sp>
      <p:sp>
        <p:nvSpPr>
          <p:cNvPr id="3" name="card-0.7-1.4"/>
          <p:cNvSpPr/>
          <p:nvPr/>
        </p:nvSpPr>
        <p:spPr>
          <a:xfrm>
            <a:off x="64008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AF3F8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Boundaries derived from the cost equations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vs HUMAN     p* = 1 − C_human / C_wrong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vs ABSTAIN  q* = C_human / C_abstain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vs ABSTAIN   p = 1 − q·C_abstain / C_wrong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Checked against the implementation on a 201×201 grid per dataset: 0 mismatches out of 40,401 each.</a:t>
            </a:r>
            <a:endParaRPr lang="en-US" sz="1150" dirty="0"/>
          </a:p>
        </p:txBody>
      </p:sp>
      <p:sp>
        <p:nvSpPr>
          <p:cNvPr id="7" name="card-6.9-1.4"/>
          <p:cNvSpPr/>
          <p:nvPr/>
        </p:nvSpPr>
        <p:spPr>
          <a:xfrm>
            <a:off x="630936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Honest limitation we state openly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28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q* is a horizontal boundary, so for a single cell with a fixed q, one of HUMAN / ABSTAIN is still unreachable — both are constant in p and never cross.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the mechanism changes is which of the two is live, per cell, on evidence. “All three actions reachable” is a claim about the population, not every cell.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94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Measured: all three actions in one dataset (Breast Cancer, Tukey fence k = 1.5)</a:t>
            </a:r>
            <a:endParaRPr lang="en-US" sz="1400" dirty="0"/>
          </a:p>
        </p:txBody>
      </p:sp>
      <p:sp>
        <p:nvSpPr>
          <p:cNvPr id="11" name="card-0.7-4.6"/>
          <p:cNvSpPr/>
          <p:nvPr/>
        </p:nvSpPr>
        <p:spPr>
          <a:xfrm>
            <a:off x="640080" y="4206240"/>
            <a:ext cx="345643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34340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0176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AUTO-REPAIR  (of 550 cells)</a:t>
            </a:r>
            <a:endParaRPr lang="en-US" sz="1100" dirty="0"/>
          </a:p>
        </p:txBody>
      </p:sp>
      <p:sp>
        <p:nvSpPr>
          <p:cNvPr id="14" name="card-4.78-4.6"/>
          <p:cNvSpPr/>
          <p:nvPr/>
        </p:nvSpPr>
        <p:spPr>
          <a:xfrm>
            <a:off x="4370832" y="4206240"/>
            <a:ext cx="345643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0832" y="434340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320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500176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HUMAN REVIEW  (of 550 cells)</a:t>
            </a:r>
            <a:endParaRPr lang="en-US" sz="1100" dirty="0"/>
          </a:p>
        </p:txBody>
      </p:sp>
      <p:sp>
        <p:nvSpPr>
          <p:cNvPr id="17" name="card-8.86-4.6"/>
          <p:cNvSpPr/>
          <p:nvPr/>
        </p:nvSpPr>
        <p:spPr>
          <a:xfrm>
            <a:off x="8101584" y="4206240"/>
            <a:ext cx="345643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01584" y="434340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195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101584" y="500176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ABSTAIN  (of 550 cells)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Every one of the 195 abstentions is an IQR-outlier flag (learned q = 0.038); no missing-value cell abstains (q = 0.99).</a:t>
            </a:r>
            <a:endParaRPr lang="en-US" sz="1150" dirty="0"/>
          </a:p>
        </p:txBody>
      </p:sp>
      <p:sp>
        <p:nvSpPr>
          <p:cNvPr id="22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Results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6EF"/>
                </a:solidFill>
              </a:rPr>
              <a:t>Full datasets, 20 repeated calibration splits, bootstrap confidence intervals, fixed seed. Regenerated by one command.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 single fixed rule works on every dataset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Policy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Breast Cancer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Smart Factory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Worst-case regret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Proposed (calibrated + cost-aware)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1,615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14,186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B2E8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Always human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14,186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Raw confidence ≥ 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14,186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Always abstain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3,550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35,465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21,279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Always auto-repair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58,290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5,800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126,275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112,089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headline"/>
          <p:cNvSpPr/>
          <p:nvPr/>
        </p:nvSpPr>
        <p:spPr>
          <a:xfrm>
            <a:off x="640080" y="41148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F4EEF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4297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060"/>
                </a:solidFill>
              </a:rPr>
              <a:t>Regret = how much worse than the best policy for that dataset.  </a:t>
            </a:r>
            <a:pPr indent="0" marL="0">
              <a:buNone/>
            </a:pPr>
            <a:r>
              <a:rPr lang="en-US" sz="1300" dirty="0">
                <a:solidFill>
                  <a:srgbClr val="4A2060"/>
                </a:solidFill>
              </a:rPr>
              <a:t>The proposed method attains the best cost on every dataset, so its worst-case regret is zero. Every fixed rule is beaten badly somewhere: always-human wastes 11,658 units reviewing Adult’s false alarms; always-abstain abandons real errors elsewhere.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A80"/>
                </a:solidFill>
              </a:rPr>
              <a:t>Per dataset, without spin: Breast Cancer is an outright win; Adult ties always-abstain at 0 while beating everything else; Smart Factory is a flat tie with always-human — reported as a tie.</a:t>
            </a:r>
            <a:endParaRPr lang="en-US" sz="1150" dirty="0"/>
          </a:p>
        </p:txBody>
      </p:sp>
      <p:sp>
        <p:nvSpPr>
          <p:cNvPr id="8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Calibration quality, now with error bars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172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7.5-1.4"/>
          <p:cNvSpPr/>
          <p:nvPr/>
        </p:nvSpPr>
        <p:spPr>
          <a:xfrm>
            <a:off x="6858000" y="1280160"/>
            <a:ext cx="480060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3232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survives resampling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828800"/>
            <a:ext cx="4251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7"/>
                </a:solidFill>
              </a:rPr>
              <a:t>✔  Isotonic beats raw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0.1842 vs 0.1982 — intervals do not overlap.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E3B30"/>
                </a:solidFill>
              </a:rPr>
              <a:t>✘  Logistic vs raw is noise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0.1979 vs 0.1982. We had been quoting this as an improvement; it did not survive 20 splits.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E3B30"/>
                </a:solidFill>
              </a:rPr>
              <a:t>✘  Adult cannot be calibrated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0 of 20 splits fitted. Printed as “—”, never as a number.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</a:rPr>
              <a:t>Moving from a single split to 20 splits with bootstrap intervals invalidated two claims we had been making. That is the point of doing it.</a:t>
            </a:r>
            <a:endParaRPr lang="en-US" sz="1300" dirty="0"/>
          </a:p>
        </p:txBody>
      </p:sp>
      <p:sp>
        <p:nvSpPr>
          <p:cNvPr id="9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 12: a real LLM vs the stand-in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392 live calls on Breast Cancer · GPT-OSS-120B via Groq · 0.5% fallback rate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669280" cy="91440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Mock repairer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Real LLM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Repair accuracy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67.3%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7A47"/>
                          </a:solidFill>
                        </a:rPr>
                        <a:t>71.0%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Our policy’s cost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1,615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1,670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Best simple baseline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1,720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1,620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-7.3-1.8"/>
          <p:cNvSpPr/>
          <p:nvPr/>
        </p:nvSpPr>
        <p:spPr>
          <a:xfrm>
            <a:off x="6675120" y="164592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FBECE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8105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B22"/>
                </a:solidFill>
              </a:rPr>
              <a:t>The LLM repairs better — and our policy does worse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3774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D"/>
                </a:solidFill>
              </a:rPr>
              <a:t>With the real model, a four-line confidence threshold beats our method by 50 units on the one dataset where everything works. Reported as a loss.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Why the upside is capped — controlled comparison on 80 cells by error type</a:t>
            </a:r>
            <a:endParaRPr lang="en-US" sz="1400" dirty="0"/>
          </a:p>
        </p:txBody>
      </p:sp>
      <p:sp>
        <p:nvSpPr>
          <p:cNvPr id="9" name="card-0.7-4.75"/>
          <p:cNvSpPr/>
          <p:nvPr/>
        </p:nvSpPr>
        <p:spPr>
          <a:xfrm>
            <a:off x="640080" y="4343400"/>
            <a:ext cx="109728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343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Erased values (unknowable)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4343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Mock 45%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343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LLM 50%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343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noise — both guessing</a:t>
            </a:r>
            <a:endParaRPr lang="en-US" sz="1200" dirty="0"/>
          </a:p>
        </p:txBody>
      </p:sp>
      <p:sp>
        <p:nvSpPr>
          <p:cNvPr id="14" name="card-0.7-5.5"/>
          <p:cNvSpPr/>
          <p:nvPr/>
        </p:nvSpPr>
        <p:spPr>
          <a:xfrm>
            <a:off x="640080" y="5029200"/>
            <a:ext cx="109728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5029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Mangled values (recoverable)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Mock 100%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5"/>
                </a:solidFill>
              </a:rPr>
              <a:t>LLM 92.5%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 LLM is WORSE</a:t>
            </a:r>
            <a:endParaRPr lang="en-US" sz="1200" dirty="0"/>
          </a:p>
        </p:txBody>
      </p:sp>
      <p:sp>
        <p:nvSpPr>
          <p:cNvPr id="20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does not work — reported, not hidden</a:t>
            </a:r>
            <a:endParaRPr lang="en-US" sz="3200" dirty="0"/>
          </a:p>
        </p:txBody>
      </p:sp>
      <p:sp>
        <p:nvSpPr>
          <p:cNvPr id="3" name="neg0"/>
          <p:cNvSpPr/>
          <p:nvPr/>
        </p:nvSpPr>
        <p:spPr>
          <a:xfrm>
            <a:off x="640080" y="137160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negdot0"/>
          <p:cNvSpPr/>
          <p:nvPr/>
        </p:nvSpPr>
        <p:spPr>
          <a:xfrm>
            <a:off x="914400" y="1664208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8132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D4"/>
                </a:solidFill>
              </a:rPr>
              <a:t>Our own multivariate calibrator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2E6"/>
                </a:solidFill>
              </a:rPr>
              <a:t>Indistinguishable from raw on Breast Cancer Brier, and worse than isotonic on Smart Factory (0.1883 vs 0.1632). It is a failed experiment, not a feature.</a:t>
            </a:r>
            <a:endParaRPr lang="en-US" sz="1200" dirty="0"/>
          </a:p>
        </p:txBody>
      </p:sp>
      <p:sp>
        <p:nvSpPr>
          <p:cNvPr id="8" name="neg1"/>
          <p:cNvSpPr/>
          <p:nvPr/>
        </p:nvSpPr>
        <p:spPr>
          <a:xfrm>
            <a:off x="640080" y="256032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negdot1"/>
          <p:cNvSpPr/>
          <p:nvPr/>
        </p:nvSpPr>
        <p:spPr>
          <a:xfrm>
            <a:off x="914400" y="2852928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7004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D4"/>
                </a:solidFill>
              </a:rPr>
              <a:t>Only one dataset really tests the claim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017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2E6"/>
                </a:solidFill>
              </a:rPr>
              <a:t>Adult’s corruption is invisible to the detector; Smart Factory’s is all destroyed values. Breast Cancer is the only dataset where the loop closes.</a:t>
            </a:r>
            <a:endParaRPr lang="en-US" sz="1200" dirty="0"/>
          </a:p>
        </p:txBody>
      </p:sp>
      <p:sp>
        <p:nvSpPr>
          <p:cNvPr id="13" name="neg2"/>
          <p:cNvSpPr/>
          <p:nvPr/>
        </p:nvSpPr>
        <p:spPr>
          <a:xfrm>
            <a:off x="640080" y="374904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negdot2"/>
          <p:cNvSpPr/>
          <p:nvPr/>
        </p:nvSpPr>
        <p:spPr>
          <a:xfrm>
            <a:off x="914400" y="4041648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✘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85876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D4"/>
                </a:solidFill>
              </a:rPr>
              <a:t>Detector confidence as a probability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062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2E6"/>
                </a:solidFill>
              </a:rPr>
              <a:t>Adult’s outlier flags score ~0.6 while 0% of them are genuinely corrupted. Using that score directly changes zero decisions — tested and rejected.</a:t>
            </a:r>
            <a:endParaRPr lang="en-US" sz="1200" dirty="0"/>
          </a:p>
        </p:txBody>
      </p:sp>
      <p:sp>
        <p:nvSpPr>
          <p:cNvPr id="18" name="neg3"/>
          <p:cNvSpPr/>
          <p:nvPr/>
        </p:nvSpPr>
        <p:spPr>
          <a:xfrm>
            <a:off x="640080" y="493776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egdot3"/>
          <p:cNvSpPr/>
          <p:nvPr/>
        </p:nvSpPr>
        <p:spPr>
          <a:xfrm>
            <a:off x="914400" y="5230368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230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✘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04748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D4"/>
                </a:solidFill>
              </a:rPr>
              <a:t>No external benchmark comparison yet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3949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2E6"/>
                </a:solidFill>
              </a:rPr>
              <a:t>Every baseline we beat is one we wrote ourselves. Published numbers are not yet measured against ours.</a:t>
            </a:r>
            <a:endParaRPr lang="en-US" sz="1200" dirty="0"/>
          </a:p>
        </p:txBody>
      </p:sp>
      <p:sp>
        <p:nvSpPr>
          <p:cNvPr id="24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Engineering and experimental rigour</a:t>
            </a:r>
            <a:endParaRPr lang="en-US" sz="3200" dirty="0"/>
          </a:p>
        </p:txBody>
      </p:sp>
      <p:sp>
        <p:nvSpPr>
          <p:cNvPr id="3" name="card-0.7-1.45"/>
          <p:cNvSpPr/>
          <p:nvPr/>
        </p:nvSpPr>
        <p:spPr>
          <a:xfrm>
            <a:off x="64008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1,850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39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tests passing</a:t>
            </a:r>
            <a:endParaRPr lang="en-US" sz="1100" dirty="0"/>
          </a:p>
        </p:txBody>
      </p:sp>
      <p:sp>
        <p:nvSpPr>
          <p:cNvPr id="6" name="card-3.7800000000000002-1.45"/>
          <p:cNvSpPr/>
          <p:nvPr/>
        </p:nvSpPr>
        <p:spPr>
          <a:xfrm>
            <a:off x="3456432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2139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phases complete</a:t>
            </a:r>
            <a:endParaRPr lang="en-US" sz="1100" dirty="0"/>
          </a:p>
        </p:txBody>
      </p:sp>
      <p:sp>
        <p:nvSpPr>
          <p:cNvPr id="9" name="card-6.86-1.45"/>
          <p:cNvSpPr/>
          <p:nvPr/>
        </p:nvSpPr>
        <p:spPr>
          <a:xfrm>
            <a:off x="6272784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20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2139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repeated splits</a:t>
            </a:r>
            <a:endParaRPr lang="en-US" sz="1100" dirty="0"/>
          </a:p>
        </p:txBody>
      </p:sp>
      <p:sp>
        <p:nvSpPr>
          <p:cNvPr id="12" name="card-9.94-1.45"/>
          <p:cNvSpPr/>
          <p:nvPr/>
        </p:nvSpPr>
        <p:spPr>
          <a:xfrm>
            <a:off x="9089136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89136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89136" y="2139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numbers hand-entered</a:t>
            </a:r>
            <a:endParaRPr lang="en-US" sz="1100" dirty="0"/>
          </a:p>
        </p:txBody>
      </p:sp>
      <p:sp>
        <p:nvSpPr>
          <p:cNvPr id="15" name="card-0.7-3.2"/>
          <p:cNvSpPr/>
          <p:nvPr/>
        </p:nvSpPr>
        <p:spPr>
          <a:xfrm>
            <a:off x="640080" y="2926080"/>
            <a:ext cx="53949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results are produced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5204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One command regenerates every table and figure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Deterministic — re-running gives byte-identical output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Provenance recorded: git commit, seeds, library versions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Repeated splits with bootstrap confidence intervals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Undefined metrics print “—”, never 0.0</a:t>
            </a:r>
            <a:endParaRPr lang="en-US" sz="1250" dirty="0"/>
          </a:p>
        </p:txBody>
      </p:sp>
      <p:sp>
        <p:nvSpPr>
          <p:cNvPr id="18" name="card-6.9-3.2"/>
          <p:cNvSpPr/>
          <p:nvPr/>
        </p:nvSpPr>
        <p:spPr>
          <a:xfrm>
            <a:off x="6309360" y="2926080"/>
            <a:ext cx="5303520" cy="2697480"/>
          </a:xfrm>
          <a:prstGeom prst="roundRect">
            <a:avLst>
              <a:gd name="adj" fmla="val 2712"/>
            </a:avLst>
          </a:prstGeom>
          <a:solidFill>
            <a:srgbClr val="EAF3F8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108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Tests that can actually fail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5204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Expected answers re-derived independently in the test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Mutation-tested: we broke the code to confirm tests catch 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Leakage counterfactual — inverting hidden labels must change nothing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Decision boundaries checked on a 40,401-point grid</a:t>
            </a:r>
            <a:endParaRPr lang="en-US" sz="1250" dirty="0"/>
          </a:p>
        </p:txBody>
      </p:sp>
      <p:sp>
        <p:nvSpPr>
          <p:cNvPr id="22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Where we stand, and what is next</a:t>
            </a:r>
            <a:endParaRPr lang="en-US" sz="3200" dirty="0"/>
          </a:p>
        </p:txBody>
      </p:sp>
      <p:sp>
        <p:nvSpPr>
          <p:cNvPr id="3" name="card-0.7-1.45"/>
          <p:cNvSpPr/>
          <p:nvPr/>
        </p:nvSpPr>
        <p:spPr>
          <a:xfrm>
            <a:off x="640080" y="13258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6294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done"/>
          <p:cNvSpPr/>
          <p:nvPr/>
        </p:nvSpPr>
        <p:spPr>
          <a:xfrm>
            <a:off x="640080" y="13258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6294C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5BC"/>
                </a:solidFill>
              </a:rPr>
              <a:t>Complete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All 13 phases, end to end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Calibrated three-way decision layer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Interactive dashboard for the live demo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Real LLM integration, measured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Fully reproducible experiment runner</a:t>
            </a:r>
            <a:endParaRPr lang="en-US" sz="1250" dirty="0"/>
          </a:p>
        </p:txBody>
      </p:sp>
      <p:sp>
        <p:nvSpPr>
          <p:cNvPr id="7" name="next"/>
          <p:cNvSpPr/>
          <p:nvPr/>
        </p:nvSpPr>
        <p:spPr>
          <a:xfrm>
            <a:off x="6309360" y="13258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6294C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A0"/>
                </a:solidFill>
              </a:rPr>
              <a:t>In progress / next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9202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Learned detection to replace hand-written rules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Comparison against published benchmark systems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Cost-sensitivity sweep across configurations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0"/>
                </a:solidFill>
              </a:rPr>
              <a:t>Conference paper write-up</a:t>
            </a:r>
            <a:endParaRPr lang="en-US" sz="1250" dirty="0"/>
          </a:p>
        </p:txBody>
      </p:sp>
      <p:sp>
        <p:nvSpPr>
          <p:cNvPr id="10" name="takeaway"/>
          <p:cNvSpPr/>
          <p:nvPr/>
        </p:nvSpPr>
        <p:spPr>
          <a:xfrm>
            <a:off x="640080" y="384048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1D3A6B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CCF2"/>
                </a:solidFill>
              </a:rPr>
              <a:t>The honest takeaway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348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5"/>
                </a:solidFill>
              </a:rPr>
              <a:t>Mangled values are fixed almost perfectly by simple rules. Destroyed values cannot be fixed by anything — not by a mock repairer, and not by a large language model. What actually matters is knowing which is which, and refusing to trust a repair that should not be trusted. That is the decision layer, and it is where the contribution lives.</a:t>
            </a:r>
            <a:endParaRPr lang="en-US" sz="1350" dirty="0"/>
          </a:p>
        </p:txBody>
      </p:sp>
      <p:sp>
        <p:nvSpPr>
          <p:cNvPr id="14" name="Text 1"/>
          <p:cNvSpPr/>
          <p:nvPr>
            <p:ph idx="102" hasCustomPrompt="1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AwareRepair">
  <a:themeElements>
    <a:clrScheme name="RiskAwareRepair">
      <a:dk1>
        <a:srgbClr val="0F1E3D"/>
      </a:dk1>
      <a:lt1>
        <a:srgbClr val="FFFFFF"/>
      </a:lt1>
      <a:dk2>
        <a:srgbClr val="1C7293"/>
      </a:dk2>
      <a:lt2>
        <a:srgbClr val="F1F5F9"/>
      </a:lt2>
      <a:accent1>
        <a:srgbClr val="27AE60"/>
      </a:accent1>
      <a:accent2>
        <a:srgbClr val="F39C12"/>
      </a:accent2>
      <a:accent3>
        <a:srgbClr val="7F8C8D"/>
      </a:accent3>
      <a:accent4>
        <a:srgbClr val="8E44AD"/>
      </a:accent4>
      <a:accent5>
        <a:srgbClr val="C0392B"/>
      </a:accent5>
      <a:accent6>
        <a:srgbClr val="065A82"/>
      </a:accent6>
      <a:hlink>
        <a:srgbClr val="1C7293"/>
      </a:hlink>
      <a:folHlink>
        <a:srgbClr val="7F8C8D"/>
      </a:folHlink>
    </a:clrScheme>
    <a:fontScheme name="RiskAwareRepai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Risk-Aware Data Repair - Review 2</dc:title>
  <dc:subject>PptxGenJS Presentation</dc:subject>
  <dc:creator>Saanvi</dc:creator>
  <cp:lastModifiedBy>Saanvi</cp:lastModifiedBy>
  <cp:revision>1</cp:revision>
  <dcterms:created xsi:type="dcterms:W3CDTF">2026-10-15T11:55:54Z</dcterms:created>
  <dcterms:modified xsi:type="dcterms:W3CDTF">2026-10-15T11:55:54Z</dcterms:modified>
</cp:coreProperties>
</file>