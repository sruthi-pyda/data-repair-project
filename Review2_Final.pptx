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3fc9eff-e857-dbf7-e5d8-9f3cae5e1fdc}">
          <p14:sldIdLst>
            <p14:sldId id="256"/>
            <p14:sldId id="257"/>
            <p14:sldId id="258"/>
          </p14:sldIdLst>
        </p14:section>
        <p14:section name="Method" id="{2d10b634-d2ef-4462-7e3c-3035231a5c1e}">
          <p14:sldIdLst>
            <p14:sldId id="259"/>
            <p14:sldId id="260"/>
            <p14:sldId id="261"/>
            <p14:sldId id="262"/>
          </p14:sldIdLst>
        </p14:section>
        <p14:section name="Results" id="{1f0790fa-20a4-b090-b3df-ec2b47846817}">
          <p14:sldIdLst>
            <p14:sldId id="263"/>
            <p14:sldId id="264"/>
            <p14:sldId id="265"/>
            <p14:sldId id="266"/>
          </p14:sldIdLst>
        </p14:section>
        <p14:section name="Research" id="{a85f65f3-2427-e9dd-0fa3-9d20aef398c8}">
          <p14:sldIdLst>
            <p14:sldId id="267"/>
            <p14:sldId id="268"/>
            <p14:sldId id="269"/>
            <p14:sldId id="270"/>
            <p14:sldId id="271"/>
          </p14:sldIdLst>
        </p14:section>
        <p14:section name="Status" id="{7bab88c1-922e-987d-b578-5edf012322b8}">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E3D"/>
                </a:solidFill>
                <a:latin typeface="+mj-lt"/>
              </a:defRPr>
            </a:pPr>
            <a:r>
              <a:rPr sz="1200" b="0" i="0" u="none" strike="noStrike">
                <a:solidFill>
                  <a:srgbClr val="0F1E3D"/>
                </a:solidFill>
                <a:latin typeface="+mj-lt"/>
              </a:rPr>
              <a:t>Brier score (lower is better), 20 splits</a:t>
            </a:r>
          </a:p>
        </c:rich>
      </c:tx>
      <c:layout/>
      <c:overlay val="0"/>
    </c:title>
    <c:autoTitleDeleted val="0"/>
    <c:plotArea>
      <c:layout/>
      <c:barChart>
        <c:barDir val="col"/>
        <c:grouping val="clustered"/>
        <c:varyColors val="0"/>
        <c:ser>
          <c:idx val="0"/>
          <c:order val="0"/>
          <c:tx>
            <c:strRef>
              <c:f>Sheet1!$B$1</c:f>
              <c:strCache>
                <c:ptCount val="1"/>
                <c:pt idx="0">
                  <c:v>Breast Cancer</c:v>
                </c:pt>
              </c:strCache>
            </c:strRef>
          </c:tx>
          <c:spPr>
            <a:solidFill>
              <a:srgbClr val="065A82"/>
            </a:solidFill>
            <a:effectLst/>
          </c:spPr>
          <c:invertIfNegative val="0"/>
          <c:dLbls>
            <c:numFmt formatCode="0.000" sourceLinked="0"/>
            <c:txPr>
              <a:bodyPr/>
              <a:lstStyle/>
              <a:p>
                <a:pPr>
                  <a:defRPr b="0" i="0" strike="noStrike" sz="800" u="none">
                    <a:solidFill>
                      <a:srgbClr val="000000"/>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Raw</c:v>
                  </c:pt>
                  <c:pt idx="1">
                    <c:v>Logistic</c:v>
                  </c:pt>
                  <c:pt idx="2">
                    <c:v>Isotonic</c:v>
                  </c:pt>
                  <c:pt idx="3">
                    <c:v>Multivariate</c:v>
                  </c:pt>
                </c:lvl>
              </c:multiLvlStrCache>
            </c:multiLvlStrRef>
          </c:cat>
          <c:val>
            <c:numRef>
              <c:f>Sheet1!$B$2:$B$5</c:f>
              <c:numCache>
                <c:formatCode>General</c:formatCode>
                <c:ptCount val="4"/>
                <c:pt idx="0">
                  <c:v>0.1982</c:v>
                </c:pt>
                <c:pt idx="1">
                  <c:v>0.1979</c:v>
                </c:pt>
                <c:pt idx="2">
                  <c:v>0.1842</c:v>
                </c:pt>
                <c:pt idx="3">
                  <c:v>0.1968</c:v>
                </c:pt>
              </c:numCache>
            </c:numRef>
          </c:val>
        </c:ser>
        <c:ser>
          <c:idx val="1"/>
          <c:order val="1"/>
          <c:tx>
            <c:strRef>
              <c:f>Sheet1!$C$1</c:f>
              <c:strCache>
                <c:ptCount val="1"/>
                <c:pt idx="0">
                  <c:v>Smart Factory</c:v>
                </c:pt>
              </c:strCache>
            </c:strRef>
          </c:tx>
          <c:spPr>
            <a:solidFill>
              <a:srgbClr val="1C7293"/>
            </a:solidFill>
            <a:effectLst/>
          </c:spPr>
          <c:invertIfNegative val="0"/>
          <c:dLbls>
            <c:numFmt formatCode="0.000" sourceLinked="0"/>
            <c:txPr>
              <a:bodyPr/>
              <a:lstStyle/>
              <a:p>
                <a:pPr>
                  <a:defRPr b="0" i="0" strike="noStrike" sz="800" u="none">
                    <a:solidFill>
                      <a:srgbClr val="000000"/>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Raw</c:v>
                  </c:pt>
                  <c:pt idx="1">
                    <c:v>Logistic</c:v>
                  </c:pt>
                  <c:pt idx="2">
                    <c:v>Isotonic</c:v>
                  </c:pt>
                  <c:pt idx="3">
                    <c:v>Multivariate</c:v>
                  </c:pt>
                </c:lvl>
              </c:multiLvlStrCache>
            </c:multiLvlStrRef>
          </c:cat>
          <c:val>
            <c:numRef>
              <c:f>Sheet1!$C$2:$C$5</c:f>
              <c:numCache>
                <c:formatCode>General</c:formatCode>
                <c:ptCount val="4"/>
                <c:pt idx="0">
                  <c:v>0.2732</c:v>
                </c:pt>
                <c:pt idx="1">
                  <c:v>0.1691</c:v>
                </c:pt>
                <c:pt idx="2">
                  <c:v>0.1632</c:v>
                </c:pt>
                <c:pt idx="3">
                  <c:v>0.1883</c:v>
                </c:pt>
              </c:numCache>
            </c:numRef>
          </c:val>
        </c:ser>
        <c:dLbls>
          <c:numFmt formatCode="0.000" sourceLinked="0"/>
          <c:txPr>
            <a:bodyPr/>
            <a:lstStyle/>
            <a:p>
              <a:pPr>
                <a:defRPr b="0" i="0" strike="noStrike" sz="800" u="none">
                  <a:solidFill>
                    <a:srgbClr val="000000"/>
                  </a:solidFill>
                  <a:latin typeface="+mn-lt"/>
                </a:defRPr>
              </a:pPr>
            </a:p>
          </c:txPr>
          <c:dLblPos val="out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F1E3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F8C8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0F1E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review. All planned engineering phases are complete; the work since has been a research programme rebuilding the method from fundamentals. No number in this deck is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Datasets come from the REIN benchmark, which supplies the data only. The costs are our own experimental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Adult's 0 is zero residual-corruption cost on the FLAGGED cells only. 1,701 genuine corruptions were never detected and are priced at zero for every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920240"/>
            <a:ext cx="1051560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r>
              <a:rPr lang="en-US" sz="4000" b="1" dirty="0">
                <a:solidFill>
                  <a:schemeClr val="bg1"/>
                </a:solidFill>
              </a:rPr>
              <a:t> </a:t>
            </a:r>
            <a:endParaRPr lang="en-US" sz="4000" dirty="0"/>
          </a:p>
        </p:txBody>
      </p:sp>
      <p:sp>
        <p:nvSpPr>
          <p:cNvPr id="3" name="Text 0"/>
          <p:cNvSpPr/>
          <p:nvPr>
            <p:ph idx="101" type="body" hasCustomPrompt="1"/>
          </p:nvPr>
        </p:nvSpPr>
        <p:spPr>
          <a:xfrm>
            <a:off x="822960" y="3383280"/>
            <a:ext cx="10515600" cy="1463040"/>
          </a:xfrm>
          <a:prstGeom prst="rect">
            <a:avLst/>
          </a:prstGeom>
          <a:noFill/>
          <a:ln/>
        </p:spPr>
        <p:txBody>
          <a:bodyPr wrap="square" rtlCol="0"/>
          <a:lstStyle>
            <a:lvl1pPr indent="0" marL="0">
              <a:buNone/>
              <a:defRPr lang="en-US" sz="1600" dirty="0">
                <a:solidFill>
                  <a:srgbClr val="CBD7E6"/>
                </a:solidFill>
              </a:defRPr>
            </a:lvl1pPr>
          </a:lstStyle>
          <a:p>
            <a:pPr indent="0" marL="0">
              <a:buNone/>
            </a:pPr>
            <a:r>
              <a:rPr lang="en-US" sz="1600" dirty="0">
                <a:solidFill>
                  <a:srgbClr val="CBD7E6"/>
                </a:solidFill>
              </a:rPr>
              <a:t> </a:t>
            </a: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10515600" cy="1097280"/>
          </a:xfrm>
          <a:prstGeom prst="rect">
            <a:avLst/>
          </a:prstGeom>
          <a:noFill/>
          <a:ln/>
        </p:spPr>
        <p:txBody>
          <a:bodyPr wrap="square" rtlCol="0"/>
          <a:lstStyle>
            <a:lvl1pPr indent="0" marL="0">
              <a:buNone/>
              <a:defRPr lang="en-US" sz="3600" b="1" dirty="0">
                <a:solidFill>
                  <a:schemeClr val="bg1"/>
                </a:solidFill>
              </a:defRPr>
            </a:lvl1pPr>
          </a:lstStyle>
          <a:p>
            <a:pPr indent="0" marL="0">
              <a:buNone/>
            </a:pPr>
            <a:r>
              <a:rPr lang="en-US" sz="3600" b="1" dirty="0">
                <a:solidFill>
                  <a:schemeClr val="bg1"/>
                </a:solidFill>
              </a:rPr>
              <a:t> </a:t>
            </a:r>
            <a:endParaRPr lang="en-US" sz="3600" dirty="0"/>
          </a:p>
        </p:txBody>
      </p:sp>
      <p:sp>
        <p:nvSpPr>
          <p:cNvPr id="3" name="Text 0"/>
          <p:cNvSpPr/>
          <p:nvPr>
            <p:ph idx="101" type="body" hasCustomPrompt="1"/>
          </p:nvPr>
        </p:nvSpPr>
        <p:spPr>
          <a:xfrm>
            <a:off x="822960" y="3840480"/>
            <a:ext cx="10515600" cy="1097280"/>
          </a:xfrm>
          <a:prstGeom prst="rect">
            <a:avLst/>
          </a:prstGeom>
          <a:noFill/>
          <a:ln/>
        </p:spPr>
        <p:txBody>
          <a:bodyPr wrap="square" rtlCol="0"/>
          <a:lstStyle>
            <a:lvl1pPr indent="0" marL="0">
              <a:buNone/>
              <a:defRPr lang="en-US" sz="1500" dirty="0">
                <a:solidFill>
                  <a:srgbClr val="D6E6EF"/>
                </a:solidFill>
              </a:defRPr>
            </a:lvl1pPr>
          </a:lstStyle>
          <a:p>
            <a:pPr indent="0" marL="0">
              <a:buNone/>
            </a:pPr>
            <a:r>
              <a:rPr lang="en-US" sz="1500" dirty="0">
                <a:solidFill>
                  <a:srgbClr val="D6E6EF"/>
                </a:solidFill>
              </a:rPr>
              <a:t> </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lvl1pPr indent="0" marL="0">
              <a:buNone/>
              <a:defRPr lang="en-US" sz="2800" b="1" dirty="0">
                <a:solidFill>
                  <a:schemeClr val="tx1"/>
                </a:solidFill>
              </a:defRPr>
            </a:lvl1pPr>
          </a:lstStyle>
          <a:p>
            <a:pPr indent="0" marL="0">
              <a:buNone/>
            </a:pPr>
            <a:r>
              <a:rPr lang="en-US" sz="2800" b="1" dirty="0">
                <a:solidFill>
                  <a:schemeClr val="tx1"/>
                </a:solidFill>
              </a:rPr>
              <a:t> </a:t>
            </a:r>
            <a:endParaRPr lang="en-US" sz="2800" dirty="0"/>
          </a:p>
        </p:txBody>
      </p:sp>
      <p:sp>
        <p:nvSpPr>
          <p:cNvPr id="3" name="Text 0"/>
          <p:cNvSpPr txBox="1"/>
          <p:nvPr/>
        </p:nvSpPr>
        <p:spPr>
          <a:xfrm>
            <a:off x="640080" y="6382512"/>
            <a:ext cx="7772400" cy="274320"/>
          </a:xfrm>
          <a:prstGeom prst="rect">
            <a:avLst/>
          </a:prstGeom>
          <a:noFill/>
          <a:ln/>
        </p:spPr>
        <p:txBody>
          <a:bodyPr wrap="square" rtlCol="0" anchor="ctr"/>
          <a:lstStyle/>
          <a:p>
            <a:pPr indent="0" marL="0">
              <a:buNone/>
            </a:pPr>
            <a:r>
              <a:rPr lang="en-US" sz="900" dirty="0">
                <a:solidFill>
                  <a:schemeClr val="accent3"/>
                </a:solidFill>
              </a:rPr>
              <a:t>Risk-Aware, LLM-Assisted Data Repair  ·  Second Review</a:t>
            </a:r>
            <a:endParaRPr lang="en-US" sz="900" dirty="0"/>
          </a:p>
        </p:txBody>
      </p:sp>
      <p:sp>
        <p:nvSpPr>
          <p:cNvPr id="4" name="Text 1"/>
          <p:cNvSpPr/>
          <p:nvPr>
            <p:ph idx="102" hasCustomPrompt="1"/>
          </p:nvPr>
        </p:nvSpPr>
        <p:spPr>
          <a:xfrm>
            <a:off x="11338560" y="6382512"/>
            <a:ext cx="457200" cy="274320"/>
          </a:xfrm>
          <a:prstGeom prst="rect">
            <a:avLst/>
          </a:prstGeom>
          <a:noFill/>
          <a:ln/>
        </p:spPr>
        <p:txBody>
          <a:bodyPr wrap="square" rtlCol="0"/>
          <a:lstStyle>
            <a:lvl1pPr algn="r" indent="0" marL="0">
              <a:buNone/>
              <a:defRPr lang="en-US" sz="900" dirty="0">
                <a:solidFill>
                  <a:schemeClr val="accent3"/>
                </a:solidFill>
              </a:defRPr>
            </a:lvl1pPr>
          </a:lstStyle>
          <a:p>
            <a:pPr algn="r" indent="0" marL="0">
              <a:buNone/>
            </a:pPr>
            <a:endParaRPr lang="en-US" sz="9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lvl1pPr indent="0" marL="0">
              <a:buNone/>
              <a:defRPr lang="en-US" sz="2800" b="1" dirty="0">
                <a:solidFill>
                  <a:schemeClr val="bg1"/>
                </a:solidFill>
              </a:defRPr>
            </a:lvl1pPr>
          </a:lstStyle>
          <a:p>
            <a:pPr indent="0" marL="0">
              <a:buNone/>
            </a:pPr>
            <a:r>
              <a:rPr lang="en-US" sz="2800" b="1" dirty="0">
                <a:solidFill>
                  <a:schemeClr val="bg1"/>
                </a:solidFill>
              </a:rPr>
              <a:t> </a:t>
            </a:r>
            <a:endParaRPr lang="en-US" sz="2800" dirty="0"/>
          </a:p>
        </p:txBody>
      </p:sp>
      <p:sp>
        <p:nvSpPr>
          <p:cNvPr id="3" name="Text 0"/>
          <p:cNvSpPr txBox="1"/>
          <p:nvPr/>
        </p:nvSpPr>
        <p:spPr>
          <a:xfrm>
            <a:off x="640080" y="6382512"/>
            <a:ext cx="7772400" cy="274320"/>
          </a:xfrm>
          <a:prstGeom prst="rect">
            <a:avLst/>
          </a:prstGeom>
          <a:noFill/>
          <a:ln/>
        </p:spPr>
        <p:txBody>
          <a:bodyPr wrap="square" rtlCol="0" anchor="ctr"/>
          <a:lstStyle/>
          <a:p>
            <a:pPr indent="0" marL="0">
              <a:buNone/>
            </a:pPr>
            <a:r>
              <a:rPr lang="en-US" sz="900" dirty="0">
                <a:solidFill>
                  <a:srgbClr val="6B7F99"/>
                </a:solidFill>
              </a:rPr>
              <a:t>Risk-Aware, LLM-Assisted Data Repair  ·  Second Review</a:t>
            </a:r>
            <a:endParaRPr lang="en-US" sz="900" dirty="0"/>
          </a:p>
        </p:txBody>
      </p:sp>
      <p:sp>
        <p:nvSpPr>
          <p:cNvPr id="4" name="Text 1"/>
          <p:cNvSpPr/>
          <p:nvPr>
            <p:ph idx="102" hasCustomPrompt="1"/>
          </p:nvPr>
        </p:nvSpPr>
        <p:spPr>
          <a:xfrm>
            <a:off x="11338560" y="6382512"/>
            <a:ext cx="457200" cy="274320"/>
          </a:xfrm>
          <a:prstGeom prst="rect">
            <a:avLst/>
          </a:prstGeom>
          <a:noFill/>
          <a:ln/>
        </p:spPr>
        <p:txBody>
          <a:bodyPr wrap="square" rtlCol="0"/>
          <a:lstStyle>
            <a:lvl1pPr algn="r" indent="0" marL="0">
              <a:buNone/>
              <a:defRPr lang="en-US" sz="900" dirty="0">
                <a:solidFill>
                  <a:srgbClr val="6B7F99"/>
                </a:solidFill>
              </a:defRPr>
            </a:lvl1pPr>
          </a:lstStyle>
          <a:p>
            <a:pPr algn="r" indent="0" marL="0">
              <a:buNone/>
            </a:pP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920240"/>
            <a:ext cx="10515600" cy="1371600"/>
          </a:xfrm>
          <a:prstGeom prst="rect">
            <a:avLst/>
          </a:prstGeom>
          <a:noFill/>
          <a:ln/>
        </p:spPr>
        <p:txBody>
          <a:bodyPr wrap="square" rtlCol="0"/>
          <a:lstStyle/>
          <a:p>
            <a:pPr indent="0" marL="0">
              <a:buNone/>
            </a:pPr>
            <a:r>
              <a:rPr lang="en-US" sz="4000" b="1" dirty="0">
                <a:solidFill>
                  <a:schemeClr val="bg1"/>
                </a:solidFill>
              </a:rPr>
              <a:t>Risk-Aware, LLM-Assisted Data Repair</a:t>
            </a:r>
            <a:endParaRPr lang="en-US" sz="4000" dirty="0"/>
          </a:p>
        </p:txBody>
      </p:sp>
      <p:sp>
        <p:nvSpPr>
          <p:cNvPr id="3" name="Text 0"/>
          <p:cNvSpPr/>
          <p:nvPr>
            <p:ph idx="101" type="body" hasCustomPrompt="1"/>
          </p:nvPr>
        </p:nvSpPr>
        <p:spPr>
          <a:xfrm>
            <a:off x="822960" y="3383280"/>
            <a:ext cx="10515600" cy="1463040"/>
          </a:xfrm>
          <a:prstGeom prst="rect">
            <a:avLst/>
          </a:prstGeom>
          <a:noFill/>
          <a:ln/>
        </p:spPr>
        <p:txBody>
          <a:bodyPr wrap="square" rtlCol="0"/>
          <a:lstStyle/>
          <a:p>
            <a:pPr indent="0" marL="0">
              <a:buNone/>
            </a:pPr>
            <a:r>
              <a:rPr lang="en-US" sz="1600" b="1" dirty="0">
                <a:solidFill>
                  <a:srgbClr val="CBD7E6"/>
                </a:solidFill>
              </a:rPr>
              <a:t>Second Review · Progress Report</a:t>
            </a:r>
            <a:endParaRPr lang="en-US" sz="1600" dirty="0"/>
          </a:p>
          <a:p>
            <a:pPr indent="0" marL="0">
              <a:buNone/>
            </a:pPr>
            <a:r>
              <a:rPr lang="en-US" sz="1600" dirty="0">
                <a:solidFill>
                  <a:srgbClr val="CBD7E6"/>
                </a:solidFill>
              </a:rPr>
              <a:t>Deciding when to repair a corrupted data cell automatically, when to ask a human, and when to leave it alone — using calibrated probabilities and explicit costs</a:t>
            </a:r>
            <a:endParaRPr lang="en-US" sz="1600" dirty="0"/>
          </a:p>
        </p:txBody>
      </p:sp>
      <p:sp>
        <p:nvSpPr>
          <p:cNvPr id="4" name="b0"/>
          <p:cNvSpPr/>
          <p:nvPr/>
        </p:nvSpPr>
        <p:spPr>
          <a:xfrm>
            <a:off x="822960" y="5029200"/>
            <a:ext cx="1463040" cy="54864"/>
          </a:xfrm>
          <a:prstGeom prst="rect">
            <a:avLst/>
          </a:prstGeom>
          <a:solidFill>
            <a:srgbClr val="27AE60"/>
          </a:solidFill>
          <a:ln/>
        </p:spPr>
      </p:sp>
      <p:sp>
        <p:nvSpPr>
          <p:cNvPr id="5" name="b1"/>
          <p:cNvSpPr/>
          <p:nvPr/>
        </p:nvSpPr>
        <p:spPr>
          <a:xfrm>
            <a:off x="2377440" y="5029200"/>
            <a:ext cx="1463040" cy="54864"/>
          </a:xfrm>
          <a:prstGeom prst="rect">
            <a:avLst/>
          </a:prstGeom>
          <a:solidFill>
            <a:srgbClr val="F39C12"/>
          </a:solidFill>
          <a:ln/>
        </p:spPr>
      </p:sp>
      <p:sp>
        <p:nvSpPr>
          <p:cNvPr id="6" name="b2"/>
          <p:cNvSpPr/>
          <p:nvPr/>
        </p:nvSpPr>
        <p:spPr>
          <a:xfrm>
            <a:off x="3931920" y="5029200"/>
            <a:ext cx="1463040" cy="54864"/>
          </a:xfrm>
          <a:prstGeom prst="rect">
            <a:avLst/>
          </a:prstGeom>
          <a:solidFill>
            <a:srgbClr val="7F8C8D"/>
          </a:solidFill>
          <a:ln/>
        </p:spPr>
      </p:sp>
      <p:sp>
        <p:nvSpPr>
          <p:cNvPr id="7" name="b3"/>
          <p:cNvSpPr/>
          <p:nvPr/>
        </p:nvSpPr>
        <p:spPr>
          <a:xfrm>
            <a:off x="5486400" y="5029200"/>
            <a:ext cx="1463040" cy="54864"/>
          </a:xfrm>
          <a:prstGeom prst="rect">
            <a:avLst/>
          </a:prstGeom>
          <a:solidFill>
            <a:srgbClr val="8E44AD"/>
          </a:solidFill>
          <a:ln/>
        </p:spPr>
      </p:sp>
      <p:sp>
        <p:nvSpPr>
          <p:cNvPr id="8" name="Text 6"/>
          <p:cNvSpPr txBox="1"/>
          <p:nvPr/>
        </p:nvSpPr>
        <p:spPr>
          <a:xfrm>
            <a:off x="822960" y="5349240"/>
            <a:ext cx="10515600" cy="365760"/>
          </a:xfrm>
          <a:prstGeom prst="rect">
            <a:avLst/>
          </a:prstGeom>
          <a:noFill/>
          <a:ln/>
        </p:spPr>
        <p:txBody>
          <a:bodyPr wrap="square" rtlCol="0" anchor="ctr"/>
          <a:lstStyle/>
          <a:p>
            <a:pPr indent="0" marL="0">
              <a:buNone/>
            </a:pPr>
            <a:r>
              <a:rPr lang="en-US" sz="1200" dirty="0">
                <a:solidFill>
                  <a:srgbClr val="8FA6C0"/>
                </a:solidFill>
              </a:rPr>
              <a:t>13 pipeline phases complete  ·  5 research waves  ·  ~1,850 automated tests  ·  every figure measured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The problem</a:t>
            </a:r>
            <a:endParaRPr lang="en-US" sz="2800" dirty="0"/>
          </a:p>
        </p:txBody>
      </p:sp>
      <p:sp>
        <p:nvSpPr>
          <p:cNvPr id="3" name="Text 1"/>
          <p:cNvSpPr txBox="1"/>
          <p:nvPr/>
        </p:nvSpPr>
        <p:spPr>
          <a:xfrm>
            <a:off x="640080" y="1143000"/>
            <a:ext cx="10972800" cy="621792"/>
          </a:xfrm>
          <a:prstGeom prst="rect">
            <a:avLst/>
          </a:prstGeom>
          <a:noFill/>
          <a:ln/>
        </p:spPr>
        <p:txBody>
          <a:bodyPr wrap="square" rtlCol="0" anchor="ctr"/>
          <a:lstStyle/>
          <a:p>
            <a:pPr indent="0" marL="0">
              <a:buNone/>
            </a:pPr>
            <a:r>
              <a:rPr lang="en-US" sz="1250" dirty="0">
                <a:solidFill>
                  <a:schemeClr val="tx1"/>
                </a:solidFill>
              </a:rPr>
              <a:t>Real tabular datasets contain corrupted cells. An automated cleaner must decide what to do with each one — and being wrong has asymmetric consequences.</a:t>
            </a:r>
            <a:endParaRPr lang="en-US" sz="1250" dirty="0"/>
          </a:p>
        </p:txBody>
      </p:sp>
      <p:sp>
        <p:nvSpPr>
          <p:cNvPr id="4" name="k0.71.95"/>
          <p:cNvSpPr/>
          <p:nvPr/>
        </p:nvSpPr>
        <p:spPr>
          <a:xfrm>
            <a:off x="640080" y="1783080"/>
            <a:ext cx="3456432" cy="1828800"/>
          </a:xfrm>
          <a:prstGeom prst="roundRect">
            <a:avLst>
              <a:gd name="adj" fmla="val 4000"/>
            </a:avLst>
          </a:prstGeom>
          <a:solidFill>
            <a:schemeClr val="bg2"/>
          </a:solidFill>
          <a:ln w="9525">
            <a:solidFill>
              <a:srgbClr val="DDE5EC"/>
            </a:solidFill>
            <a:prstDash val="solid"/>
          </a:ln>
        </p:spPr>
      </p:sp>
      <p:sp>
        <p:nvSpPr>
          <p:cNvPr id="5" name="a0"/>
          <p:cNvSpPr/>
          <p:nvPr/>
        </p:nvSpPr>
        <p:spPr>
          <a:xfrm>
            <a:off x="896112" y="1993392"/>
            <a:ext cx="365760" cy="365760"/>
          </a:xfrm>
          <a:prstGeom prst="ellipse">
            <a:avLst/>
          </a:prstGeom>
          <a:solidFill>
            <a:schemeClr val="accent1"/>
          </a:solidFill>
          <a:ln/>
        </p:spPr>
      </p:sp>
      <p:sp>
        <p:nvSpPr>
          <p:cNvPr id="6" name="Text 4"/>
          <p:cNvSpPr txBox="1"/>
          <p:nvPr/>
        </p:nvSpPr>
        <p:spPr>
          <a:xfrm>
            <a:off x="1371600" y="1993392"/>
            <a:ext cx="2606040" cy="365760"/>
          </a:xfrm>
          <a:prstGeom prst="rect">
            <a:avLst/>
          </a:prstGeom>
          <a:noFill/>
          <a:ln/>
        </p:spPr>
        <p:txBody>
          <a:bodyPr wrap="square" lIns="0" tIns="0" rIns="0" bIns="0" rtlCol="0" anchor="ctr"/>
          <a:lstStyle/>
          <a:p>
            <a:pPr indent="0" marL="0">
              <a:buNone/>
            </a:pPr>
            <a:r>
              <a:rPr lang="en-US" sz="1300" b="1" dirty="0">
                <a:solidFill>
                  <a:schemeClr val="tx1"/>
                </a:solidFill>
              </a:rPr>
              <a:t>AUTO-REPAIR</a:t>
            </a:r>
            <a:endParaRPr lang="en-US" sz="1300" dirty="0"/>
          </a:p>
        </p:txBody>
      </p:sp>
      <p:sp>
        <p:nvSpPr>
          <p:cNvPr id="7" name="Text 5"/>
          <p:cNvSpPr txBox="1"/>
          <p:nvPr/>
        </p:nvSpPr>
        <p:spPr>
          <a:xfrm>
            <a:off x="896112" y="2487168"/>
            <a:ext cx="2971800" cy="320040"/>
          </a:xfrm>
          <a:prstGeom prst="rect">
            <a:avLst/>
          </a:prstGeom>
          <a:noFill/>
          <a:ln/>
        </p:spPr>
        <p:txBody>
          <a:bodyPr wrap="square" lIns="0" tIns="0" rIns="0" bIns="0" rtlCol="0" anchor="ctr"/>
          <a:lstStyle/>
          <a:p>
            <a:pPr indent="0" marL="0">
              <a:buNone/>
            </a:pPr>
            <a:r>
              <a:rPr lang="en-US" sz="1150" dirty="0">
                <a:solidFill>
                  <a:schemeClr val="tx1"/>
                </a:solidFill>
              </a:rPr>
              <a:t>Apply the proposed fix</a:t>
            </a:r>
            <a:endParaRPr lang="en-US" sz="1150" dirty="0"/>
          </a:p>
        </p:txBody>
      </p:sp>
      <p:sp>
        <p:nvSpPr>
          <p:cNvPr id="8" name="Text 6"/>
          <p:cNvSpPr txBox="1"/>
          <p:nvPr/>
        </p:nvSpPr>
        <p:spPr>
          <a:xfrm>
            <a:off x="896112" y="2852928"/>
            <a:ext cx="2971800" cy="640080"/>
          </a:xfrm>
          <a:prstGeom prst="rect">
            <a:avLst/>
          </a:prstGeom>
          <a:noFill/>
          <a:ln/>
        </p:spPr>
        <p:txBody>
          <a:bodyPr wrap="square" lIns="0" tIns="0" rIns="0" bIns="0" rtlCol="0" anchor="ctr"/>
          <a:lstStyle/>
          <a:p>
            <a:pPr indent="0" marL="0">
              <a:buNone/>
            </a:pPr>
            <a:r>
              <a:rPr lang="en-US" sz="1100" i="1" dirty="0">
                <a:solidFill>
                  <a:schemeClr val="accent5"/>
                </a:solidFill>
              </a:rPr>
              <a:t>Risk: a wrong fix silently corrupts good data</a:t>
            </a:r>
            <a:endParaRPr lang="en-US" sz="1100" dirty="0"/>
          </a:p>
        </p:txBody>
      </p:sp>
      <p:sp>
        <p:nvSpPr>
          <p:cNvPr id="9" name="k4.781.95"/>
          <p:cNvSpPr/>
          <p:nvPr/>
        </p:nvSpPr>
        <p:spPr>
          <a:xfrm>
            <a:off x="4370832" y="1783080"/>
            <a:ext cx="3456432" cy="1828800"/>
          </a:xfrm>
          <a:prstGeom prst="roundRect">
            <a:avLst>
              <a:gd name="adj" fmla="val 4000"/>
            </a:avLst>
          </a:prstGeom>
          <a:solidFill>
            <a:schemeClr val="bg2"/>
          </a:solidFill>
          <a:ln w="9525">
            <a:solidFill>
              <a:srgbClr val="DDE5EC"/>
            </a:solidFill>
            <a:prstDash val="solid"/>
          </a:ln>
        </p:spPr>
      </p:sp>
      <p:sp>
        <p:nvSpPr>
          <p:cNvPr id="10" name="a1"/>
          <p:cNvSpPr/>
          <p:nvPr/>
        </p:nvSpPr>
        <p:spPr>
          <a:xfrm>
            <a:off x="4626864" y="1993392"/>
            <a:ext cx="365760" cy="365760"/>
          </a:xfrm>
          <a:prstGeom prst="ellipse">
            <a:avLst/>
          </a:prstGeom>
          <a:solidFill>
            <a:schemeClr val="accent2"/>
          </a:solidFill>
          <a:ln/>
        </p:spPr>
      </p:sp>
      <p:sp>
        <p:nvSpPr>
          <p:cNvPr id="11" name="Text 9"/>
          <p:cNvSpPr txBox="1"/>
          <p:nvPr/>
        </p:nvSpPr>
        <p:spPr>
          <a:xfrm>
            <a:off x="5102352" y="1993392"/>
            <a:ext cx="2606040" cy="365760"/>
          </a:xfrm>
          <a:prstGeom prst="rect">
            <a:avLst/>
          </a:prstGeom>
          <a:noFill/>
          <a:ln/>
        </p:spPr>
        <p:txBody>
          <a:bodyPr wrap="square" lIns="0" tIns="0" rIns="0" bIns="0" rtlCol="0" anchor="ctr"/>
          <a:lstStyle/>
          <a:p>
            <a:pPr indent="0" marL="0">
              <a:buNone/>
            </a:pPr>
            <a:r>
              <a:rPr lang="en-US" sz="1300" b="1" dirty="0">
                <a:solidFill>
                  <a:schemeClr val="tx1"/>
                </a:solidFill>
              </a:rPr>
              <a:t>HUMAN REVIEW</a:t>
            </a:r>
            <a:endParaRPr lang="en-US" sz="1300" dirty="0"/>
          </a:p>
        </p:txBody>
      </p:sp>
      <p:sp>
        <p:nvSpPr>
          <p:cNvPr id="12" name="Text 10"/>
          <p:cNvSpPr txBox="1"/>
          <p:nvPr/>
        </p:nvSpPr>
        <p:spPr>
          <a:xfrm>
            <a:off x="4626864" y="2487168"/>
            <a:ext cx="2971800" cy="320040"/>
          </a:xfrm>
          <a:prstGeom prst="rect">
            <a:avLst/>
          </a:prstGeom>
          <a:noFill/>
          <a:ln/>
        </p:spPr>
        <p:txBody>
          <a:bodyPr wrap="square" lIns="0" tIns="0" rIns="0" bIns="0" rtlCol="0" anchor="ctr"/>
          <a:lstStyle/>
          <a:p>
            <a:pPr indent="0" marL="0">
              <a:buNone/>
            </a:pPr>
            <a:r>
              <a:rPr lang="en-US" sz="1150" dirty="0">
                <a:solidFill>
                  <a:schemeClr val="tx1"/>
                </a:solidFill>
              </a:rPr>
              <a:t>Send the cell to a person</a:t>
            </a:r>
            <a:endParaRPr lang="en-US" sz="1150" dirty="0"/>
          </a:p>
        </p:txBody>
      </p:sp>
      <p:sp>
        <p:nvSpPr>
          <p:cNvPr id="13" name="Text 11"/>
          <p:cNvSpPr txBox="1"/>
          <p:nvPr/>
        </p:nvSpPr>
        <p:spPr>
          <a:xfrm>
            <a:off x="4626864" y="2852928"/>
            <a:ext cx="2971800" cy="640080"/>
          </a:xfrm>
          <a:prstGeom prst="rect">
            <a:avLst/>
          </a:prstGeom>
          <a:noFill/>
          <a:ln/>
        </p:spPr>
        <p:txBody>
          <a:bodyPr wrap="square" lIns="0" tIns="0" rIns="0" bIns="0" rtlCol="0" anchor="ctr"/>
          <a:lstStyle/>
          <a:p>
            <a:pPr indent="0" marL="0">
              <a:buNone/>
            </a:pPr>
            <a:r>
              <a:rPr lang="en-US" sz="1100" i="1" dirty="0">
                <a:solidFill>
                  <a:schemeClr val="accent5"/>
                </a:solidFill>
              </a:rPr>
              <a:t>Risk: expensive, and wasted on false alarms</a:t>
            </a:r>
            <a:endParaRPr lang="en-US" sz="1100" dirty="0"/>
          </a:p>
        </p:txBody>
      </p:sp>
      <p:sp>
        <p:nvSpPr>
          <p:cNvPr id="14" name="k8.861.95"/>
          <p:cNvSpPr/>
          <p:nvPr/>
        </p:nvSpPr>
        <p:spPr>
          <a:xfrm>
            <a:off x="8101584" y="1783080"/>
            <a:ext cx="3456432" cy="1828800"/>
          </a:xfrm>
          <a:prstGeom prst="roundRect">
            <a:avLst>
              <a:gd name="adj" fmla="val 4000"/>
            </a:avLst>
          </a:prstGeom>
          <a:solidFill>
            <a:schemeClr val="bg2"/>
          </a:solidFill>
          <a:ln w="9525">
            <a:solidFill>
              <a:srgbClr val="DDE5EC"/>
            </a:solidFill>
            <a:prstDash val="solid"/>
          </a:ln>
        </p:spPr>
      </p:sp>
      <p:sp>
        <p:nvSpPr>
          <p:cNvPr id="15" name="a2"/>
          <p:cNvSpPr/>
          <p:nvPr/>
        </p:nvSpPr>
        <p:spPr>
          <a:xfrm>
            <a:off x="8357616" y="1993392"/>
            <a:ext cx="365760" cy="365760"/>
          </a:xfrm>
          <a:prstGeom prst="ellipse">
            <a:avLst/>
          </a:prstGeom>
          <a:solidFill>
            <a:schemeClr val="accent3"/>
          </a:solidFill>
          <a:ln/>
        </p:spPr>
      </p:sp>
      <p:sp>
        <p:nvSpPr>
          <p:cNvPr id="16" name="Text 14"/>
          <p:cNvSpPr txBox="1"/>
          <p:nvPr/>
        </p:nvSpPr>
        <p:spPr>
          <a:xfrm>
            <a:off x="8833104" y="1993392"/>
            <a:ext cx="2606040" cy="365760"/>
          </a:xfrm>
          <a:prstGeom prst="rect">
            <a:avLst/>
          </a:prstGeom>
          <a:noFill/>
          <a:ln/>
        </p:spPr>
        <p:txBody>
          <a:bodyPr wrap="square" lIns="0" tIns="0" rIns="0" bIns="0" rtlCol="0" anchor="ctr"/>
          <a:lstStyle/>
          <a:p>
            <a:pPr indent="0" marL="0">
              <a:buNone/>
            </a:pPr>
            <a:r>
              <a:rPr lang="en-US" sz="1300" b="1" dirty="0">
                <a:solidFill>
                  <a:schemeClr val="tx1"/>
                </a:solidFill>
              </a:rPr>
              <a:t>ABSTAIN</a:t>
            </a:r>
            <a:endParaRPr lang="en-US" sz="1300" dirty="0"/>
          </a:p>
        </p:txBody>
      </p:sp>
      <p:sp>
        <p:nvSpPr>
          <p:cNvPr id="17" name="Text 15"/>
          <p:cNvSpPr txBox="1"/>
          <p:nvPr/>
        </p:nvSpPr>
        <p:spPr>
          <a:xfrm>
            <a:off x="8357616" y="2487168"/>
            <a:ext cx="2971800" cy="320040"/>
          </a:xfrm>
          <a:prstGeom prst="rect">
            <a:avLst/>
          </a:prstGeom>
          <a:noFill/>
          <a:ln/>
        </p:spPr>
        <p:txBody>
          <a:bodyPr wrap="square" lIns="0" tIns="0" rIns="0" bIns="0" rtlCol="0" anchor="ctr"/>
          <a:lstStyle/>
          <a:p>
            <a:pPr indent="0" marL="0">
              <a:buNone/>
            </a:pPr>
            <a:r>
              <a:rPr lang="en-US" sz="1150" dirty="0">
                <a:solidFill>
                  <a:schemeClr val="tx1"/>
                </a:solidFill>
              </a:rPr>
              <a:t>Leave the cell unchanged</a:t>
            </a:r>
            <a:endParaRPr lang="en-US" sz="1150" dirty="0"/>
          </a:p>
        </p:txBody>
      </p:sp>
      <p:sp>
        <p:nvSpPr>
          <p:cNvPr id="18" name="Text 16"/>
          <p:cNvSpPr txBox="1"/>
          <p:nvPr/>
        </p:nvSpPr>
        <p:spPr>
          <a:xfrm>
            <a:off x="8357616" y="2852928"/>
            <a:ext cx="2971800" cy="640080"/>
          </a:xfrm>
          <a:prstGeom prst="rect">
            <a:avLst/>
          </a:prstGeom>
          <a:noFill/>
          <a:ln/>
        </p:spPr>
        <p:txBody>
          <a:bodyPr wrap="square" lIns="0" tIns="0" rIns="0" bIns="0" rtlCol="0" anchor="ctr"/>
          <a:lstStyle/>
          <a:p>
            <a:pPr indent="0" marL="0">
              <a:buNone/>
            </a:pPr>
            <a:r>
              <a:rPr lang="en-US" sz="1100" i="1" dirty="0">
                <a:solidFill>
                  <a:schemeClr val="accent5"/>
                </a:solidFill>
              </a:rPr>
              <a:t>Risk: a real error survives into analysis</a:t>
            </a:r>
            <a:endParaRPr lang="en-US" sz="1100" dirty="0"/>
          </a:p>
        </p:txBody>
      </p:sp>
      <p:sp>
        <p:nvSpPr>
          <p:cNvPr id="19" name="k0.74.2"/>
          <p:cNvSpPr/>
          <p:nvPr/>
        </p:nvSpPr>
        <p:spPr>
          <a:xfrm>
            <a:off x="640080" y="3840480"/>
            <a:ext cx="10972800" cy="1325880"/>
          </a:xfrm>
          <a:prstGeom prst="roundRect">
            <a:avLst>
              <a:gd name="adj" fmla="val 5517"/>
            </a:avLst>
          </a:prstGeom>
          <a:solidFill>
            <a:srgbClr val="EAF3F8"/>
          </a:solidFill>
          <a:ln w="9525">
            <a:solidFill>
              <a:srgbClr val="DDE5EC"/>
            </a:solidFill>
            <a:prstDash val="solid"/>
          </a:ln>
        </p:spPr>
      </p:sp>
      <p:sp>
        <p:nvSpPr>
          <p:cNvPr id="20" name="Text 18"/>
          <p:cNvSpPr txBox="1"/>
          <p:nvPr/>
        </p:nvSpPr>
        <p:spPr>
          <a:xfrm>
            <a:off x="914400" y="4023360"/>
            <a:ext cx="10424160" cy="1005840"/>
          </a:xfrm>
          <a:prstGeom prst="rect">
            <a:avLst/>
          </a:prstGeom>
          <a:noFill/>
          <a:ln/>
        </p:spPr>
        <p:txBody>
          <a:bodyPr wrap="square" lIns="0" tIns="0" rIns="0" bIns="0" rtlCol="0" anchor="ctr"/>
          <a:lstStyle/>
          <a:p>
            <a:pPr indent="0" marL="0">
              <a:buNone/>
            </a:pPr>
            <a:r>
              <a:rPr lang="en-US" sz="1350" b="1" dirty="0">
                <a:solidFill>
                  <a:schemeClr val="tx1"/>
                </a:solidFill>
              </a:rPr>
              <a:t>Research claim.  </a:t>
            </a:r>
            <a:pPr indent="0" marL="0">
              <a:buNone/>
            </a:pPr>
            <a:r>
              <a:rPr lang="en-US" sz="1300" i="1" dirty="0">
                <a:solidFill>
                  <a:schemeClr val="tx1"/>
                </a:solidFill>
              </a:rPr>
              <a:t>A calibrated probability of correctness, combined with explicit costs of being wrong, produces better decisions than acting on raw model confidence. The same confidence should lead to different actions when the consequences change.</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5257800"/>
          <a:ext cx="10972800" cy="914400"/>
        </p:xfrm>
        <a:graphic>
          <a:graphicData uri="http://schemas.openxmlformats.org/drawingml/2006/table">
            <a:tbl>
              <a:tblPr/>
              <a:tblGrid>
                <a:gridCol w="2194560"/>
                <a:gridCol w="2194560"/>
                <a:gridCol w="2194560"/>
                <a:gridCol w="2194560"/>
                <a:gridCol w="2194560"/>
              </a:tblGrid>
              <a:tr h="310896">
                <a:tc>
                  <a:txBody>
                    <a:bodyPr/>
                    <a:lstStyle/>
                    <a:p>
                      <a:pPr indent="0" marL="0">
                        <a:buNone/>
                      </a:pPr>
                      <a:r>
                        <a:rPr lang="en-US" sz="1050" b="1" dirty="0">
                          <a:solidFill>
                            <a:srgbClr val="FFFFFF"/>
                          </a:solidFill>
                        </a:rPr>
                        <a:t>Dataset</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050" b="1" dirty="0">
                          <a:solidFill>
                            <a:srgbClr val="FFFFFF"/>
                          </a:solidFill>
                        </a:rPr>
                        <a:t>Rows × Cols</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050" b="1" dirty="0">
                          <a:solidFill>
                            <a:srgbClr val="FFFFFF"/>
                          </a:solidFill>
                        </a:rPr>
                        <a:t>Corrupted cells</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050" b="1" dirty="0">
                          <a:solidFill>
                            <a:srgbClr val="FFFFFF"/>
                          </a:solidFill>
                        </a:rPr>
                        <a:t>Prevalence</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indent="0" marL="0">
                        <a:buNone/>
                      </a:pPr>
                      <a:r>
                        <a:rPr lang="en-US" sz="1050" b="1" dirty="0">
                          <a:solidFill>
                            <a:srgbClr val="FFFFFF"/>
                          </a:solidFill>
                        </a:rPr>
                        <a:t>Corruption type</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r>
              <a:tr h="310896">
                <a:tc>
                  <a:txBody>
                    <a:bodyPr/>
                    <a:lstStyle/>
                    <a:p>
                      <a:pPr indent="0" marL="0">
                        <a:buNone/>
                      </a:pPr>
                      <a:r>
                        <a:rPr lang="en-US" sz="1050" dirty="0">
                          <a:solidFill>
                            <a:schemeClr val="tx1"/>
                          </a:solidFill>
                        </a:rPr>
                        <a:t>Breast Cancer</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50" dirty="0">
                          <a:solidFill>
                            <a:schemeClr val="tx1"/>
                          </a:solidFill>
                        </a:rPr>
                        <a:t>699 × 12</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50" dirty="0">
                          <a:solidFill>
                            <a:schemeClr val="tx1"/>
                          </a:solidFill>
                        </a:rPr>
                        <a:t>631</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50" dirty="0">
                          <a:solidFill>
                            <a:schemeClr val="tx1"/>
                          </a:solidFill>
                        </a:rPr>
                        <a:t>7.52 %</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indent="0" marL="0">
                        <a:buNone/>
                      </a:pPr>
                      <a:r>
                        <a:rPr lang="en-US" sz="1050" dirty="0">
                          <a:solidFill>
                            <a:schemeClr val="tx1"/>
                          </a:solidFill>
                        </a:rPr>
                        <a:t>missing, format errors, out-of-range</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050" dirty="0">
                          <a:solidFill>
                            <a:schemeClr val="tx1"/>
                          </a:solidFill>
                        </a:rPr>
                        <a:t>Smart Factory</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50" dirty="0">
                          <a:solidFill>
                            <a:schemeClr val="tx1"/>
                          </a:solidFill>
                        </a:rPr>
                        <a:t>23,645 × 19</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50" dirty="0">
                          <a:solidFill>
                            <a:schemeClr val="tx1"/>
                          </a:solidFill>
                        </a:rPr>
                        <a:t>7,093</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50" dirty="0">
                          <a:solidFill>
                            <a:schemeClr val="tx1"/>
                          </a:solidFill>
                        </a:rPr>
                        <a:t>1.58 %</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indent="0" marL="0">
                        <a:buNone/>
                      </a:pPr>
                      <a:r>
                        <a:rPr lang="en-US" sz="1050" dirty="0">
                          <a:solidFill>
                            <a:schemeClr val="tx1"/>
                          </a:solidFill>
                        </a:rPr>
                        <a:t>injected missing values</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050" dirty="0">
                          <a:solidFill>
                            <a:schemeClr val="tx1"/>
                          </a:solidFill>
                        </a:rPr>
                        <a:t>Adult</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50" dirty="0">
                          <a:solidFill>
                            <a:schemeClr val="tx1"/>
                          </a:solidFill>
                        </a:rPr>
                        <a:t>45,222 × 15</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50" dirty="0">
                          <a:solidFill>
                            <a:schemeClr val="tx1"/>
                          </a:solidFill>
                        </a:rPr>
                        <a:t>1,701</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50" dirty="0">
                          <a:solidFill>
                            <a:schemeClr val="tx1"/>
                          </a:solidFill>
                        </a:rPr>
                        <a:t>0.25 %</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indent="0" marL="0">
                        <a:buNone/>
                      </a:pPr>
                      <a:r>
                        <a:rPr lang="en-US" sz="1050" dirty="0">
                          <a:solidFill>
                            <a:schemeClr val="tx1"/>
                          </a:solidFill>
                        </a:rPr>
                        <a:t>income-label flips (valid → valid)</a:t>
                      </a:r>
                      <a:endParaRPr lang="en-US" sz="10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bl>
          </a:graphicData>
        </a:graphic>
      </p:graphicFrame>
      <p:sp>
        <p:nvSpPr>
          <p:cNvPr id="23"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The constraint we measured first</a:t>
            </a:r>
            <a:endParaRPr lang="en-US" sz="2800" dirty="0"/>
          </a:p>
        </p:txBody>
      </p:sp>
      <p:sp>
        <p:nvSpPr>
          <p:cNvPr id="3" name="Text 1"/>
          <p:cNvSpPr txBox="1"/>
          <p:nvPr/>
        </p:nvSpPr>
        <p:spPr>
          <a:xfrm>
            <a:off x="640080" y="1115568"/>
            <a:ext cx="10972800" cy="320040"/>
          </a:xfrm>
          <a:prstGeom prst="rect">
            <a:avLst/>
          </a:prstGeom>
          <a:noFill/>
          <a:ln/>
        </p:spPr>
        <p:txBody>
          <a:bodyPr wrap="square" rtlCol="0" anchor="ctr"/>
          <a:lstStyle/>
          <a:p>
            <a:pPr indent="0" marL="0">
              <a:buNone/>
            </a:pPr>
            <a:r>
              <a:rPr lang="en-US" sz="1300" dirty="0">
                <a:solidFill>
                  <a:srgbClr val="000000"/>
                </a:solidFill>
              </a:rPr>
              <a:t>Repair accuracy split by corruption type — this single table drives every later design decision</a:t>
            </a:r>
            <a:endParaRPr lang="en-US" sz="1300" dirty="0"/>
          </a:p>
        </p:txBody>
      </p:sp>
      <p:sp>
        <p:nvSpPr>
          <p:cNvPr id="4" name="k0.71.75"/>
          <p:cNvSpPr/>
          <p:nvPr/>
        </p:nvSpPr>
        <p:spPr>
          <a:xfrm>
            <a:off x="640080" y="1600200"/>
            <a:ext cx="10972800" cy="530352"/>
          </a:xfrm>
          <a:prstGeom prst="roundRect">
            <a:avLst>
              <a:gd name="adj" fmla="val 13793"/>
            </a:avLst>
          </a:prstGeom>
          <a:solidFill>
            <a:schemeClr val="bg2"/>
          </a:solidFill>
          <a:ln w="9525">
            <a:solidFill>
              <a:srgbClr val="DDE5EC"/>
            </a:solidFill>
            <a:prstDash val="solid"/>
          </a:ln>
        </p:spPr>
      </p:sp>
      <p:sp>
        <p:nvSpPr>
          <p:cNvPr id="5" name="Text 3"/>
          <p:cNvSpPr txBox="1"/>
          <p:nvPr/>
        </p:nvSpPr>
        <p:spPr>
          <a:xfrm>
            <a:off x="914400" y="1600200"/>
            <a:ext cx="3200400" cy="530352"/>
          </a:xfrm>
          <a:prstGeom prst="rect">
            <a:avLst/>
          </a:prstGeom>
          <a:noFill/>
          <a:ln/>
        </p:spPr>
        <p:txBody>
          <a:bodyPr wrap="square" lIns="0" tIns="0" rIns="0" bIns="0" rtlCol="0" anchor="ctr"/>
          <a:lstStyle/>
          <a:p>
            <a:pPr indent="0" marL="0">
              <a:buNone/>
            </a:pPr>
            <a:r>
              <a:rPr lang="en-US" sz="1250" dirty="0">
                <a:solidFill>
                  <a:schemeClr val="tx1"/>
                </a:solidFill>
              </a:rPr>
              <a:t>Out-of-range value</a:t>
            </a:r>
            <a:endParaRPr lang="en-US" sz="1250" dirty="0"/>
          </a:p>
        </p:txBody>
      </p:sp>
      <p:sp>
        <p:nvSpPr>
          <p:cNvPr id="6" name="Text 4"/>
          <p:cNvSpPr txBox="1"/>
          <p:nvPr/>
        </p:nvSpPr>
        <p:spPr>
          <a:xfrm>
            <a:off x="4114800" y="1600200"/>
            <a:ext cx="1188720" cy="530352"/>
          </a:xfrm>
          <a:prstGeom prst="rect">
            <a:avLst/>
          </a:prstGeom>
          <a:noFill/>
          <a:ln/>
        </p:spPr>
        <p:txBody>
          <a:bodyPr wrap="square" lIns="0" tIns="0" rIns="0" bIns="0" rtlCol="0" anchor="ctr"/>
          <a:lstStyle/>
          <a:p>
            <a:pPr algn="r" indent="0" marL="0">
              <a:buNone/>
            </a:pPr>
            <a:r>
              <a:rPr lang="en-US" sz="1600" b="1" dirty="0">
                <a:solidFill>
                  <a:schemeClr val="accent1"/>
                </a:solidFill>
              </a:rPr>
              <a:t>98.4 %</a:t>
            </a:r>
            <a:endParaRPr lang="en-US" sz="1600" dirty="0"/>
          </a:p>
        </p:txBody>
      </p:sp>
      <p:sp>
        <p:nvSpPr>
          <p:cNvPr id="7" name="g0"/>
          <p:cNvSpPr/>
          <p:nvPr/>
        </p:nvSpPr>
        <p:spPr>
          <a:xfrm>
            <a:off x="5577840" y="1783080"/>
            <a:ext cx="2429378" cy="155448"/>
          </a:xfrm>
          <a:prstGeom prst="rect">
            <a:avLst/>
          </a:prstGeom>
          <a:solidFill>
            <a:schemeClr val="accent1"/>
          </a:solidFill>
          <a:ln/>
        </p:spPr>
      </p:sp>
      <p:sp>
        <p:nvSpPr>
          <p:cNvPr id="8" name="Text 6"/>
          <p:cNvSpPr txBox="1"/>
          <p:nvPr/>
        </p:nvSpPr>
        <p:spPr>
          <a:xfrm>
            <a:off x="8321040" y="1600200"/>
            <a:ext cx="3108960" cy="530352"/>
          </a:xfrm>
          <a:prstGeom prst="rect">
            <a:avLst/>
          </a:prstGeom>
          <a:noFill/>
          <a:ln/>
        </p:spPr>
        <p:txBody>
          <a:bodyPr wrap="square" lIns="0" tIns="0" rIns="0" bIns="0" rtlCol="0" anchor="ctr"/>
          <a:lstStyle/>
          <a:p>
            <a:pPr indent="0" marL="0">
              <a:buNone/>
            </a:pPr>
            <a:r>
              <a:rPr lang="en-US" sz="1050" dirty="0">
                <a:solidFill>
                  <a:schemeClr val="accent3"/>
                </a:solidFill>
              </a:rPr>
              <a:t>RECOVERABLE — the original is implied by context</a:t>
            </a:r>
            <a:endParaRPr lang="en-US" sz="1050" dirty="0"/>
          </a:p>
        </p:txBody>
      </p:sp>
      <p:sp>
        <p:nvSpPr>
          <p:cNvPr id="9" name="k0.72.43"/>
          <p:cNvSpPr/>
          <p:nvPr/>
        </p:nvSpPr>
        <p:spPr>
          <a:xfrm>
            <a:off x="640080" y="2221992"/>
            <a:ext cx="10972800" cy="530352"/>
          </a:xfrm>
          <a:prstGeom prst="roundRect">
            <a:avLst>
              <a:gd name="adj" fmla="val 13793"/>
            </a:avLst>
          </a:prstGeom>
          <a:solidFill>
            <a:schemeClr val="bg2"/>
          </a:solidFill>
          <a:ln w="9525">
            <a:solidFill>
              <a:srgbClr val="DDE5EC"/>
            </a:solidFill>
            <a:prstDash val="solid"/>
          </a:ln>
        </p:spPr>
      </p:sp>
      <p:sp>
        <p:nvSpPr>
          <p:cNvPr id="10" name="Text 8"/>
          <p:cNvSpPr txBox="1"/>
          <p:nvPr/>
        </p:nvSpPr>
        <p:spPr>
          <a:xfrm>
            <a:off x="914400" y="2221992"/>
            <a:ext cx="3200400" cy="530352"/>
          </a:xfrm>
          <a:prstGeom prst="rect">
            <a:avLst/>
          </a:prstGeom>
          <a:noFill/>
          <a:ln/>
        </p:spPr>
        <p:txBody>
          <a:bodyPr wrap="square" lIns="0" tIns="0" rIns="0" bIns="0" rtlCol="0" anchor="ctr"/>
          <a:lstStyle/>
          <a:p>
            <a:pPr indent="0" marL="0">
              <a:buNone/>
            </a:pPr>
            <a:r>
              <a:rPr lang="en-US" sz="1250" dirty="0">
                <a:solidFill>
                  <a:schemeClr val="tx1"/>
                </a:solidFill>
              </a:rPr>
              <a:t>Format error (“1a0”)</a:t>
            </a:r>
            <a:endParaRPr lang="en-US" sz="1250" dirty="0"/>
          </a:p>
        </p:txBody>
      </p:sp>
      <p:sp>
        <p:nvSpPr>
          <p:cNvPr id="11" name="Text 9"/>
          <p:cNvSpPr txBox="1"/>
          <p:nvPr/>
        </p:nvSpPr>
        <p:spPr>
          <a:xfrm>
            <a:off x="4114800" y="2221992"/>
            <a:ext cx="1188720" cy="530352"/>
          </a:xfrm>
          <a:prstGeom prst="rect">
            <a:avLst/>
          </a:prstGeom>
          <a:noFill/>
          <a:ln/>
        </p:spPr>
        <p:txBody>
          <a:bodyPr wrap="square" lIns="0" tIns="0" rIns="0" bIns="0" rtlCol="0" anchor="ctr"/>
          <a:lstStyle/>
          <a:p>
            <a:pPr algn="r" indent="0" marL="0">
              <a:buNone/>
            </a:pPr>
            <a:r>
              <a:rPr lang="en-US" sz="1600" b="1" dirty="0">
                <a:solidFill>
                  <a:schemeClr val="accent1"/>
                </a:solidFill>
              </a:rPr>
              <a:t>100 %</a:t>
            </a:r>
            <a:endParaRPr lang="en-US" sz="1600" dirty="0"/>
          </a:p>
        </p:txBody>
      </p:sp>
      <p:sp>
        <p:nvSpPr>
          <p:cNvPr id="12" name="g1"/>
          <p:cNvSpPr/>
          <p:nvPr/>
        </p:nvSpPr>
        <p:spPr>
          <a:xfrm>
            <a:off x="5577840" y="2404872"/>
            <a:ext cx="2468880" cy="155448"/>
          </a:xfrm>
          <a:prstGeom prst="rect">
            <a:avLst/>
          </a:prstGeom>
          <a:solidFill>
            <a:schemeClr val="accent1"/>
          </a:solidFill>
          <a:ln/>
        </p:spPr>
      </p:sp>
      <p:sp>
        <p:nvSpPr>
          <p:cNvPr id="13" name="Text 11"/>
          <p:cNvSpPr txBox="1"/>
          <p:nvPr/>
        </p:nvSpPr>
        <p:spPr>
          <a:xfrm>
            <a:off x="8321040" y="2221992"/>
            <a:ext cx="3108960" cy="530352"/>
          </a:xfrm>
          <a:prstGeom prst="rect">
            <a:avLst/>
          </a:prstGeom>
          <a:noFill/>
          <a:ln/>
        </p:spPr>
        <p:txBody>
          <a:bodyPr wrap="square" lIns="0" tIns="0" rIns="0" bIns="0" rtlCol="0" anchor="ctr"/>
          <a:lstStyle/>
          <a:p>
            <a:pPr indent="0" marL="0">
              <a:buNone/>
            </a:pPr>
            <a:r>
              <a:rPr lang="en-US" sz="1050" dirty="0">
                <a:solidFill>
                  <a:schemeClr val="accent3"/>
                </a:solidFill>
              </a:rPr>
              <a:t>RECOVERABLE</a:t>
            </a:r>
            <a:endParaRPr lang="en-US" sz="1050" dirty="0"/>
          </a:p>
        </p:txBody>
      </p:sp>
      <p:sp>
        <p:nvSpPr>
          <p:cNvPr id="14" name="k0.73.1100000000000003"/>
          <p:cNvSpPr/>
          <p:nvPr/>
        </p:nvSpPr>
        <p:spPr>
          <a:xfrm>
            <a:off x="640080" y="2843784"/>
            <a:ext cx="10972800" cy="530352"/>
          </a:xfrm>
          <a:prstGeom prst="roundRect">
            <a:avLst>
              <a:gd name="adj" fmla="val 13793"/>
            </a:avLst>
          </a:prstGeom>
          <a:solidFill>
            <a:schemeClr val="bg2"/>
          </a:solidFill>
          <a:ln w="9525">
            <a:solidFill>
              <a:srgbClr val="DDE5EC"/>
            </a:solidFill>
            <a:prstDash val="solid"/>
          </a:ln>
        </p:spPr>
      </p:sp>
      <p:sp>
        <p:nvSpPr>
          <p:cNvPr id="15" name="Text 13"/>
          <p:cNvSpPr txBox="1"/>
          <p:nvPr/>
        </p:nvSpPr>
        <p:spPr>
          <a:xfrm>
            <a:off x="914400" y="2843784"/>
            <a:ext cx="3200400" cy="530352"/>
          </a:xfrm>
          <a:prstGeom prst="rect">
            <a:avLst/>
          </a:prstGeom>
          <a:noFill/>
          <a:ln/>
        </p:spPr>
        <p:txBody>
          <a:bodyPr wrap="square" lIns="0" tIns="0" rIns="0" bIns="0" rtlCol="0" anchor="ctr"/>
          <a:lstStyle/>
          <a:p>
            <a:pPr indent="0" marL="0">
              <a:buNone/>
            </a:pPr>
            <a:r>
              <a:rPr lang="en-US" sz="1250" dirty="0">
                <a:solidFill>
                  <a:schemeClr val="tx1"/>
                </a:solidFill>
              </a:rPr>
              <a:t>Missing — Breast Cancer</a:t>
            </a:r>
            <a:endParaRPr lang="en-US" sz="1250" dirty="0"/>
          </a:p>
        </p:txBody>
      </p:sp>
      <p:sp>
        <p:nvSpPr>
          <p:cNvPr id="16" name="Text 14"/>
          <p:cNvSpPr txBox="1"/>
          <p:nvPr/>
        </p:nvSpPr>
        <p:spPr>
          <a:xfrm>
            <a:off x="4114800" y="2843784"/>
            <a:ext cx="1188720" cy="530352"/>
          </a:xfrm>
          <a:prstGeom prst="rect">
            <a:avLst/>
          </a:prstGeom>
          <a:noFill/>
          <a:ln/>
        </p:spPr>
        <p:txBody>
          <a:bodyPr wrap="square" lIns="0" tIns="0" rIns="0" bIns="0" rtlCol="0" anchor="ctr"/>
          <a:lstStyle/>
          <a:p>
            <a:pPr algn="r" indent="0" marL="0">
              <a:buNone/>
            </a:pPr>
            <a:r>
              <a:rPr lang="en-US" sz="1600" b="1" dirty="0">
                <a:solidFill>
                  <a:schemeClr val="accent5"/>
                </a:solidFill>
              </a:rPr>
              <a:t>50.0 %</a:t>
            </a:r>
            <a:endParaRPr lang="en-US" sz="1600" dirty="0"/>
          </a:p>
        </p:txBody>
      </p:sp>
      <p:sp>
        <p:nvSpPr>
          <p:cNvPr id="17" name="g2"/>
          <p:cNvSpPr/>
          <p:nvPr/>
        </p:nvSpPr>
        <p:spPr>
          <a:xfrm>
            <a:off x="5577840" y="3026664"/>
            <a:ext cx="1234440" cy="155448"/>
          </a:xfrm>
          <a:prstGeom prst="rect">
            <a:avLst/>
          </a:prstGeom>
          <a:solidFill>
            <a:schemeClr val="accent5"/>
          </a:solidFill>
          <a:ln/>
        </p:spPr>
      </p:sp>
      <p:sp>
        <p:nvSpPr>
          <p:cNvPr id="18" name="Text 16"/>
          <p:cNvSpPr txBox="1"/>
          <p:nvPr/>
        </p:nvSpPr>
        <p:spPr>
          <a:xfrm>
            <a:off x="8321040" y="2843784"/>
            <a:ext cx="3108960" cy="530352"/>
          </a:xfrm>
          <a:prstGeom prst="rect">
            <a:avLst/>
          </a:prstGeom>
          <a:noFill/>
          <a:ln/>
        </p:spPr>
        <p:txBody>
          <a:bodyPr wrap="square" lIns="0" tIns="0" rIns="0" bIns="0" rtlCol="0" anchor="ctr"/>
          <a:lstStyle/>
          <a:p>
            <a:pPr indent="0" marL="0">
              <a:buNone/>
            </a:pPr>
            <a:r>
              <a:rPr lang="en-US" sz="1050" dirty="0">
                <a:solidFill>
                  <a:schemeClr val="accent3"/>
                </a:solidFill>
              </a:rPr>
              <a:t>DESTROYED — nothing left to recover</a:t>
            </a:r>
            <a:endParaRPr lang="en-US" sz="1050" dirty="0"/>
          </a:p>
        </p:txBody>
      </p:sp>
      <p:sp>
        <p:nvSpPr>
          <p:cNvPr id="19" name="k0.73.79"/>
          <p:cNvSpPr/>
          <p:nvPr/>
        </p:nvSpPr>
        <p:spPr>
          <a:xfrm>
            <a:off x="640080" y="3465576"/>
            <a:ext cx="10972800" cy="530352"/>
          </a:xfrm>
          <a:prstGeom prst="roundRect">
            <a:avLst>
              <a:gd name="adj" fmla="val 13793"/>
            </a:avLst>
          </a:prstGeom>
          <a:solidFill>
            <a:schemeClr val="bg2"/>
          </a:solidFill>
          <a:ln w="9525">
            <a:solidFill>
              <a:srgbClr val="DDE5EC"/>
            </a:solidFill>
            <a:prstDash val="solid"/>
          </a:ln>
        </p:spPr>
      </p:sp>
      <p:sp>
        <p:nvSpPr>
          <p:cNvPr id="20" name="Text 18"/>
          <p:cNvSpPr txBox="1"/>
          <p:nvPr/>
        </p:nvSpPr>
        <p:spPr>
          <a:xfrm>
            <a:off x="914400" y="3465576"/>
            <a:ext cx="3200400" cy="530352"/>
          </a:xfrm>
          <a:prstGeom prst="rect">
            <a:avLst/>
          </a:prstGeom>
          <a:noFill/>
          <a:ln/>
        </p:spPr>
        <p:txBody>
          <a:bodyPr wrap="square" lIns="0" tIns="0" rIns="0" bIns="0" rtlCol="0" anchor="ctr"/>
          <a:lstStyle/>
          <a:p>
            <a:pPr indent="0" marL="0">
              <a:buNone/>
            </a:pPr>
            <a:r>
              <a:rPr lang="en-US" sz="1250" dirty="0">
                <a:solidFill>
                  <a:schemeClr val="tx1"/>
                </a:solidFill>
              </a:rPr>
              <a:t>Missing — Smart Factory</a:t>
            </a:r>
            <a:endParaRPr lang="en-US" sz="1250" dirty="0"/>
          </a:p>
        </p:txBody>
      </p:sp>
      <p:sp>
        <p:nvSpPr>
          <p:cNvPr id="21" name="Text 19"/>
          <p:cNvSpPr txBox="1"/>
          <p:nvPr/>
        </p:nvSpPr>
        <p:spPr>
          <a:xfrm>
            <a:off x="4114800" y="3465576"/>
            <a:ext cx="1188720" cy="530352"/>
          </a:xfrm>
          <a:prstGeom prst="rect">
            <a:avLst/>
          </a:prstGeom>
          <a:noFill/>
          <a:ln/>
        </p:spPr>
        <p:txBody>
          <a:bodyPr wrap="square" lIns="0" tIns="0" rIns="0" bIns="0" rtlCol="0" anchor="ctr"/>
          <a:lstStyle/>
          <a:p>
            <a:pPr algn="r" indent="0" marL="0">
              <a:buNone/>
            </a:pPr>
            <a:r>
              <a:rPr lang="en-US" sz="1600" b="1" dirty="0">
                <a:solidFill>
                  <a:schemeClr val="accent5"/>
                </a:solidFill>
              </a:rPr>
              <a:t>28.8 %</a:t>
            </a:r>
            <a:endParaRPr lang="en-US" sz="1600" dirty="0"/>
          </a:p>
        </p:txBody>
      </p:sp>
      <p:sp>
        <p:nvSpPr>
          <p:cNvPr id="22" name="g3"/>
          <p:cNvSpPr/>
          <p:nvPr/>
        </p:nvSpPr>
        <p:spPr>
          <a:xfrm>
            <a:off x="5577840" y="3648456"/>
            <a:ext cx="711037" cy="155448"/>
          </a:xfrm>
          <a:prstGeom prst="rect">
            <a:avLst/>
          </a:prstGeom>
          <a:solidFill>
            <a:schemeClr val="accent5"/>
          </a:solidFill>
          <a:ln/>
        </p:spPr>
      </p:sp>
      <p:sp>
        <p:nvSpPr>
          <p:cNvPr id="23" name="Text 21"/>
          <p:cNvSpPr txBox="1"/>
          <p:nvPr/>
        </p:nvSpPr>
        <p:spPr>
          <a:xfrm>
            <a:off x="8321040" y="3465576"/>
            <a:ext cx="3108960" cy="530352"/>
          </a:xfrm>
          <a:prstGeom prst="rect">
            <a:avLst/>
          </a:prstGeom>
          <a:noFill/>
          <a:ln/>
        </p:spPr>
        <p:txBody>
          <a:bodyPr wrap="square" lIns="0" tIns="0" rIns="0" bIns="0" rtlCol="0" anchor="ctr"/>
          <a:lstStyle/>
          <a:p>
            <a:pPr indent="0" marL="0">
              <a:buNone/>
            </a:pPr>
            <a:r>
              <a:rPr lang="en-US" sz="1050" dirty="0">
                <a:solidFill>
                  <a:schemeClr val="accent3"/>
                </a:solidFill>
              </a:rPr>
              <a:t>DESTROYED</a:t>
            </a:r>
            <a:endParaRPr lang="en-US" sz="1050" dirty="0"/>
          </a:p>
        </p:txBody>
      </p:sp>
      <p:sp>
        <p:nvSpPr>
          <p:cNvPr id="24" name="k0.74.6"/>
          <p:cNvSpPr/>
          <p:nvPr/>
        </p:nvSpPr>
        <p:spPr>
          <a:xfrm>
            <a:off x="640080" y="4206240"/>
            <a:ext cx="10972800" cy="1463040"/>
          </a:xfrm>
          <a:prstGeom prst="roundRect">
            <a:avLst>
              <a:gd name="adj" fmla="val 5000"/>
            </a:avLst>
          </a:prstGeom>
          <a:solidFill>
            <a:srgbClr val="ECF7F1"/>
          </a:solidFill>
          <a:ln w="12700">
            <a:solidFill>
              <a:schemeClr val="accent1"/>
            </a:solidFill>
            <a:prstDash val="solid"/>
          </a:ln>
        </p:spPr>
      </p:sp>
      <p:sp>
        <p:nvSpPr>
          <p:cNvPr id="25" name="Text 23"/>
          <p:cNvSpPr txBox="1"/>
          <p:nvPr/>
        </p:nvSpPr>
        <p:spPr>
          <a:xfrm>
            <a:off x="914400" y="4352544"/>
            <a:ext cx="10424160" cy="1298448"/>
          </a:xfrm>
          <a:prstGeom prst="rect">
            <a:avLst/>
          </a:prstGeom>
          <a:noFill/>
          <a:ln/>
        </p:spPr>
        <p:txBody>
          <a:bodyPr wrap="square" lIns="0" tIns="0" rIns="0" bIns="0" rtlCol="0" anchor="ctr"/>
          <a:lstStyle/>
          <a:p>
            <a:pPr indent="0" marL="0">
              <a:buNone/>
            </a:pPr>
            <a:r>
              <a:rPr lang="en-US" sz="1400" b="1" dirty="0">
                <a:solidFill>
                  <a:srgbClr val="18603A"/>
                </a:solidFill>
              </a:rPr>
              <a:t>You cannot recover information that was destroyed.  </a:t>
            </a:r>
            <a:pPr indent="0" marL="0">
              <a:buNone/>
            </a:pPr>
            <a:r>
              <a:rPr lang="en-US" sz="1250" dirty="0">
                <a:solidFill>
                  <a:srgbClr val="1F6B44"/>
                </a:solidFill>
              </a:rPr>
              <a:t>No rule and no language model can reconstruct a value that was erased. Repair accuracy therefore measures a dataset’s mix of recoverable and destroyed corruption more than it measures the method.</a:t>
            </a:r>
            <a:endParaRPr lang="en-US" sz="1400" dirty="0"/>
          </a:p>
          <a:p>
            <a:pPr indent="0" marL="0">
              <a:buNone/>
            </a:pPr>
            <a:endParaRPr lang="en-US" sz="1400" dirty="0"/>
          </a:p>
          <a:p>
            <a:pPr indent="0" marL="0">
              <a:buNone/>
            </a:pPr>
            <a:r>
              <a:rPr lang="en-US" sz="1250" dirty="0">
                <a:solidFill>
                  <a:srgbClr val="1F6B44"/>
                </a:solidFill>
              </a:rPr>
              <a:t>Consequence: the contribution cannot be “we repair better”. It must be knowing when a repair cannot be trusted — the decision layer.</a:t>
            </a:r>
            <a:endParaRPr lang="en-US" sz="1400" dirty="0"/>
          </a:p>
        </p:txBody>
      </p:sp>
      <p:sp>
        <p:nvSpPr>
          <p:cNvPr id="26"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10515600" cy="1097280"/>
          </a:xfrm>
          <a:prstGeom prst="rect">
            <a:avLst/>
          </a:prstGeom>
          <a:noFill/>
          <a:ln/>
        </p:spPr>
        <p:txBody>
          <a:bodyPr wrap="square" rtlCol="0"/>
          <a:lstStyle/>
          <a:p>
            <a:pPr indent="0" marL="0">
              <a:buNone/>
            </a:pPr>
            <a:r>
              <a:rPr lang="en-US" sz="3600" b="1" dirty="0">
                <a:solidFill>
                  <a:schemeClr val="bg1"/>
                </a:solidFill>
              </a:rPr>
              <a:t>Part I — the system</a:t>
            </a:r>
            <a:endParaRPr lang="en-US" sz="3600" dirty="0"/>
          </a:p>
        </p:txBody>
      </p:sp>
      <p:sp>
        <p:nvSpPr>
          <p:cNvPr id="3" name="Text 0"/>
          <p:cNvSpPr/>
          <p:nvPr>
            <p:ph idx="101" type="body" hasCustomPrompt="1"/>
          </p:nvPr>
        </p:nvSpPr>
        <p:spPr>
          <a:xfrm>
            <a:off x="822960" y="3840480"/>
            <a:ext cx="10515600" cy="1097280"/>
          </a:xfrm>
          <a:prstGeom prst="rect">
            <a:avLst/>
          </a:prstGeom>
          <a:noFill/>
          <a:ln/>
        </p:spPr>
        <p:txBody>
          <a:bodyPr wrap="square" rtlCol="0"/>
          <a:lstStyle/>
          <a:p>
            <a:pPr indent="0" marL="0">
              <a:buNone/>
            </a:pPr>
            <a:r>
              <a:rPr lang="en-US" sz="1500" dirty="0">
                <a:solidFill>
                  <a:srgbClr val="D6E6EF"/>
                </a:solidFill>
              </a:rPr>
              <a:t>Thirteen phases from raw CSV to a cost-justified decision per cell, with a hard no-leakage invariant throughout.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bg1"/>
                </a:solidFill>
              </a:rPr>
              <a:t>System architecture</a:t>
            </a:r>
            <a:endParaRPr lang="en-US" sz="2800" dirty="0"/>
          </a:p>
        </p:txBody>
      </p:sp>
      <p:sp>
        <p:nvSpPr>
          <p:cNvPr id="3" name="p0"/>
          <p:cNvSpPr/>
          <p:nvPr/>
        </p:nvSpPr>
        <p:spPr>
          <a:xfrm>
            <a:off x="566928" y="1234440"/>
            <a:ext cx="1417320" cy="1828800"/>
          </a:xfrm>
          <a:prstGeom prst="roundRect">
            <a:avLst>
              <a:gd name="adj" fmla="val 6452"/>
            </a:avLst>
          </a:prstGeom>
          <a:solidFill>
            <a:srgbClr val="16294C"/>
          </a:solidFill>
          <a:ln w="15875">
            <a:solidFill>
              <a:srgbClr val="333333"/>
            </a:solidFill>
            <a:prstDash val="solid"/>
          </a:ln>
        </p:spPr>
      </p:sp>
      <p:sp>
        <p:nvSpPr>
          <p:cNvPr id="4" name="Text 2"/>
          <p:cNvSpPr txBox="1"/>
          <p:nvPr/>
        </p:nvSpPr>
        <p:spPr>
          <a:xfrm>
            <a:off x="566928" y="1353312"/>
            <a:ext cx="1417320" cy="274320"/>
          </a:xfrm>
          <a:prstGeom prst="rect">
            <a:avLst/>
          </a:prstGeom>
          <a:noFill/>
          <a:ln/>
        </p:spPr>
        <p:txBody>
          <a:bodyPr wrap="square" lIns="0" tIns="0" rIns="0" bIns="0" rtlCol="0" anchor="ctr"/>
          <a:lstStyle/>
          <a:p>
            <a:pPr algn="ctr" indent="0" marL="0">
              <a:buNone/>
            </a:pPr>
            <a:r>
              <a:rPr lang="en-US" sz="1100" b="1" dirty="0">
                <a:solidFill>
                  <a:srgbClr val="000000"/>
                </a:solidFill>
              </a:rPr>
              <a:t>1–2</a:t>
            </a:r>
            <a:endParaRPr lang="en-US" sz="1100" dirty="0"/>
          </a:p>
        </p:txBody>
      </p:sp>
      <p:sp>
        <p:nvSpPr>
          <p:cNvPr id="5" name="Text 3"/>
          <p:cNvSpPr txBox="1"/>
          <p:nvPr/>
        </p:nvSpPr>
        <p:spPr>
          <a:xfrm>
            <a:off x="566928" y="1636776"/>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rPr>
              <a:t>Profile</a:t>
            </a:r>
            <a:endParaRPr lang="en-US" sz="1050" dirty="0"/>
          </a:p>
        </p:txBody>
      </p:sp>
      <p:sp>
        <p:nvSpPr>
          <p:cNvPr id="6" name="Text 4"/>
          <p:cNvSpPr txBox="1"/>
          <p:nvPr/>
        </p:nvSpPr>
        <p:spPr>
          <a:xfrm>
            <a:off x="566928" y="1965960"/>
            <a:ext cx="1417320" cy="1005840"/>
          </a:xfrm>
          <a:prstGeom prst="rect">
            <a:avLst/>
          </a:prstGeom>
          <a:noFill/>
          <a:ln/>
        </p:spPr>
        <p:txBody>
          <a:bodyPr wrap="square" lIns="0" tIns="0" rIns="0" bIns="0" rtlCol="0" anchor="ctr"/>
          <a:lstStyle/>
          <a:p>
            <a:pPr algn="ctr" indent="0" marL="0">
              <a:buNone/>
            </a:pPr>
            <a:r>
              <a:rPr lang="en-US" sz="950" dirty="0">
                <a:solidFill>
                  <a:srgbClr val="A8BDD6"/>
                </a:solidFill>
              </a:rPr>
              <a:t>column kinds,</a:t>
            </a:r>
            <a:endParaRPr lang="en-US" sz="950" dirty="0"/>
          </a:p>
          <a:p>
            <a:pPr algn="ctr" indent="0" marL="0">
              <a:buNone/>
            </a:pPr>
            <a:r>
              <a:rPr lang="en-US" sz="950" dirty="0">
                <a:solidFill>
                  <a:srgbClr val="A8BDD6"/>
                </a:solidFill>
              </a:rPr>
              <a:t>quartiles, vocab</a:t>
            </a:r>
            <a:endParaRPr lang="en-US" sz="950" dirty="0"/>
          </a:p>
        </p:txBody>
      </p:sp>
      <p:sp>
        <p:nvSpPr>
          <p:cNvPr id="7" name="Text 5"/>
          <p:cNvSpPr txBox="1"/>
          <p:nvPr/>
        </p:nvSpPr>
        <p:spPr>
          <a:xfrm>
            <a:off x="1956816" y="1828800"/>
            <a:ext cx="274320"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8" name="p1"/>
          <p:cNvSpPr/>
          <p:nvPr/>
        </p:nvSpPr>
        <p:spPr>
          <a:xfrm>
            <a:off x="2194560" y="1234440"/>
            <a:ext cx="1417320" cy="1828800"/>
          </a:xfrm>
          <a:prstGeom prst="roundRect">
            <a:avLst>
              <a:gd name="adj" fmla="val 6452"/>
            </a:avLst>
          </a:prstGeom>
          <a:solidFill>
            <a:srgbClr val="16294C"/>
          </a:solidFill>
          <a:ln w="15875">
            <a:solidFill>
              <a:srgbClr val="333333"/>
            </a:solidFill>
            <a:prstDash val="solid"/>
          </a:ln>
        </p:spPr>
      </p:sp>
      <p:sp>
        <p:nvSpPr>
          <p:cNvPr id="9" name="Text 7"/>
          <p:cNvSpPr txBox="1"/>
          <p:nvPr/>
        </p:nvSpPr>
        <p:spPr>
          <a:xfrm>
            <a:off x="2194560" y="1353312"/>
            <a:ext cx="1417320" cy="274320"/>
          </a:xfrm>
          <a:prstGeom prst="rect">
            <a:avLst/>
          </a:prstGeom>
          <a:noFill/>
          <a:ln/>
        </p:spPr>
        <p:txBody>
          <a:bodyPr wrap="square" lIns="0" tIns="0" rIns="0" bIns="0" rtlCol="0" anchor="ctr"/>
          <a:lstStyle/>
          <a:p>
            <a:pPr algn="ctr" indent="0" marL="0">
              <a:buNone/>
            </a:pPr>
            <a:r>
              <a:rPr lang="en-US" sz="1100" b="1" dirty="0">
                <a:solidFill>
                  <a:srgbClr val="000000"/>
                </a:solidFill>
              </a:rPr>
              <a:t>3</a:t>
            </a:r>
            <a:endParaRPr lang="en-US" sz="1100" dirty="0"/>
          </a:p>
        </p:txBody>
      </p:sp>
      <p:sp>
        <p:nvSpPr>
          <p:cNvPr id="10" name="Text 8"/>
          <p:cNvSpPr txBox="1"/>
          <p:nvPr/>
        </p:nvSpPr>
        <p:spPr>
          <a:xfrm>
            <a:off x="2194560" y="1636776"/>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rPr>
              <a:t>Detect</a:t>
            </a:r>
            <a:endParaRPr lang="en-US" sz="1050" dirty="0"/>
          </a:p>
        </p:txBody>
      </p:sp>
      <p:sp>
        <p:nvSpPr>
          <p:cNvPr id="11" name="Text 9"/>
          <p:cNvSpPr txBox="1"/>
          <p:nvPr/>
        </p:nvSpPr>
        <p:spPr>
          <a:xfrm>
            <a:off x="2194560" y="1965960"/>
            <a:ext cx="1417320" cy="1005840"/>
          </a:xfrm>
          <a:prstGeom prst="rect">
            <a:avLst/>
          </a:prstGeom>
          <a:noFill/>
          <a:ln/>
        </p:spPr>
        <p:txBody>
          <a:bodyPr wrap="square" lIns="0" tIns="0" rIns="0" bIns="0" rtlCol="0" anchor="ctr"/>
          <a:lstStyle/>
          <a:p>
            <a:pPr algn="ctr" indent="0" marL="0">
              <a:buNone/>
            </a:pPr>
            <a:r>
              <a:rPr lang="en-US" sz="950" dirty="0">
                <a:solidFill>
                  <a:srgbClr val="A8BDD6"/>
                </a:solidFill>
              </a:rPr>
              <a:t>six rule checks</a:t>
            </a:r>
            <a:endParaRPr lang="en-US" sz="950" dirty="0"/>
          </a:p>
        </p:txBody>
      </p:sp>
      <p:sp>
        <p:nvSpPr>
          <p:cNvPr id="12" name="Text 10"/>
          <p:cNvSpPr txBox="1"/>
          <p:nvPr/>
        </p:nvSpPr>
        <p:spPr>
          <a:xfrm>
            <a:off x="3584448" y="1828800"/>
            <a:ext cx="274320"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13" name="p2"/>
          <p:cNvSpPr/>
          <p:nvPr/>
        </p:nvSpPr>
        <p:spPr>
          <a:xfrm>
            <a:off x="3822192" y="1234440"/>
            <a:ext cx="1417320" cy="1828800"/>
          </a:xfrm>
          <a:prstGeom prst="roundRect">
            <a:avLst>
              <a:gd name="adj" fmla="val 6452"/>
            </a:avLst>
          </a:prstGeom>
          <a:solidFill>
            <a:srgbClr val="16294C"/>
          </a:solidFill>
          <a:ln w="15875">
            <a:solidFill>
              <a:schemeClr val="accent6"/>
            </a:solidFill>
            <a:prstDash val="solid"/>
          </a:ln>
        </p:spPr>
      </p:sp>
      <p:sp>
        <p:nvSpPr>
          <p:cNvPr id="14" name="Text 12"/>
          <p:cNvSpPr txBox="1"/>
          <p:nvPr/>
        </p:nvSpPr>
        <p:spPr>
          <a:xfrm>
            <a:off x="3822192" y="1353312"/>
            <a:ext cx="1417320" cy="274320"/>
          </a:xfrm>
          <a:prstGeom prst="rect">
            <a:avLst/>
          </a:prstGeom>
          <a:noFill/>
          <a:ln/>
        </p:spPr>
        <p:txBody>
          <a:bodyPr wrap="square" lIns="0" tIns="0" rIns="0" bIns="0" rtlCol="0" anchor="ctr"/>
          <a:lstStyle/>
          <a:p>
            <a:pPr algn="ctr" indent="0" marL="0">
              <a:buNone/>
            </a:pPr>
            <a:r>
              <a:rPr lang="en-US" sz="1100" b="1" dirty="0">
                <a:solidFill>
                  <a:schemeClr val="accent6"/>
                </a:solidFill>
              </a:rPr>
              <a:t>4</a:t>
            </a:r>
            <a:endParaRPr lang="en-US" sz="1100" dirty="0"/>
          </a:p>
        </p:txBody>
      </p:sp>
      <p:sp>
        <p:nvSpPr>
          <p:cNvPr id="15" name="Text 13"/>
          <p:cNvSpPr txBox="1"/>
          <p:nvPr/>
        </p:nvSpPr>
        <p:spPr>
          <a:xfrm>
            <a:off x="3822192" y="1636776"/>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rPr>
              <a:t>Repair</a:t>
            </a:r>
            <a:endParaRPr lang="en-US" sz="1050" dirty="0"/>
          </a:p>
        </p:txBody>
      </p:sp>
      <p:sp>
        <p:nvSpPr>
          <p:cNvPr id="16" name="Text 14"/>
          <p:cNvSpPr txBox="1"/>
          <p:nvPr/>
        </p:nvSpPr>
        <p:spPr>
          <a:xfrm>
            <a:off x="3822192" y="1965960"/>
            <a:ext cx="1417320" cy="1005840"/>
          </a:xfrm>
          <a:prstGeom prst="rect">
            <a:avLst/>
          </a:prstGeom>
          <a:noFill/>
          <a:ln/>
        </p:spPr>
        <p:txBody>
          <a:bodyPr wrap="square" lIns="0" tIns="0" rIns="0" bIns="0" rtlCol="0" anchor="ctr"/>
          <a:lstStyle/>
          <a:p>
            <a:pPr algn="ctr" indent="0" marL="0">
              <a:buNone/>
            </a:pPr>
            <a:r>
              <a:rPr lang="en-US" sz="950" dirty="0">
                <a:solidFill>
                  <a:srgbClr val="A8BDD6"/>
                </a:solidFill>
              </a:rPr>
              <a:t>top-k candidates</a:t>
            </a:r>
            <a:endParaRPr lang="en-US" sz="950" dirty="0"/>
          </a:p>
          <a:p>
            <a:pPr algn="ctr" indent="0" marL="0">
              <a:buNone/>
            </a:pPr>
            <a:r>
              <a:rPr lang="en-US" sz="950" dirty="0">
                <a:solidFill>
                  <a:srgbClr val="A8BDD6"/>
                </a:solidFill>
              </a:rPr>
              <a:t>+ probabilities</a:t>
            </a:r>
            <a:endParaRPr lang="en-US" sz="950" dirty="0"/>
          </a:p>
        </p:txBody>
      </p:sp>
      <p:sp>
        <p:nvSpPr>
          <p:cNvPr id="17" name="Text 15"/>
          <p:cNvSpPr txBox="1"/>
          <p:nvPr/>
        </p:nvSpPr>
        <p:spPr>
          <a:xfrm>
            <a:off x="5212080" y="1828800"/>
            <a:ext cx="274320"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18" name="p3"/>
          <p:cNvSpPr/>
          <p:nvPr/>
        </p:nvSpPr>
        <p:spPr>
          <a:xfrm>
            <a:off x="5449824" y="1234440"/>
            <a:ext cx="1417320" cy="1828800"/>
          </a:xfrm>
          <a:prstGeom prst="roundRect">
            <a:avLst>
              <a:gd name="adj" fmla="val 6452"/>
            </a:avLst>
          </a:prstGeom>
          <a:solidFill>
            <a:srgbClr val="16294C"/>
          </a:solidFill>
          <a:ln w="15875">
            <a:solidFill>
              <a:schemeClr val="accent6"/>
            </a:solidFill>
            <a:prstDash val="solid"/>
          </a:ln>
        </p:spPr>
      </p:sp>
      <p:sp>
        <p:nvSpPr>
          <p:cNvPr id="19" name="Text 17"/>
          <p:cNvSpPr txBox="1"/>
          <p:nvPr/>
        </p:nvSpPr>
        <p:spPr>
          <a:xfrm>
            <a:off x="5449824" y="1353312"/>
            <a:ext cx="1417320" cy="274320"/>
          </a:xfrm>
          <a:prstGeom prst="rect">
            <a:avLst/>
          </a:prstGeom>
          <a:noFill/>
          <a:ln/>
        </p:spPr>
        <p:txBody>
          <a:bodyPr wrap="square" lIns="0" tIns="0" rIns="0" bIns="0" rtlCol="0" anchor="ctr"/>
          <a:lstStyle/>
          <a:p>
            <a:pPr algn="ctr" indent="0" marL="0">
              <a:buNone/>
            </a:pPr>
            <a:r>
              <a:rPr lang="en-US" sz="1100" b="1" dirty="0">
                <a:solidFill>
                  <a:schemeClr val="accent6"/>
                </a:solidFill>
              </a:rPr>
              <a:t>5</a:t>
            </a:r>
            <a:endParaRPr lang="en-US" sz="1100" dirty="0"/>
          </a:p>
        </p:txBody>
      </p:sp>
      <p:sp>
        <p:nvSpPr>
          <p:cNvPr id="20" name="Text 18"/>
          <p:cNvSpPr txBox="1"/>
          <p:nvPr/>
        </p:nvSpPr>
        <p:spPr>
          <a:xfrm>
            <a:off x="5449824" y="1636776"/>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rPr>
              <a:t>Uncertainty</a:t>
            </a:r>
            <a:endParaRPr lang="en-US" sz="1050" dirty="0"/>
          </a:p>
        </p:txBody>
      </p:sp>
      <p:sp>
        <p:nvSpPr>
          <p:cNvPr id="21" name="Text 19"/>
          <p:cNvSpPr txBox="1"/>
          <p:nvPr/>
        </p:nvSpPr>
        <p:spPr>
          <a:xfrm>
            <a:off x="5449824" y="1965960"/>
            <a:ext cx="1417320" cy="1005840"/>
          </a:xfrm>
          <a:prstGeom prst="rect">
            <a:avLst/>
          </a:prstGeom>
          <a:noFill/>
          <a:ln/>
        </p:spPr>
        <p:txBody>
          <a:bodyPr wrap="square" lIns="0" tIns="0" rIns="0" bIns="0" rtlCol="0" anchor="ctr"/>
          <a:lstStyle/>
          <a:p>
            <a:pPr algn="ctr" indent="0" marL="0">
              <a:buNone/>
            </a:pPr>
            <a:r>
              <a:rPr lang="en-US" sz="950" dirty="0">
                <a:solidFill>
                  <a:srgbClr val="A8BDD6"/>
                </a:solidFill>
              </a:rPr>
              <a:t>confidence,</a:t>
            </a:r>
            <a:endParaRPr lang="en-US" sz="950" dirty="0"/>
          </a:p>
          <a:p>
            <a:pPr algn="ctr" indent="0" marL="0">
              <a:buNone/>
            </a:pPr>
            <a:r>
              <a:rPr lang="en-US" sz="950" dirty="0">
                <a:solidFill>
                  <a:srgbClr val="A8BDD6"/>
                </a:solidFill>
              </a:rPr>
              <a:t>consistency,</a:t>
            </a:r>
            <a:endParaRPr lang="en-US" sz="950" dirty="0"/>
          </a:p>
          <a:p>
            <a:pPr algn="ctr" indent="0" marL="0">
              <a:buNone/>
            </a:pPr>
            <a:r>
              <a:rPr lang="en-US" sz="950" dirty="0">
                <a:solidFill>
                  <a:srgbClr val="A8BDD6"/>
                </a:solidFill>
              </a:rPr>
              <a:t>entropy</a:t>
            </a:r>
            <a:endParaRPr lang="en-US" sz="950" dirty="0"/>
          </a:p>
        </p:txBody>
      </p:sp>
      <p:sp>
        <p:nvSpPr>
          <p:cNvPr id="22" name="Text 20"/>
          <p:cNvSpPr txBox="1"/>
          <p:nvPr/>
        </p:nvSpPr>
        <p:spPr>
          <a:xfrm>
            <a:off x="6839712" y="1828800"/>
            <a:ext cx="274320"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23" name="p4"/>
          <p:cNvSpPr/>
          <p:nvPr/>
        </p:nvSpPr>
        <p:spPr>
          <a:xfrm>
            <a:off x="7077456" y="1234440"/>
            <a:ext cx="1417320" cy="1828800"/>
          </a:xfrm>
          <a:prstGeom prst="roundRect">
            <a:avLst>
              <a:gd name="adj" fmla="val 6452"/>
            </a:avLst>
          </a:prstGeom>
          <a:solidFill>
            <a:srgbClr val="16294C"/>
          </a:solidFill>
          <a:ln w="15875">
            <a:solidFill>
              <a:schemeClr val="accent4"/>
            </a:solidFill>
            <a:prstDash val="solid"/>
          </a:ln>
        </p:spPr>
      </p:sp>
      <p:sp>
        <p:nvSpPr>
          <p:cNvPr id="24" name="Text 22"/>
          <p:cNvSpPr txBox="1"/>
          <p:nvPr/>
        </p:nvSpPr>
        <p:spPr>
          <a:xfrm>
            <a:off x="7077456" y="1353312"/>
            <a:ext cx="1417320" cy="274320"/>
          </a:xfrm>
          <a:prstGeom prst="rect">
            <a:avLst/>
          </a:prstGeom>
          <a:noFill/>
          <a:ln/>
        </p:spPr>
        <p:txBody>
          <a:bodyPr wrap="square" lIns="0" tIns="0" rIns="0" bIns="0" rtlCol="0" anchor="ctr"/>
          <a:lstStyle/>
          <a:p>
            <a:pPr algn="ctr" indent="0" marL="0">
              <a:buNone/>
            </a:pPr>
            <a:r>
              <a:rPr lang="en-US" sz="1100" b="1" dirty="0">
                <a:solidFill>
                  <a:schemeClr val="accent4"/>
                </a:solidFill>
              </a:rPr>
              <a:t>6 / 6b</a:t>
            </a:r>
            <a:endParaRPr lang="en-US" sz="1100" dirty="0"/>
          </a:p>
        </p:txBody>
      </p:sp>
      <p:sp>
        <p:nvSpPr>
          <p:cNvPr id="25" name="Text 23"/>
          <p:cNvSpPr txBox="1"/>
          <p:nvPr/>
        </p:nvSpPr>
        <p:spPr>
          <a:xfrm>
            <a:off x="7077456" y="1636776"/>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rPr>
              <a:t>Calibrate</a:t>
            </a:r>
            <a:endParaRPr lang="en-US" sz="1050" dirty="0"/>
          </a:p>
        </p:txBody>
      </p:sp>
      <p:sp>
        <p:nvSpPr>
          <p:cNvPr id="26" name="Text 24"/>
          <p:cNvSpPr txBox="1"/>
          <p:nvPr/>
        </p:nvSpPr>
        <p:spPr>
          <a:xfrm>
            <a:off x="7077456" y="1965960"/>
            <a:ext cx="1417320" cy="1005840"/>
          </a:xfrm>
          <a:prstGeom prst="rect">
            <a:avLst/>
          </a:prstGeom>
          <a:noFill/>
          <a:ln/>
        </p:spPr>
        <p:txBody>
          <a:bodyPr wrap="square" lIns="0" tIns="0" rIns="0" bIns="0" rtlCol="0" anchor="ctr"/>
          <a:lstStyle/>
          <a:p>
            <a:pPr algn="ctr" indent="0" marL="0">
              <a:buNone/>
            </a:pPr>
            <a:r>
              <a:rPr lang="en-US" sz="950" dirty="0">
                <a:solidFill>
                  <a:srgbClr val="A8BDD6"/>
                </a:solidFill>
              </a:rPr>
              <a:t>p and q</a:t>
            </a:r>
            <a:endParaRPr lang="en-US" sz="950" dirty="0"/>
          </a:p>
        </p:txBody>
      </p:sp>
      <p:sp>
        <p:nvSpPr>
          <p:cNvPr id="27" name="Text 25"/>
          <p:cNvSpPr txBox="1"/>
          <p:nvPr/>
        </p:nvSpPr>
        <p:spPr>
          <a:xfrm>
            <a:off x="8467344" y="1828800"/>
            <a:ext cx="274320"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28" name="p5"/>
          <p:cNvSpPr/>
          <p:nvPr/>
        </p:nvSpPr>
        <p:spPr>
          <a:xfrm>
            <a:off x="8705088" y="1234440"/>
            <a:ext cx="1417320" cy="1828800"/>
          </a:xfrm>
          <a:prstGeom prst="roundRect">
            <a:avLst>
              <a:gd name="adj" fmla="val 6452"/>
            </a:avLst>
          </a:prstGeom>
          <a:solidFill>
            <a:srgbClr val="16294C"/>
          </a:solidFill>
          <a:ln w="15875">
            <a:solidFill>
              <a:schemeClr val="accent1"/>
            </a:solidFill>
            <a:prstDash val="solid"/>
          </a:ln>
        </p:spPr>
      </p:sp>
      <p:sp>
        <p:nvSpPr>
          <p:cNvPr id="29" name="Text 27"/>
          <p:cNvSpPr txBox="1"/>
          <p:nvPr/>
        </p:nvSpPr>
        <p:spPr>
          <a:xfrm>
            <a:off x="8705088" y="1353312"/>
            <a:ext cx="1417320" cy="274320"/>
          </a:xfrm>
          <a:prstGeom prst="rect">
            <a:avLst/>
          </a:prstGeom>
          <a:noFill/>
          <a:ln/>
        </p:spPr>
        <p:txBody>
          <a:bodyPr wrap="square" lIns="0" tIns="0" rIns="0" bIns="0" rtlCol="0" anchor="ctr"/>
          <a:lstStyle/>
          <a:p>
            <a:pPr algn="ctr" indent="0" marL="0">
              <a:buNone/>
            </a:pPr>
            <a:r>
              <a:rPr lang="en-US" sz="1100" b="1" dirty="0">
                <a:solidFill>
                  <a:schemeClr val="accent1"/>
                </a:solidFill>
              </a:rPr>
              <a:t>7–8</a:t>
            </a:r>
            <a:endParaRPr lang="en-US" sz="1100" dirty="0"/>
          </a:p>
        </p:txBody>
      </p:sp>
      <p:sp>
        <p:nvSpPr>
          <p:cNvPr id="30" name="Text 28"/>
          <p:cNvSpPr txBox="1"/>
          <p:nvPr/>
        </p:nvSpPr>
        <p:spPr>
          <a:xfrm>
            <a:off x="8705088" y="1636776"/>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rPr>
              <a:t>Decide</a:t>
            </a:r>
            <a:endParaRPr lang="en-US" sz="1050" dirty="0"/>
          </a:p>
        </p:txBody>
      </p:sp>
      <p:sp>
        <p:nvSpPr>
          <p:cNvPr id="31" name="Text 29"/>
          <p:cNvSpPr txBox="1"/>
          <p:nvPr/>
        </p:nvSpPr>
        <p:spPr>
          <a:xfrm>
            <a:off x="8705088" y="1965960"/>
            <a:ext cx="1417320" cy="1005840"/>
          </a:xfrm>
          <a:prstGeom prst="rect">
            <a:avLst/>
          </a:prstGeom>
          <a:noFill/>
          <a:ln/>
        </p:spPr>
        <p:txBody>
          <a:bodyPr wrap="square" lIns="0" tIns="0" rIns="0" bIns="0" rtlCol="0" anchor="ctr"/>
          <a:lstStyle/>
          <a:p>
            <a:pPr algn="ctr" indent="0" marL="0">
              <a:buNone/>
            </a:pPr>
            <a:r>
              <a:rPr lang="en-US" sz="950" dirty="0">
                <a:solidFill>
                  <a:srgbClr val="A8BDD6"/>
                </a:solidFill>
              </a:rPr>
              <a:t>expected cost</a:t>
            </a:r>
            <a:endParaRPr lang="en-US" sz="950" dirty="0"/>
          </a:p>
          <a:p>
            <a:pPr algn="ctr" indent="0" marL="0">
              <a:buNone/>
            </a:pPr>
            <a:r>
              <a:rPr lang="en-US" sz="950" dirty="0">
                <a:solidFill>
                  <a:srgbClr val="A8BDD6"/>
                </a:solidFill>
              </a:rPr>
              <a:t>argmin</a:t>
            </a:r>
            <a:endParaRPr lang="en-US" sz="950" dirty="0"/>
          </a:p>
        </p:txBody>
      </p:sp>
      <p:sp>
        <p:nvSpPr>
          <p:cNvPr id="32" name="Text 30"/>
          <p:cNvSpPr txBox="1"/>
          <p:nvPr/>
        </p:nvSpPr>
        <p:spPr>
          <a:xfrm>
            <a:off x="10094976" y="1828800"/>
            <a:ext cx="274320"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33" name="p6"/>
          <p:cNvSpPr/>
          <p:nvPr/>
        </p:nvSpPr>
        <p:spPr>
          <a:xfrm>
            <a:off x="10332720" y="1234440"/>
            <a:ext cx="1417320" cy="1828800"/>
          </a:xfrm>
          <a:prstGeom prst="roundRect">
            <a:avLst>
              <a:gd name="adj" fmla="val 6452"/>
            </a:avLst>
          </a:prstGeom>
          <a:solidFill>
            <a:srgbClr val="16294C"/>
          </a:solidFill>
          <a:ln w="15875">
            <a:solidFill>
              <a:schemeClr val="accent2"/>
            </a:solidFill>
            <a:prstDash val="solid"/>
          </a:ln>
        </p:spPr>
      </p:sp>
      <p:sp>
        <p:nvSpPr>
          <p:cNvPr id="34" name="Text 32"/>
          <p:cNvSpPr txBox="1"/>
          <p:nvPr/>
        </p:nvSpPr>
        <p:spPr>
          <a:xfrm>
            <a:off x="10332720" y="1353312"/>
            <a:ext cx="1417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9–10</a:t>
            </a:r>
            <a:endParaRPr lang="en-US" sz="1100" dirty="0"/>
          </a:p>
        </p:txBody>
      </p:sp>
      <p:sp>
        <p:nvSpPr>
          <p:cNvPr id="35" name="Text 33"/>
          <p:cNvSpPr txBox="1"/>
          <p:nvPr/>
        </p:nvSpPr>
        <p:spPr>
          <a:xfrm>
            <a:off x="10332720" y="1636776"/>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rPr>
              <a:t>Evaluate</a:t>
            </a:r>
            <a:endParaRPr lang="en-US" sz="1050" dirty="0"/>
          </a:p>
        </p:txBody>
      </p:sp>
      <p:sp>
        <p:nvSpPr>
          <p:cNvPr id="36" name="Text 34"/>
          <p:cNvSpPr txBox="1"/>
          <p:nvPr/>
        </p:nvSpPr>
        <p:spPr>
          <a:xfrm>
            <a:off x="10332720" y="1965960"/>
            <a:ext cx="1417320" cy="1005840"/>
          </a:xfrm>
          <a:prstGeom prst="rect">
            <a:avLst/>
          </a:prstGeom>
          <a:noFill/>
          <a:ln/>
        </p:spPr>
        <p:txBody>
          <a:bodyPr wrap="square" lIns="0" tIns="0" rIns="0" bIns="0" rtlCol="0" anchor="ctr"/>
          <a:lstStyle/>
          <a:p>
            <a:pPr algn="ctr" indent="0" marL="0">
              <a:buNone/>
            </a:pPr>
            <a:r>
              <a:rPr lang="en-US" sz="950" dirty="0">
                <a:solidFill>
                  <a:srgbClr val="A8BDD6"/>
                </a:solidFill>
              </a:rPr>
              <a:t>baselines,</a:t>
            </a:r>
            <a:endParaRPr lang="en-US" sz="950" dirty="0"/>
          </a:p>
          <a:p>
            <a:pPr algn="ctr" indent="0" marL="0">
              <a:buNone/>
            </a:pPr>
            <a:r>
              <a:rPr lang="en-US" sz="950" dirty="0">
                <a:solidFill>
                  <a:srgbClr val="A8BDD6"/>
                </a:solidFill>
              </a:rPr>
              <a:t>metrics</a:t>
            </a:r>
            <a:endParaRPr lang="en-US" sz="950" dirty="0"/>
          </a:p>
        </p:txBody>
      </p:sp>
      <p:sp>
        <p:nvSpPr>
          <p:cNvPr id="37" name="x0"/>
          <p:cNvSpPr/>
          <p:nvPr/>
        </p:nvSpPr>
        <p:spPr>
          <a:xfrm>
            <a:off x="566928" y="3337560"/>
            <a:ext cx="1371600" cy="512064"/>
          </a:xfrm>
          <a:prstGeom prst="roundRect">
            <a:avLst>
              <a:gd name="adj" fmla="val 14286"/>
            </a:avLst>
          </a:prstGeom>
          <a:solidFill>
            <a:schemeClr val="accent2"/>
          </a:solidFill>
          <a:ln/>
        </p:spPr>
      </p:sp>
      <p:sp>
        <p:nvSpPr>
          <p:cNvPr id="38" name="Text 36"/>
          <p:cNvSpPr txBox="1"/>
          <p:nvPr/>
        </p:nvSpPr>
        <p:spPr>
          <a:xfrm>
            <a:off x="566928" y="3337560"/>
            <a:ext cx="1371600" cy="512064"/>
          </a:xfrm>
          <a:prstGeom prst="rect">
            <a:avLst/>
          </a:prstGeom>
          <a:noFill/>
          <a:ln/>
        </p:spPr>
        <p:txBody>
          <a:bodyPr wrap="square" lIns="0" tIns="0" rIns="0" bIns="0" rtlCol="0" anchor="ctr"/>
          <a:lstStyle/>
          <a:p>
            <a:pPr algn="ctr" indent="0" marL="0">
              <a:buNone/>
            </a:pPr>
            <a:r>
              <a:rPr lang="en-US" sz="1050" b="1" dirty="0">
                <a:solidFill>
                  <a:srgbClr val="FFFFFF"/>
                </a:solidFill>
              </a:rPr>
              <a:t>Phase 11</a:t>
            </a:r>
            <a:endParaRPr lang="en-US" sz="1050" dirty="0"/>
          </a:p>
        </p:txBody>
      </p:sp>
      <p:sp>
        <p:nvSpPr>
          <p:cNvPr id="39" name="Text 37"/>
          <p:cNvSpPr txBox="1"/>
          <p:nvPr/>
        </p:nvSpPr>
        <p:spPr>
          <a:xfrm>
            <a:off x="2103120" y="3337560"/>
            <a:ext cx="9509760" cy="512064"/>
          </a:xfrm>
          <a:prstGeom prst="rect">
            <a:avLst/>
          </a:prstGeom>
          <a:noFill/>
          <a:ln/>
        </p:spPr>
        <p:txBody>
          <a:bodyPr wrap="square" lIns="0" tIns="0" rIns="0" bIns="0" rtlCol="0" anchor="ctr"/>
          <a:lstStyle/>
          <a:p>
            <a:pPr indent="0" marL="0">
              <a:buNone/>
            </a:pPr>
            <a:r>
              <a:rPr lang="en-US" sz="1200" dirty="0">
                <a:solidFill>
                  <a:srgbClr val="D6E2F0"/>
                </a:solidFill>
              </a:rPr>
              <a:t>Streamlit dashboard — moving a cost slider flips the displayed decision live</a:t>
            </a:r>
            <a:endParaRPr lang="en-US" sz="1200" dirty="0"/>
          </a:p>
        </p:txBody>
      </p:sp>
      <p:sp>
        <p:nvSpPr>
          <p:cNvPr id="40" name="x1"/>
          <p:cNvSpPr/>
          <p:nvPr/>
        </p:nvSpPr>
        <p:spPr>
          <a:xfrm>
            <a:off x="566928" y="3995928"/>
            <a:ext cx="1371600" cy="512064"/>
          </a:xfrm>
          <a:prstGeom prst="roundRect">
            <a:avLst>
              <a:gd name="adj" fmla="val 14286"/>
            </a:avLst>
          </a:prstGeom>
          <a:solidFill>
            <a:schemeClr val="accent4"/>
          </a:solidFill>
          <a:ln/>
        </p:spPr>
      </p:sp>
      <p:sp>
        <p:nvSpPr>
          <p:cNvPr id="41" name="Text 39"/>
          <p:cNvSpPr txBox="1"/>
          <p:nvPr/>
        </p:nvSpPr>
        <p:spPr>
          <a:xfrm>
            <a:off x="566928" y="3995928"/>
            <a:ext cx="1371600" cy="512064"/>
          </a:xfrm>
          <a:prstGeom prst="rect">
            <a:avLst/>
          </a:prstGeom>
          <a:noFill/>
          <a:ln/>
        </p:spPr>
        <p:txBody>
          <a:bodyPr wrap="square" lIns="0" tIns="0" rIns="0" bIns="0" rtlCol="0" anchor="ctr"/>
          <a:lstStyle/>
          <a:p>
            <a:pPr algn="ctr" indent="0" marL="0">
              <a:buNone/>
            </a:pPr>
            <a:r>
              <a:rPr lang="en-US" sz="1050" b="1" dirty="0">
                <a:solidFill>
                  <a:srgbClr val="FFFFFF"/>
                </a:solidFill>
              </a:rPr>
              <a:t>Phase 12</a:t>
            </a:r>
            <a:endParaRPr lang="en-US" sz="1050" dirty="0"/>
          </a:p>
        </p:txBody>
      </p:sp>
      <p:sp>
        <p:nvSpPr>
          <p:cNvPr id="42" name="Text 40"/>
          <p:cNvSpPr txBox="1"/>
          <p:nvPr/>
        </p:nvSpPr>
        <p:spPr>
          <a:xfrm>
            <a:off x="2103120" y="3995928"/>
            <a:ext cx="9509760" cy="512064"/>
          </a:xfrm>
          <a:prstGeom prst="rect">
            <a:avLst/>
          </a:prstGeom>
          <a:noFill/>
          <a:ln/>
        </p:spPr>
        <p:txBody>
          <a:bodyPr wrap="square" lIns="0" tIns="0" rIns="0" bIns="0" rtlCol="0" anchor="ctr"/>
          <a:lstStyle/>
          <a:p>
            <a:pPr indent="0" marL="0">
              <a:buNone/>
            </a:pPr>
            <a:r>
              <a:rPr lang="en-US" sz="1200" dirty="0">
                <a:solidFill>
                  <a:srgbClr val="D6E2F0"/>
                </a:solidFill>
              </a:rPr>
              <a:t>Real LLM repair via Groq (GPT-OSS-120B), per-cell fallback, key rotation</a:t>
            </a:r>
            <a:endParaRPr lang="en-US" sz="1200" dirty="0"/>
          </a:p>
        </p:txBody>
      </p:sp>
      <p:sp>
        <p:nvSpPr>
          <p:cNvPr id="43" name="x2"/>
          <p:cNvSpPr/>
          <p:nvPr/>
        </p:nvSpPr>
        <p:spPr>
          <a:xfrm>
            <a:off x="566928" y="4654296"/>
            <a:ext cx="1371600" cy="512064"/>
          </a:xfrm>
          <a:prstGeom prst="roundRect">
            <a:avLst>
              <a:gd name="adj" fmla="val 14286"/>
            </a:avLst>
          </a:prstGeom>
          <a:solidFill>
            <a:schemeClr val="accent1"/>
          </a:solidFill>
          <a:ln/>
        </p:spPr>
      </p:sp>
      <p:sp>
        <p:nvSpPr>
          <p:cNvPr id="44" name="Text 42"/>
          <p:cNvSpPr txBox="1"/>
          <p:nvPr/>
        </p:nvSpPr>
        <p:spPr>
          <a:xfrm>
            <a:off x="566928" y="4654296"/>
            <a:ext cx="1371600" cy="512064"/>
          </a:xfrm>
          <a:prstGeom prst="rect">
            <a:avLst/>
          </a:prstGeom>
          <a:noFill/>
          <a:ln/>
        </p:spPr>
        <p:txBody>
          <a:bodyPr wrap="square" lIns="0" tIns="0" rIns="0" bIns="0" rtlCol="0" anchor="ctr"/>
          <a:lstStyle/>
          <a:p>
            <a:pPr algn="ctr" indent="0" marL="0">
              <a:buNone/>
            </a:pPr>
            <a:r>
              <a:rPr lang="en-US" sz="1050" b="1" dirty="0">
                <a:solidFill>
                  <a:srgbClr val="FFFFFF"/>
                </a:solidFill>
              </a:rPr>
              <a:t>Phase 13</a:t>
            </a:r>
            <a:endParaRPr lang="en-US" sz="1050" dirty="0"/>
          </a:p>
        </p:txBody>
      </p:sp>
      <p:sp>
        <p:nvSpPr>
          <p:cNvPr id="45" name="Text 43"/>
          <p:cNvSpPr txBox="1"/>
          <p:nvPr/>
        </p:nvSpPr>
        <p:spPr>
          <a:xfrm>
            <a:off x="2103120" y="4654296"/>
            <a:ext cx="9509760" cy="512064"/>
          </a:xfrm>
          <a:prstGeom prst="rect">
            <a:avLst/>
          </a:prstGeom>
          <a:noFill/>
          <a:ln/>
        </p:spPr>
        <p:txBody>
          <a:bodyPr wrap="square" lIns="0" tIns="0" rIns="0" bIns="0" rtlCol="0" anchor="ctr"/>
          <a:lstStyle/>
          <a:p>
            <a:pPr indent="0" marL="0">
              <a:buNone/>
            </a:pPr>
            <a:r>
              <a:rPr lang="en-US" sz="1200" dirty="0">
                <a:solidFill>
                  <a:srgbClr val="D6E2F0"/>
                </a:solidFill>
              </a:rPr>
              <a:t>One command regenerates every table and figure, deterministically</a:t>
            </a:r>
            <a:endParaRPr lang="en-US" sz="1200" dirty="0"/>
          </a:p>
        </p:txBody>
      </p:sp>
      <p:sp>
        <p:nvSpPr>
          <p:cNvPr id="46" name="k0.625.95"/>
          <p:cNvSpPr/>
          <p:nvPr/>
        </p:nvSpPr>
        <p:spPr>
          <a:xfrm>
            <a:off x="566928" y="5440680"/>
            <a:ext cx="11064240" cy="868680"/>
          </a:xfrm>
          <a:prstGeom prst="roundRect">
            <a:avLst>
              <a:gd name="adj" fmla="val 8421"/>
            </a:avLst>
          </a:prstGeom>
          <a:solidFill>
            <a:srgbClr val="16294C"/>
          </a:solidFill>
          <a:ln w="12700">
            <a:solidFill>
              <a:schemeClr val="accent5"/>
            </a:solidFill>
            <a:prstDash val="solid"/>
          </a:ln>
        </p:spPr>
      </p:sp>
      <p:sp>
        <p:nvSpPr>
          <p:cNvPr id="47" name="Text 45"/>
          <p:cNvSpPr txBox="1"/>
          <p:nvPr/>
        </p:nvSpPr>
        <p:spPr>
          <a:xfrm>
            <a:off x="868680" y="5577840"/>
            <a:ext cx="10515600" cy="685800"/>
          </a:xfrm>
          <a:prstGeom prst="rect">
            <a:avLst/>
          </a:prstGeom>
          <a:noFill/>
          <a:ln/>
        </p:spPr>
        <p:txBody>
          <a:bodyPr wrap="square" lIns="0" tIns="0" rIns="0" bIns="0" rtlCol="0" anchor="ctr"/>
          <a:lstStyle/>
          <a:p>
            <a:pPr indent="0" marL="0">
              <a:buNone/>
            </a:pPr>
            <a:r>
              <a:rPr lang="en-US" sz="1200" b="1" dirty="0">
                <a:solidFill>
                  <a:srgbClr val="FFD9D4"/>
                </a:solidFill>
              </a:rPr>
              <a:t>Non-negotiable invariant: no ground-truth leakage.  </a:t>
            </a:r>
            <a:pPr indent="0" marL="0">
              <a:buNone/>
            </a:pPr>
            <a:r>
              <a:rPr lang="en-US" sz="1150" dirty="0">
                <a:solidFill>
                  <a:srgbClr val="C3D2E6"/>
                </a:solidFill>
              </a:rPr>
              <a:t>Clean data may produce 0/1 labels only, on a training split, only for the two calibrators. Verified empirically — scrambling the clean values leaves detections, repairs and uncertainty signals byte-identical.</a:t>
            </a:r>
            <a:endParaRPr lang="en-US" sz="1200" dirty="0"/>
          </a:p>
        </p:txBody>
      </p:sp>
      <p:sp>
        <p:nvSpPr>
          <p:cNvPr id="48"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Phases 1–5: profile, detect, repair, quantify uncertainty</a:t>
            </a:r>
            <a:endParaRPr lang="en-US" sz="2800" dirty="0"/>
          </a:p>
        </p:txBody>
      </p:sp>
      <p:sp>
        <p:nvSpPr>
          <p:cNvPr id="3" name="k0.71.25"/>
          <p:cNvSpPr/>
          <p:nvPr/>
        </p:nvSpPr>
        <p:spPr>
          <a:xfrm>
            <a:off x="640080" y="1143000"/>
            <a:ext cx="3520440" cy="2377440"/>
          </a:xfrm>
          <a:prstGeom prst="roundRect">
            <a:avLst>
              <a:gd name="adj" fmla="val 3077"/>
            </a:avLst>
          </a:prstGeom>
          <a:solidFill>
            <a:schemeClr val="bg2"/>
          </a:solidFill>
          <a:ln w="9525">
            <a:solidFill>
              <a:srgbClr val="DDE5EC"/>
            </a:solidFill>
            <a:prstDash val="solid"/>
          </a:ln>
        </p:spPr>
      </p:sp>
      <p:sp>
        <p:nvSpPr>
          <p:cNvPr id="4" name="Text 2"/>
          <p:cNvSpPr txBox="1"/>
          <p:nvPr/>
        </p:nvSpPr>
        <p:spPr>
          <a:xfrm>
            <a:off x="868680" y="1298448"/>
            <a:ext cx="3108960" cy="292608"/>
          </a:xfrm>
          <a:prstGeom prst="rect">
            <a:avLst/>
          </a:prstGeom>
          <a:noFill/>
          <a:ln/>
        </p:spPr>
        <p:txBody>
          <a:bodyPr wrap="square" lIns="0" tIns="0" rIns="0" bIns="0" rtlCol="0" anchor="ctr"/>
          <a:lstStyle/>
          <a:p>
            <a:pPr indent="0" marL="0">
              <a:buNone/>
            </a:pPr>
            <a:r>
              <a:rPr lang="en-US" sz="1250" b="1" dirty="0">
                <a:solidFill>
                  <a:schemeClr val="tx1"/>
                </a:solidFill>
              </a:rPr>
              <a:t>Phase 3 — six detection checks</a:t>
            </a:r>
            <a:endParaRPr lang="en-US" sz="1250" dirty="0"/>
          </a:p>
        </p:txBody>
      </p:sp>
      <p:sp>
        <p:nvSpPr>
          <p:cNvPr id="5" name="Text 3"/>
          <p:cNvSpPr txBox="1"/>
          <p:nvPr/>
        </p:nvSpPr>
        <p:spPr>
          <a:xfrm>
            <a:off x="868680" y="1645920"/>
            <a:ext cx="3108960" cy="173736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Missing / null token</a:t>
            </a:r>
            <a:endParaRPr lang="en-US" sz="1100" dirty="0"/>
          </a:p>
          <a:p>
            <a:pPr marL="342900" indent="-342900">
              <a:spcAft>
                <a:spcPts val="600"/>
              </a:spcAft>
              <a:buSzPct val="100000"/>
              <a:buChar char="•"/>
            </a:pPr>
            <a:r>
              <a:rPr lang="en-US" sz="1100" dirty="0">
                <a:solidFill>
                  <a:schemeClr val="tx1"/>
                </a:solidFill>
              </a:rPr>
              <a:t>Out-of-range</a:t>
            </a:r>
            <a:endParaRPr lang="en-US" sz="1100" dirty="0"/>
          </a:p>
          <a:p>
            <a:pPr marL="342900" indent="-342900">
              <a:spcAft>
                <a:spcPts val="600"/>
              </a:spcAft>
              <a:buSzPct val="100000"/>
              <a:buChar char="•"/>
            </a:pPr>
            <a:r>
              <a:rPr lang="en-US" sz="1100" dirty="0">
                <a:solidFill>
                  <a:schemeClr val="tx1"/>
                </a:solidFill>
              </a:rPr>
              <a:t>IQR fence outlier (k=3)</a:t>
            </a:r>
            <a:endParaRPr lang="en-US" sz="1100" dirty="0"/>
          </a:p>
          <a:p>
            <a:pPr marL="342900" indent="-342900">
              <a:spcAft>
                <a:spcPts val="600"/>
              </a:spcAft>
              <a:buSzPct val="100000"/>
              <a:buChar char="•"/>
            </a:pPr>
            <a:r>
              <a:rPr lang="en-US" sz="1100" dirty="0">
                <a:solidFill>
                  <a:schemeClr val="tx1"/>
                </a:solidFill>
              </a:rPr>
              <a:t>Format error</a:t>
            </a:r>
            <a:endParaRPr lang="en-US" sz="1100" dirty="0"/>
          </a:p>
          <a:p>
            <a:pPr marL="342900" indent="-342900">
              <a:spcAft>
                <a:spcPts val="600"/>
              </a:spcAft>
              <a:buSzPct val="100000"/>
              <a:buChar char="•"/>
            </a:pPr>
            <a:r>
              <a:rPr lang="en-US" sz="1100" dirty="0">
                <a:solidFill>
                  <a:schemeClr val="tx1"/>
                </a:solidFill>
              </a:rPr>
              <a:t>Novel category</a:t>
            </a:r>
            <a:endParaRPr lang="en-US" sz="1100" dirty="0"/>
          </a:p>
          <a:p>
            <a:pPr marL="342900" indent="-342900">
              <a:spcAft>
                <a:spcPts val="600"/>
              </a:spcAft>
              <a:buSzPct val="100000"/>
              <a:buChar char="•"/>
            </a:pPr>
            <a:r>
              <a:rPr lang="en-US" sz="1100" dirty="0">
                <a:solidFill>
                  <a:schemeClr val="tx1"/>
                </a:solidFill>
              </a:rPr>
              <a:t>Whitespace anomaly</a:t>
            </a:r>
            <a:endParaRPr lang="en-US" sz="1100" dirty="0"/>
          </a:p>
        </p:txBody>
      </p:sp>
      <p:sp>
        <p:nvSpPr>
          <p:cNvPr id="6" name="k4.751.25"/>
          <p:cNvSpPr/>
          <p:nvPr/>
        </p:nvSpPr>
        <p:spPr>
          <a:xfrm>
            <a:off x="4343400" y="1143000"/>
            <a:ext cx="3520440" cy="2377440"/>
          </a:xfrm>
          <a:prstGeom prst="roundRect">
            <a:avLst>
              <a:gd name="adj" fmla="val 3077"/>
            </a:avLst>
          </a:prstGeom>
          <a:solidFill>
            <a:schemeClr val="bg2"/>
          </a:solidFill>
          <a:ln w="9525">
            <a:solidFill>
              <a:srgbClr val="DDE5EC"/>
            </a:solidFill>
            <a:prstDash val="solid"/>
          </a:ln>
        </p:spPr>
      </p:sp>
      <p:sp>
        <p:nvSpPr>
          <p:cNvPr id="7" name="Text 5"/>
          <p:cNvSpPr txBox="1"/>
          <p:nvPr/>
        </p:nvSpPr>
        <p:spPr>
          <a:xfrm>
            <a:off x="4572000" y="1298448"/>
            <a:ext cx="3108960" cy="292608"/>
          </a:xfrm>
          <a:prstGeom prst="rect">
            <a:avLst/>
          </a:prstGeom>
          <a:noFill/>
          <a:ln/>
        </p:spPr>
        <p:txBody>
          <a:bodyPr wrap="square" lIns="0" tIns="0" rIns="0" bIns="0" rtlCol="0" anchor="ctr"/>
          <a:lstStyle/>
          <a:p>
            <a:pPr indent="0" marL="0">
              <a:buNone/>
            </a:pPr>
            <a:r>
              <a:rPr lang="en-US" sz="1250" b="1" dirty="0">
                <a:solidFill>
                  <a:schemeClr val="tx1"/>
                </a:solidFill>
              </a:rPr>
              <a:t>Phase 4 — repair candidates</a:t>
            </a:r>
            <a:endParaRPr lang="en-US" sz="1250" dirty="0"/>
          </a:p>
        </p:txBody>
      </p:sp>
      <p:sp>
        <p:nvSpPr>
          <p:cNvPr id="8" name="Text 6"/>
          <p:cNvSpPr txBox="1"/>
          <p:nvPr/>
        </p:nvSpPr>
        <p:spPr>
          <a:xfrm>
            <a:off x="4572000" y="1645920"/>
            <a:ext cx="3108960" cy="173736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Top-k values with probabilities</a:t>
            </a:r>
            <a:endParaRPr lang="en-US" sz="1100" dirty="0"/>
          </a:p>
          <a:p>
            <a:pPr marL="342900" indent="-342900">
              <a:spcAft>
                <a:spcPts val="600"/>
              </a:spcAft>
              <a:buSzPct val="100000"/>
              <a:buChar char="•"/>
            </a:pPr>
            <a:r>
              <a:rPr lang="en-US" sz="1100" dirty="0">
                <a:solidFill>
                  <a:schemeClr val="tx1"/>
                </a:solidFill>
              </a:rPr>
              <a:t>Rule-based: similarity, frequency, median imputation</a:t>
            </a:r>
            <a:endParaRPr lang="en-US" sz="1100" dirty="0"/>
          </a:p>
          <a:p>
            <a:pPr marL="342900" indent="-342900">
              <a:spcAft>
                <a:spcPts val="600"/>
              </a:spcAft>
              <a:buSzPct val="100000"/>
              <a:buChar char="•"/>
            </a:pPr>
            <a:r>
              <a:rPr lang="en-US" sz="1100" dirty="0">
                <a:solidFill>
                  <a:schemeClr val="tx1"/>
                </a:solidFill>
              </a:rPr>
              <a:t>Phase 12 adds a real LLM</a:t>
            </a:r>
            <a:endParaRPr lang="en-US" sz="1100" dirty="0"/>
          </a:p>
          <a:p>
            <a:pPr marL="342900" indent="-342900">
              <a:spcAft>
                <a:spcPts val="600"/>
              </a:spcAft>
              <a:buSzPct val="100000"/>
              <a:buChar char="•"/>
            </a:pPr>
            <a:r>
              <a:rPr lang="en-US" sz="1100" dirty="0">
                <a:solidFill>
                  <a:schemeClr val="tx1"/>
                </a:solidFill>
              </a:rPr>
              <a:t>Both share one interface</a:t>
            </a:r>
            <a:endParaRPr lang="en-US" sz="1100" dirty="0"/>
          </a:p>
        </p:txBody>
      </p:sp>
      <p:sp>
        <p:nvSpPr>
          <p:cNvPr id="9" name="k8.81.25"/>
          <p:cNvSpPr/>
          <p:nvPr/>
        </p:nvSpPr>
        <p:spPr>
          <a:xfrm>
            <a:off x="8046720" y="1143000"/>
            <a:ext cx="3566160" cy="2377440"/>
          </a:xfrm>
          <a:prstGeom prst="roundRect">
            <a:avLst>
              <a:gd name="adj" fmla="val 3077"/>
            </a:avLst>
          </a:prstGeom>
          <a:solidFill>
            <a:schemeClr val="bg2"/>
          </a:solidFill>
          <a:ln w="9525">
            <a:solidFill>
              <a:srgbClr val="DDE5EC"/>
            </a:solidFill>
            <a:prstDash val="solid"/>
          </a:ln>
        </p:spPr>
      </p:sp>
      <p:sp>
        <p:nvSpPr>
          <p:cNvPr id="10" name="Text 8"/>
          <p:cNvSpPr txBox="1"/>
          <p:nvPr/>
        </p:nvSpPr>
        <p:spPr>
          <a:xfrm>
            <a:off x="8275320" y="1298448"/>
            <a:ext cx="3154680" cy="292608"/>
          </a:xfrm>
          <a:prstGeom prst="rect">
            <a:avLst/>
          </a:prstGeom>
          <a:noFill/>
          <a:ln/>
        </p:spPr>
        <p:txBody>
          <a:bodyPr wrap="square" lIns="0" tIns="0" rIns="0" bIns="0" rtlCol="0" anchor="ctr"/>
          <a:lstStyle/>
          <a:p>
            <a:pPr indent="0" marL="0">
              <a:buNone/>
            </a:pPr>
            <a:r>
              <a:rPr lang="en-US" sz="1250" b="1" dirty="0">
                <a:solidFill>
                  <a:schemeClr val="tx1"/>
                </a:solidFill>
              </a:rPr>
              <a:t>Phase 5 — uncertainty signals</a:t>
            </a:r>
            <a:endParaRPr lang="en-US" sz="1250" dirty="0"/>
          </a:p>
        </p:txBody>
      </p:sp>
      <p:sp>
        <p:nvSpPr>
          <p:cNvPr id="11" name="Text 9"/>
          <p:cNvSpPr txBox="1"/>
          <p:nvPr/>
        </p:nvSpPr>
        <p:spPr>
          <a:xfrm>
            <a:off x="8275320" y="1645920"/>
            <a:ext cx="3154680" cy="173736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Raw confidence</a:t>
            </a:r>
            <a:endParaRPr lang="en-US" sz="1100" dirty="0"/>
          </a:p>
          <a:p>
            <a:pPr marL="342900" indent="-342900">
              <a:spcAft>
                <a:spcPts val="600"/>
              </a:spcAft>
              <a:buSzPct val="100000"/>
              <a:buChar char="•"/>
            </a:pPr>
            <a:r>
              <a:rPr lang="en-US" sz="1100" dirty="0">
                <a:solidFill>
                  <a:schemeClr val="tx1"/>
                </a:solidFill>
              </a:rPr>
              <a:t>Self-consistency across resampled calls</a:t>
            </a:r>
            <a:endParaRPr lang="en-US" sz="1100" dirty="0"/>
          </a:p>
          <a:p>
            <a:pPr marL="342900" indent="-342900">
              <a:spcAft>
                <a:spcPts val="600"/>
              </a:spcAft>
              <a:buSzPct val="100000"/>
              <a:buChar char="•"/>
            </a:pPr>
            <a:r>
              <a:rPr lang="en-US" sz="1100" dirty="0">
                <a:solidFill>
                  <a:schemeClr val="tx1"/>
                </a:solidFill>
              </a:rPr>
              <a:t>Entropy over candidates</a:t>
            </a:r>
            <a:endParaRPr lang="en-US" sz="1100" dirty="0"/>
          </a:p>
        </p:txBody>
      </p:sp>
      <p:sp>
        <p:nvSpPr>
          <p:cNvPr id="12" name="k0.74.1"/>
          <p:cNvSpPr/>
          <p:nvPr/>
        </p:nvSpPr>
        <p:spPr>
          <a:xfrm>
            <a:off x="640080" y="3749040"/>
            <a:ext cx="10972800" cy="1920240"/>
          </a:xfrm>
          <a:prstGeom prst="roundRect">
            <a:avLst>
              <a:gd name="adj" fmla="val 3810"/>
            </a:avLst>
          </a:prstGeom>
          <a:solidFill>
            <a:srgbClr val="FDF3E3"/>
          </a:solidFill>
          <a:ln w="12700">
            <a:solidFill>
              <a:schemeClr val="accent2"/>
            </a:solidFill>
            <a:prstDash val="solid"/>
          </a:ln>
        </p:spPr>
      </p:sp>
      <p:sp>
        <p:nvSpPr>
          <p:cNvPr id="13" name="Text 11"/>
          <p:cNvSpPr txBox="1"/>
          <p:nvPr/>
        </p:nvSpPr>
        <p:spPr>
          <a:xfrm>
            <a:off x="914400" y="3913632"/>
            <a:ext cx="10424160" cy="320040"/>
          </a:xfrm>
          <a:prstGeom prst="rect">
            <a:avLst/>
          </a:prstGeom>
          <a:noFill/>
          <a:ln/>
        </p:spPr>
        <p:txBody>
          <a:bodyPr wrap="square" lIns="0" tIns="0" rIns="0" bIns="0" rtlCol="0" anchor="ctr"/>
          <a:lstStyle/>
          <a:p>
            <a:pPr indent="0" marL="0">
              <a:buNone/>
            </a:pPr>
            <a:r>
              <a:rPr lang="en-US" sz="1350" b="1" dirty="0">
                <a:solidFill>
                  <a:srgbClr val="8A5A08"/>
                </a:solidFill>
              </a:rPr>
              <a:t>Detection fails in opposite ways on different datasets</a:t>
            </a:r>
            <a:endParaRPr lang="en-US" sz="1350" dirty="0"/>
          </a:p>
        </p:txBody>
      </p:sp>
      <p:sp>
        <p:nvSpPr>
          <p:cNvPr id="14" name="Text 12"/>
          <p:cNvSpPr txBox="1"/>
          <p:nvPr/>
        </p:nvSpPr>
        <p:spPr>
          <a:xfrm>
            <a:off x="914400" y="4297680"/>
            <a:ext cx="10424160" cy="1280160"/>
          </a:xfrm>
          <a:prstGeom prst="rect">
            <a:avLst/>
          </a:prstGeom>
          <a:noFill/>
          <a:ln/>
        </p:spPr>
        <p:txBody>
          <a:bodyPr wrap="square" rtlCol="0" anchor="ctr"/>
          <a:lstStyle/>
          <a:p>
            <a:pPr marL="342900" indent="-342900">
              <a:spcAft>
                <a:spcPts val="600"/>
              </a:spcAft>
              <a:buSzPct val="100000"/>
              <a:buChar char="•"/>
            </a:pPr>
            <a:r>
              <a:rPr lang="en-US" sz="1150" dirty="0">
                <a:solidFill>
                  <a:srgbClr val="5F4206"/>
                </a:solidFill>
              </a:rPr>
              <a:t>Smart Factory — perfect detection (corruption is literally blank cells), but repairs are only 28.8 % correct</a:t>
            </a:r>
            <a:endParaRPr lang="en-US" sz="1150" dirty="0"/>
          </a:p>
          <a:p>
            <a:pPr marL="342900" indent="-342900">
              <a:spcAft>
                <a:spcPts val="600"/>
              </a:spcAft>
              <a:buSzPct val="100000"/>
              <a:buChar char="•"/>
            </a:pPr>
            <a:r>
              <a:rPr lang="en-US" sz="1150" dirty="0">
                <a:solidFill>
                  <a:srgbClr val="5F4206"/>
                </a:solidFill>
              </a:rPr>
              <a:t>Adult — finds 0 of 1,701 real errors and raises 5,829 false alarms; corruption swaps a valid value for another valid value</a:t>
            </a:r>
            <a:endParaRPr lang="en-US" sz="1150" dirty="0"/>
          </a:p>
          <a:p>
            <a:pPr marL="342900" indent="-342900">
              <a:spcAft>
                <a:spcPts val="600"/>
              </a:spcAft>
              <a:buSzPct val="100000"/>
              <a:buChar char="•"/>
            </a:pPr>
            <a:r>
              <a:rPr lang="en-US" sz="1150" dirty="0">
                <a:solidFill>
                  <a:srgbClr val="5F4206"/>
                </a:solidFill>
              </a:rPr>
              <a:t>Breast Cancer — the only dataset where detection and repair both work (precision 1.00, recall 0.56)</a:t>
            </a:r>
            <a:endParaRPr lang="en-US" sz="1150" dirty="0"/>
          </a:p>
        </p:txBody>
      </p:sp>
      <p:sp>
        <p:nvSpPr>
          <p:cNvPr id="15"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Phases 6–8: two calibrated probabilities, one decision rule</a:t>
            </a:r>
            <a:endParaRPr lang="en-US" sz="2800" dirty="0"/>
          </a:p>
        </p:txBody>
      </p:sp>
      <p:sp>
        <p:nvSpPr>
          <p:cNvPr id="3" name="k0.71.25"/>
          <p:cNvSpPr/>
          <p:nvPr/>
        </p:nvSpPr>
        <p:spPr>
          <a:xfrm>
            <a:off x="640080" y="1143000"/>
            <a:ext cx="5349240" cy="1371600"/>
          </a:xfrm>
          <a:prstGeom prst="roundRect">
            <a:avLst>
              <a:gd name="adj" fmla="val 5333"/>
            </a:avLst>
          </a:prstGeom>
          <a:solidFill>
            <a:schemeClr val="bg2"/>
          </a:solidFill>
          <a:ln w="9525">
            <a:solidFill>
              <a:srgbClr val="DDE5EC"/>
            </a:solidFill>
            <a:prstDash val="solid"/>
          </a:ln>
        </p:spPr>
      </p:sp>
      <p:sp>
        <p:nvSpPr>
          <p:cNvPr id="4" name="qp"/>
          <p:cNvSpPr/>
          <p:nvPr/>
        </p:nvSpPr>
        <p:spPr>
          <a:xfrm>
            <a:off x="914400" y="1371600"/>
            <a:ext cx="621792" cy="621792"/>
          </a:xfrm>
          <a:prstGeom prst="ellipse">
            <a:avLst/>
          </a:prstGeom>
          <a:solidFill>
            <a:schemeClr val="accent4"/>
          </a:solidFill>
          <a:ln/>
        </p:spPr>
      </p:sp>
      <p:sp>
        <p:nvSpPr>
          <p:cNvPr id="5" name="Text 3"/>
          <p:cNvSpPr txBox="1"/>
          <p:nvPr/>
        </p:nvSpPr>
        <p:spPr>
          <a:xfrm>
            <a:off x="914400" y="1371600"/>
            <a:ext cx="621792" cy="621792"/>
          </a:xfrm>
          <a:prstGeom prst="rect">
            <a:avLst/>
          </a:prstGeom>
          <a:noFill/>
          <a:ln/>
        </p:spPr>
        <p:txBody>
          <a:bodyPr wrap="square" lIns="0" tIns="0" rIns="0" bIns="0" rtlCol="0" anchor="ctr"/>
          <a:lstStyle/>
          <a:p>
            <a:pPr algn="ctr" indent="0" marL="0">
              <a:buNone/>
            </a:pPr>
            <a:r>
              <a:rPr lang="en-US" sz="2600" b="1" i="1" dirty="0">
                <a:solidFill>
                  <a:srgbClr val="FFFFFF"/>
                </a:solidFill>
              </a:rPr>
              <a:t>p</a:t>
            </a:r>
            <a:endParaRPr lang="en-US" sz="2600" dirty="0"/>
          </a:p>
        </p:txBody>
      </p:sp>
      <p:sp>
        <p:nvSpPr>
          <p:cNvPr id="6" name="Text 4"/>
          <p:cNvSpPr txBox="1"/>
          <p:nvPr/>
        </p:nvSpPr>
        <p:spPr>
          <a:xfrm>
            <a:off x="1691640" y="1325880"/>
            <a:ext cx="4023360" cy="365760"/>
          </a:xfrm>
          <a:prstGeom prst="rect">
            <a:avLst/>
          </a:prstGeom>
          <a:noFill/>
          <a:ln/>
        </p:spPr>
        <p:txBody>
          <a:bodyPr wrap="square" lIns="0" tIns="0" rIns="0" bIns="0" rtlCol="0" anchor="ctr"/>
          <a:lstStyle/>
          <a:p>
            <a:pPr indent="0" marL="0">
              <a:buNone/>
            </a:pPr>
            <a:r>
              <a:rPr lang="en-US" sz="1250" b="1" dirty="0">
                <a:solidFill>
                  <a:schemeClr val="tx1"/>
                </a:solidFill>
              </a:rPr>
              <a:t>P(the proposed repair is correct)</a:t>
            </a:r>
            <a:endParaRPr lang="en-US" sz="1250" dirty="0"/>
          </a:p>
        </p:txBody>
      </p:sp>
      <p:sp>
        <p:nvSpPr>
          <p:cNvPr id="7" name="Text 5"/>
          <p:cNvSpPr txBox="1"/>
          <p:nvPr/>
        </p:nvSpPr>
        <p:spPr>
          <a:xfrm>
            <a:off x="1691640" y="1719072"/>
            <a:ext cx="4023360" cy="685800"/>
          </a:xfrm>
          <a:prstGeom prst="rect">
            <a:avLst/>
          </a:prstGeom>
          <a:noFill/>
          <a:ln/>
        </p:spPr>
        <p:txBody>
          <a:bodyPr wrap="square" lIns="0" tIns="0" rIns="0" bIns="0" rtlCol="0" anchor="ctr"/>
          <a:lstStyle/>
          <a:p>
            <a:pPr indent="0" marL="0">
              <a:buNone/>
            </a:pPr>
            <a:r>
              <a:rPr lang="en-US" sz="1050" dirty="0">
                <a:solidFill>
                  <a:schemeClr val="accent3"/>
                </a:solidFill>
              </a:rPr>
              <a:t>Logistic / isotonic / multivariate, fitted on held-out 0/1 correctness labels</a:t>
            </a:r>
            <a:endParaRPr lang="en-US" sz="1050" dirty="0"/>
          </a:p>
        </p:txBody>
      </p:sp>
      <p:sp>
        <p:nvSpPr>
          <p:cNvPr id="8" name="k6.851.25"/>
          <p:cNvSpPr/>
          <p:nvPr/>
        </p:nvSpPr>
        <p:spPr>
          <a:xfrm>
            <a:off x="6263640" y="1143000"/>
            <a:ext cx="5349240" cy="1371600"/>
          </a:xfrm>
          <a:prstGeom prst="roundRect">
            <a:avLst>
              <a:gd name="adj" fmla="val 5333"/>
            </a:avLst>
          </a:prstGeom>
          <a:solidFill>
            <a:schemeClr val="bg2"/>
          </a:solidFill>
          <a:ln w="9525">
            <a:solidFill>
              <a:srgbClr val="DDE5EC"/>
            </a:solidFill>
            <a:prstDash val="solid"/>
          </a:ln>
        </p:spPr>
      </p:sp>
      <p:sp>
        <p:nvSpPr>
          <p:cNvPr id="9" name="qq"/>
          <p:cNvSpPr/>
          <p:nvPr/>
        </p:nvSpPr>
        <p:spPr>
          <a:xfrm>
            <a:off x="6537960" y="1371600"/>
            <a:ext cx="621792" cy="621792"/>
          </a:xfrm>
          <a:prstGeom prst="ellipse">
            <a:avLst/>
          </a:prstGeom>
          <a:solidFill>
            <a:schemeClr val="accent6"/>
          </a:solidFill>
          <a:ln/>
        </p:spPr>
      </p:sp>
      <p:sp>
        <p:nvSpPr>
          <p:cNvPr id="10" name="Text 8"/>
          <p:cNvSpPr txBox="1"/>
          <p:nvPr/>
        </p:nvSpPr>
        <p:spPr>
          <a:xfrm>
            <a:off x="6537960" y="1371600"/>
            <a:ext cx="621792" cy="621792"/>
          </a:xfrm>
          <a:prstGeom prst="rect">
            <a:avLst/>
          </a:prstGeom>
          <a:noFill/>
          <a:ln/>
        </p:spPr>
        <p:txBody>
          <a:bodyPr wrap="square" lIns="0" tIns="0" rIns="0" bIns="0" rtlCol="0" anchor="ctr"/>
          <a:lstStyle/>
          <a:p>
            <a:pPr algn="ctr" indent="0" marL="0">
              <a:buNone/>
            </a:pPr>
            <a:r>
              <a:rPr lang="en-US" sz="2600" b="1" i="1" dirty="0">
                <a:solidFill>
                  <a:srgbClr val="FFFFFF"/>
                </a:solidFill>
              </a:rPr>
              <a:t>q</a:t>
            </a:r>
            <a:endParaRPr lang="en-US" sz="2600" dirty="0"/>
          </a:p>
        </p:txBody>
      </p:sp>
      <p:sp>
        <p:nvSpPr>
          <p:cNvPr id="11" name="Text 9"/>
          <p:cNvSpPr txBox="1"/>
          <p:nvPr/>
        </p:nvSpPr>
        <p:spPr>
          <a:xfrm>
            <a:off x="7315200" y="1325880"/>
            <a:ext cx="4023360" cy="365760"/>
          </a:xfrm>
          <a:prstGeom prst="rect">
            <a:avLst/>
          </a:prstGeom>
          <a:noFill/>
          <a:ln/>
        </p:spPr>
        <p:txBody>
          <a:bodyPr wrap="square" lIns="0" tIns="0" rIns="0" bIns="0" rtlCol="0" anchor="ctr"/>
          <a:lstStyle/>
          <a:p>
            <a:pPr indent="0" marL="0">
              <a:buNone/>
            </a:pPr>
            <a:r>
              <a:rPr lang="en-US" sz="1250" b="1" dirty="0">
                <a:solidFill>
                  <a:schemeClr val="tx1"/>
                </a:solidFill>
              </a:rPr>
              <a:t>P(the flagged cell is genuinely corrupted)</a:t>
            </a:r>
            <a:endParaRPr lang="en-US" sz="1250" dirty="0"/>
          </a:p>
        </p:txBody>
      </p:sp>
      <p:sp>
        <p:nvSpPr>
          <p:cNvPr id="12" name="Text 10"/>
          <p:cNvSpPr txBox="1"/>
          <p:nvPr/>
        </p:nvSpPr>
        <p:spPr>
          <a:xfrm>
            <a:off x="7315200" y="1719072"/>
            <a:ext cx="4023360" cy="685800"/>
          </a:xfrm>
          <a:prstGeom prst="rect">
            <a:avLst/>
          </a:prstGeom>
          <a:noFill/>
          <a:ln/>
        </p:spPr>
        <p:txBody>
          <a:bodyPr wrap="square" lIns="0" tIns="0" rIns="0" bIns="0" rtlCol="0" anchor="ctr"/>
          <a:lstStyle/>
          <a:p>
            <a:pPr indent="0" marL="0">
              <a:buNone/>
            </a:pPr>
            <a:r>
              <a:rPr lang="en-US" sz="1050" dirty="0">
                <a:solidFill>
                  <a:schemeClr val="accent3"/>
                </a:solidFill>
              </a:rPr>
              <a:t>Learned per detector check type; added this period so abstention responds to evidence</a:t>
            </a:r>
            <a:endParaRPr lang="en-US" sz="1050" dirty="0"/>
          </a:p>
        </p:txBody>
      </p:sp>
      <p:sp>
        <p:nvSpPr>
          <p:cNvPr id="13" name="k0.72.95"/>
          <p:cNvSpPr/>
          <p:nvPr/>
        </p:nvSpPr>
        <p:spPr>
          <a:xfrm>
            <a:off x="640080" y="2697480"/>
            <a:ext cx="5349240" cy="1920240"/>
          </a:xfrm>
          <a:prstGeom prst="roundRect">
            <a:avLst>
              <a:gd name="adj" fmla="val 3810"/>
            </a:avLst>
          </a:prstGeom>
          <a:solidFill>
            <a:srgbClr val="EAF3F8"/>
          </a:solidFill>
          <a:ln w="9525">
            <a:solidFill>
              <a:srgbClr val="DDE5EC"/>
            </a:solidFill>
            <a:prstDash val="solid"/>
          </a:ln>
        </p:spPr>
      </p:sp>
      <p:sp>
        <p:nvSpPr>
          <p:cNvPr id="14" name="Text 12"/>
          <p:cNvSpPr txBox="1"/>
          <p:nvPr/>
        </p:nvSpPr>
        <p:spPr>
          <a:xfrm>
            <a:off x="914400" y="2852928"/>
            <a:ext cx="4800600" cy="274320"/>
          </a:xfrm>
          <a:prstGeom prst="rect">
            <a:avLst/>
          </a:prstGeom>
          <a:noFill/>
          <a:ln/>
        </p:spPr>
        <p:txBody>
          <a:bodyPr wrap="square" lIns="0" tIns="0" rIns="0" bIns="0" rtlCol="0" anchor="ctr"/>
          <a:lstStyle/>
          <a:p>
            <a:pPr indent="0" marL="0">
              <a:buNone/>
            </a:pPr>
            <a:r>
              <a:rPr lang="en-US" sz="1250" b="1" dirty="0">
                <a:solidFill>
                  <a:schemeClr val="tx1"/>
                </a:solidFill>
              </a:rPr>
              <a:t>The decision rule</a:t>
            </a:r>
            <a:endParaRPr lang="en-US" sz="1250" dirty="0"/>
          </a:p>
        </p:txBody>
      </p:sp>
      <p:sp>
        <p:nvSpPr>
          <p:cNvPr id="15" name="Text 13"/>
          <p:cNvSpPr txBox="1"/>
          <p:nvPr/>
        </p:nvSpPr>
        <p:spPr>
          <a:xfrm>
            <a:off x="914400" y="3127248"/>
            <a:ext cx="4800600" cy="1463040"/>
          </a:xfrm>
          <a:prstGeom prst="rect">
            <a:avLst/>
          </a:prstGeom>
          <a:noFill/>
          <a:ln/>
        </p:spPr>
        <p:txBody>
          <a:bodyPr wrap="square" lIns="0" tIns="0" rIns="0" bIns="0" rtlCol="0" anchor="ctr"/>
          <a:lstStyle/>
          <a:p>
            <a:pPr indent="0" marL="0">
              <a:buNone/>
            </a:pPr>
            <a:r>
              <a:rPr lang="en-US" sz="1050" dirty="0">
                <a:solidFill>
                  <a:srgbClr val="000000"/>
                </a:solidFill>
                <a:latin typeface="Courier New" pitchFamily="34" charset="0"/>
                <a:ea typeface="Courier New" pitchFamily="34" charset="-122"/>
                <a:cs typeface="Courier New" pitchFamily="34" charset="-120"/>
              </a:rPr>
              <a:t>E[AUTO]    = (1 − p) × C_wrong
</a:t>
            </a:r>
            <a:endParaRPr lang="en-US" sz="1050" dirty="0"/>
          </a:p>
          <a:p>
            <a:pPr indent="0" marL="0">
              <a:buNone/>
            </a:pPr>
            <a:r>
              <a:rPr lang="en-US" sz="1050" dirty="0">
                <a:solidFill>
                  <a:srgbClr val="000000"/>
                </a:solidFill>
                <a:latin typeface="Courier New" pitchFamily="34" charset="0"/>
                <a:ea typeface="Courier New" pitchFamily="34" charset="-122"/>
                <a:cs typeface="Courier New" pitchFamily="34" charset="-120"/>
              </a:rPr>
              <a:t>E[HUMAN]   = C_human
</a:t>
            </a:r>
            <a:endParaRPr lang="en-US" sz="1050" dirty="0"/>
          </a:p>
          <a:p>
            <a:pPr indent="0" marL="0">
              <a:buNone/>
            </a:pPr>
            <a:r>
              <a:rPr lang="en-US" sz="1050" dirty="0">
                <a:solidFill>
                  <a:srgbClr val="000000"/>
                </a:solidFill>
                <a:latin typeface="Courier New" pitchFamily="34" charset="0"/>
                <a:ea typeface="Courier New" pitchFamily="34" charset="-122"/>
                <a:cs typeface="Courier New" pitchFamily="34" charset="-120"/>
              </a:rPr>
              <a:t>E[ABSTAIN] = q × C_abstain
</a:t>
            </a:r>
            <a:endParaRPr lang="en-US" sz="1050" dirty="0"/>
          </a:p>
          <a:p>
            <a:pPr indent="0" marL="0">
              <a:buNone/>
            </a:pPr>
            <a:r>
              <a:rPr lang="en-US" sz="1050" b="1" dirty="0">
                <a:solidFill>
                  <a:srgbClr val="000000"/>
                </a:solidFill>
                <a:latin typeface="Courier New" pitchFamily="34" charset="0"/>
                <a:ea typeface="Courier New" pitchFamily="34" charset="-122"/>
                <a:cs typeface="Courier New" pitchFamily="34" charset="-120"/>
              </a:rPr>
              <a:t>action = argmin over the three</a:t>
            </a:r>
            <a:endParaRPr lang="en-US" sz="1050" dirty="0"/>
          </a:p>
        </p:txBody>
      </p:sp>
      <p:sp>
        <p:nvSpPr>
          <p:cNvPr id="16" name="k6.852.95"/>
          <p:cNvSpPr/>
          <p:nvPr/>
        </p:nvSpPr>
        <p:spPr>
          <a:xfrm>
            <a:off x="6263640" y="2697480"/>
            <a:ext cx="5349240" cy="1920240"/>
          </a:xfrm>
          <a:prstGeom prst="roundRect">
            <a:avLst>
              <a:gd name="adj" fmla="val 3810"/>
            </a:avLst>
          </a:prstGeom>
          <a:solidFill>
            <a:schemeClr val="bg2"/>
          </a:solidFill>
          <a:ln w="9525">
            <a:solidFill>
              <a:srgbClr val="DDE5EC"/>
            </a:solidFill>
            <a:prstDash val="solid"/>
          </a:ln>
        </p:spPr>
      </p:sp>
      <p:sp>
        <p:nvSpPr>
          <p:cNvPr id="17" name="Text 15"/>
          <p:cNvSpPr txBox="1"/>
          <p:nvPr/>
        </p:nvSpPr>
        <p:spPr>
          <a:xfrm>
            <a:off x="6537960" y="2852928"/>
            <a:ext cx="4800600" cy="274320"/>
          </a:xfrm>
          <a:prstGeom prst="rect">
            <a:avLst/>
          </a:prstGeom>
          <a:noFill/>
          <a:ln/>
        </p:spPr>
        <p:txBody>
          <a:bodyPr wrap="square" lIns="0" tIns="0" rIns="0" bIns="0" rtlCol="0" anchor="ctr"/>
          <a:lstStyle/>
          <a:p>
            <a:pPr indent="0" marL="0">
              <a:buNone/>
            </a:pPr>
            <a:r>
              <a:rPr lang="en-US" sz="1250" b="1" dirty="0">
                <a:solidFill>
                  <a:schemeClr val="tx1"/>
                </a:solidFill>
              </a:rPr>
              <a:t>Boundaries derived, then verified</a:t>
            </a:r>
            <a:endParaRPr lang="en-US" sz="1250" dirty="0"/>
          </a:p>
        </p:txBody>
      </p:sp>
      <p:sp>
        <p:nvSpPr>
          <p:cNvPr id="18" name="Text 16"/>
          <p:cNvSpPr txBox="1"/>
          <p:nvPr/>
        </p:nvSpPr>
        <p:spPr>
          <a:xfrm>
            <a:off x="6537960" y="3127248"/>
            <a:ext cx="4800600" cy="914400"/>
          </a:xfrm>
          <a:prstGeom prst="rect">
            <a:avLst/>
          </a:prstGeom>
          <a:noFill/>
          <a:ln/>
        </p:spPr>
        <p:txBody>
          <a:bodyPr wrap="square" lIns="0" tIns="0" rIns="0" bIns="0" rtlCol="0" anchor="ctr"/>
          <a:lstStyle/>
          <a:p>
            <a:pPr indent="0" marL="0">
              <a:buNone/>
            </a:pPr>
            <a:r>
              <a:rPr lang="en-US" sz="980" dirty="0">
                <a:solidFill>
                  <a:srgbClr val="000000"/>
                </a:solidFill>
                <a:latin typeface="Courier New" pitchFamily="34" charset="0"/>
                <a:ea typeface="Courier New" pitchFamily="34" charset="-122"/>
                <a:cs typeface="Courier New" pitchFamily="34" charset="-120"/>
              </a:rPr>
              <a:t>AUTO vs HUMAN     p* = 1 − C_h/C_w
</a:t>
            </a:r>
            <a:endParaRPr lang="en-US" sz="980" dirty="0"/>
          </a:p>
          <a:p>
            <a:pPr indent="0" marL="0">
              <a:buNone/>
            </a:pPr>
            <a:r>
              <a:rPr lang="en-US" sz="980" dirty="0">
                <a:solidFill>
                  <a:srgbClr val="000000"/>
                </a:solidFill>
                <a:latin typeface="Courier New" pitchFamily="34" charset="0"/>
                <a:ea typeface="Courier New" pitchFamily="34" charset="-122"/>
                <a:cs typeface="Courier New" pitchFamily="34" charset="-120"/>
              </a:rPr>
              <a:t>HUMAN vs ABSTAIN  q* = C_h/C_a
</a:t>
            </a:r>
            <a:endParaRPr lang="en-US" sz="980" dirty="0"/>
          </a:p>
          <a:p>
            <a:pPr indent="0" marL="0">
              <a:buNone/>
            </a:pPr>
            <a:r>
              <a:rPr lang="en-US" sz="980" dirty="0">
                <a:solidFill>
                  <a:srgbClr val="000000"/>
                </a:solidFill>
                <a:latin typeface="Courier New" pitchFamily="34" charset="0"/>
                <a:ea typeface="Courier New" pitchFamily="34" charset="-122"/>
                <a:cs typeface="Courier New" pitchFamily="34" charset="-120"/>
              </a:rPr>
              <a:t>AUTO vs ABSTAIN   p = 1 − q·C_a/C_w</a:t>
            </a:r>
            <a:endParaRPr lang="en-US" sz="980" dirty="0"/>
          </a:p>
        </p:txBody>
      </p:sp>
      <p:sp>
        <p:nvSpPr>
          <p:cNvPr id="19" name="Text 17"/>
          <p:cNvSpPr txBox="1"/>
          <p:nvPr/>
        </p:nvSpPr>
        <p:spPr>
          <a:xfrm>
            <a:off x="6537960" y="4023360"/>
            <a:ext cx="4800600" cy="457200"/>
          </a:xfrm>
          <a:prstGeom prst="rect">
            <a:avLst/>
          </a:prstGeom>
          <a:noFill/>
          <a:ln/>
        </p:spPr>
        <p:txBody>
          <a:bodyPr wrap="square" lIns="0" tIns="0" rIns="0" bIns="0" rtlCol="0" anchor="ctr"/>
          <a:lstStyle/>
          <a:p>
            <a:pPr indent="0" marL="0">
              <a:buNone/>
            </a:pPr>
            <a:r>
              <a:rPr lang="en-US" sz="1050" i="1" dirty="0">
                <a:solidFill>
                  <a:schemeClr val="accent3"/>
                </a:solidFill>
              </a:rPr>
              <a:t>Checked against the implementation on a 201×201 grid per dataset: 0 mismatches out of 40,401 each.</a:t>
            </a:r>
            <a:endParaRPr lang="en-US" sz="1050" dirty="0"/>
          </a:p>
        </p:txBody>
      </p:sp>
      <p:sp>
        <p:nvSpPr>
          <p:cNvPr id="20" name="k0.75.2"/>
          <p:cNvSpPr/>
          <p:nvPr/>
        </p:nvSpPr>
        <p:spPr>
          <a:xfrm>
            <a:off x="640080" y="4754880"/>
            <a:ext cx="10972800" cy="960120"/>
          </a:xfrm>
          <a:prstGeom prst="roundRect">
            <a:avLst>
              <a:gd name="adj" fmla="val 7619"/>
            </a:avLst>
          </a:prstGeom>
          <a:solidFill>
            <a:srgbClr val="FBECEC"/>
          </a:solidFill>
          <a:ln w="12700">
            <a:solidFill>
              <a:schemeClr val="accent5"/>
            </a:solidFill>
            <a:prstDash val="solid"/>
          </a:ln>
        </p:spPr>
      </p:sp>
      <p:sp>
        <p:nvSpPr>
          <p:cNvPr id="21" name="Text 19"/>
          <p:cNvSpPr txBox="1"/>
          <p:nvPr/>
        </p:nvSpPr>
        <p:spPr>
          <a:xfrm>
            <a:off x="914400" y="4892040"/>
            <a:ext cx="10424160" cy="777240"/>
          </a:xfrm>
          <a:prstGeom prst="rect">
            <a:avLst/>
          </a:prstGeom>
          <a:noFill/>
          <a:ln/>
        </p:spPr>
        <p:txBody>
          <a:bodyPr wrap="square" lIns="0" tIns="0" rIns="0" bIns="0" rtlCol="0" anchor="ctr"/>
          <a:lstStyle/>
          <a:p>
            <a:pPr indent="0" marL="0">
              <a:buNone/>
            </a:pPr>
            <a:r>
              <a:rPr lang="en-US" sz="1200" b="1" dirty="0">
                <a:solidFill>
                  <a:srgbClr val="8C2B22"/>
                </a:solidFill>
              </a:rPr>
              <a:t>Limitation we state openly.  </a:t>
            </a:r>
            <a:pPr indent="0" marL="0">
              <a:buNone/>
            </a:pPr>
            <a:r>
              <a:rPr lang="en-US" sz="1150" dirty="0">
                <a:solidFill>
                  <a:srgbClr val="6E241D"/>
                </a:solidFill>
              </a:rPr>
              <a:t>q* is a horizontal boundary, so for a single cell with fixed q one of HUMAN/ABSTAIN is unreachable — both are constant in p and never cross. The mechanism changes WHICH of the two is live, per cell, on evidence. “All three actions reachable” is a claim about the population, not every cell.</a:t>
            </a:r>
            <a:endParaRPr lang="en-US" sz="1200" dirty="0"/>
          </a:p>
        </p:txBody>
      </p:sp>
      <p:sp>
        <p:nvSpPr>
          <p:cNvPr id="22"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10515600" cy="1097280"/>
          </a:xfrm>
          <a:prstGeom prst="rect">
            <a:avLst/>
          </a:prstGeom>
          <a:noFill/>
          <a:ln/>
        </p:spPr>
        <p:txBody>
          <a:bodyPr wrap="square" rtlCol="0"/>
          <a:lstStyle/>
          <a:p>
            <a:pPr indent="0" marL="0">
              <a:buNone/>
            </a:pPr>
            <a:r>
              <a:rPr lang="en-US" sz="3600" b="1" dirty="0">
                <a:solidFill>
                  <a:schemeClr val="bg1"/>
                </a:solidFill>
              </a:rPr>
              <a:t>Part II — results</a:t>
            </a:r>
            <a:endParaRPr lang="en-US" sz="3600" dirty="0"/>
          </a:p>
        </p:txBody>
      </p:sp>
      <p:sp>
        <p:nvSpPr>
          <p:cNvPr id="3" name="Text 0"/>
          <p:cNvSpPr/>
          <p:nvPr>
            <p:ph idx="101" type="body" hasCustomPrompt="1"/>
          </p:nvPr>
        </p:nvSpPr>
        <p:spPr>
          <a:xfrm>
            <a:off x="822960" y="3840480"/>
            <a:ext cx="10515600" cy="1097280"/>
          </a:xfrm>
          <a:prstGeom prst="rect">
            <a:avLst/>
          </a:prstGeom>
          <a:noFill/>
          <a:ln/>
        </p:spPr>
        <p:txBody>
          <a:bodyPr wrap="square" rtlCol="0"/>
          <a:lstStyle/>
          <a:p>
            <a:pPr indent="0" marL="0">
              <a:buNone/>
            </a:pPr>
            <a:r>
              <a:rPr lang="en-US" sz="1500" dirty="0">
                <a:solidFill>
                  <a:srgbClr val="D6E6EF"/>
                </a:solidFill>
              </a:rPr>
              <a:t>Full datasets, 20 repeated calibration splits, bootstrap confidence intervals, fixed seed 42. One command regenerates every figure.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Main result: no fixed rule works everywhere</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143000"/>
          <a:ext cx="10972800" cy="914400"/>
        </p:xfrm>
        <a:graphic>
          <a:graphicData uri="http://schemas.openxmlformats.org/drawingml/2006/table">
            <a:tbl>
              <a:tblPr/>
              <a:tblGrid>
                <a:gridCol w="2194560"/>
                <a:gridCol w="2194560"/>
                <a:gridCol w="2194560"/>
                <a:gridCol w="2194560"/>
                <a:gridCol w="2194560"/>
              </a:tblGrid>
              <a:tr h="310896">
                <a:tc>
                  <a:txBody>
                    <a:bodyPr/>
                    <a:lstStyle/>
                    <a:p>
                      <a:pPr indent="0" marL="0">
                        <a:buNone/>
                      </a:pPr>
                      <a:r>
                        <a:rPr lang="en-US" sz="1150" b="1" dirty="0">
                          <a:solidFill>
                            <a:srgbClr val="FFFFFF"/>
                          </a:solidFill>
                        </a:rPr>
                        <a:t>Decision policy</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50" b="1" dirty="0">
                          <a:solidFill>
                            <a:srgbClr val="FFFFFF"/>
                          </a:solidFill>
                        </a:rPr>
                        <a:t>Adult</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50" b="1" dirty="0">
                          <a:solidFill>
                            <a:srgbClr val="FFFFFF"/>
                          </a:solidFill>
                        </a:rPr>
                        <a:t>Breast Cancer</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50" b="1" dirty="0">
                          <a:solidFill>
                            <a:srgbClr val="FFFFFF"/>
                          </a:solidFill>
                        </a:rPr>
                        <a:t>Smart Factory</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50" b="1" dirty="0">
                          <a:solidFill>
                            <a:srgbClr val="FFFFFF"/>
                          </a:solidFill>
                        </a:rPr>
                        <a:t>Worst-case regret</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r>
              <a:tr h="310896">
                <a:tc>
                  <a:txBody>
                    <a:bodyPr/>
                    <a:lstStyle/>
                    <a:p>
                      <a:pPr indent="0" marL="0">
                        <a:buNone/>
                      </a:pPr>
                      <a:r>
                        <a:rPr lang="en-US" sz="1150" b="1" dirty="0">
                          <a:solidFill>
                            <a:schemeClr val="tx1"/>
                          </a:solidFill>
                        </a:rPr>
                        <a:t>Proposed (calibrated + cost-aware)</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EDE4F5"/>
                    </a:solidFill>
                  </a:tcPr>
                </a:tc>
                <a:tc>
                  <a:txBody>
                    <a:bodyPr/>
                    <a:lstStyle/>
                    <a:p>
                      <a:pPr algn="r" indent="0" marL="0">
                        <a:buNone/>
                      </a:pPr>
                      <a:r>
                        <a:rPr lang="en-US" sz="1150" b="1" dirty="0">
                          <a:solidFill>
                            <a:schemeClr val="tx1"/>
                          </a:solidFill>
                        </a:rPr>
                        <a:t>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EDE4F5"/>
                    </a:solidFill>
                  </a:tcPr>
                </a:tc>
                <a:tc>
                  <a:txBody>
                    <a:bodyPr/>
                    <a:lstStyle/>
                    <a:p>
                      <a:pPr algn="r" indent="0" marL="0">
                        <a:buNone/>
                      </a:pPr>
                      <a:r>
                        <a:rPr lang="en-US" sz="1150" b="1" dirty="0">
                          <a:solidFill>
                            <a:schemeClr val="tx1"/>
                          </a:solidFill>
                        </a:rPr>
                        <a:t>1,615</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EDE4F5"/>
                    </a:solidFill>
                  </a:tcPr>
                </a:tc>
                <a:tc>
                  <a:txBody>
                    <a:bodyPr/>
                    <a:lstStyle/>
                    <a:p>
                      <a:pPr algn="r" indent="0" marL="0">
                        <a:buNone/>
                      </a:pPr>
                      <a:r>
                        <a:rPr lang="en-US" sz="1150" b="1" dirty="0">
                          <a:solidFill>
                            <a:schemeClr val="tx1"/>
                          </a:solidFill>
                        </a:rPr>
                        <a:t>14,186</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EDE4F5"/>
                    </a:solidFill>
                  </a:tcPr>
                </a:tc>
                <a:tc>
                  <a:txBody>
                    <a:bodyPr/>
                    <a:lstStyle/>
                    <a:p>
                      <a:pPr algn="r" indent="0" marL="0">
                        <a:buNone/>
                      </a:pPr>
                      <a:r>
                        <a:rPr lang="en-US" sz="1150" b="1" dirty="0">
                          <a:solidFill>
                            <a:srgbClr val="6B2E8F"/>
                          </a:solidFill>
                        </a:rPr>
                        <a:t>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EDE4F5"/>
                    </a:solidFill>
                  </a:tcPr>
                </a:tc>
              </a:tr>
              <a:tr h="310896">
                <a:tc>
                  <a:txBody>
                    <a:bodyPr/>
                    <a:lstStyle/>
                    <a:p>
                      <a:pPr indent="0" marL="0">
                        <a:buNone/>
                      </a:pPr>
                      <a:r>
                        <a:rPr lang="en-US" sz="1150" dirty="0">
                          <a:solidFill>
                            <a:schemeClr val="tx1"/>
                          </a:solidFill>
                        </a:rPr>
                        <a:t>Always human review</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11,658</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1,775</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14,186</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11,658</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50" dirty="0">
                          <a:solidFill>
                            <a:schemeClr val="tx1"/>
                          </a:solidFill>
                        </a:rPr>
                        <a:t>Raw confidence ≥ 0.70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11,658</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1,720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14,186</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11,658</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50" dirty="0">
                          <a:solidFill>
                            <a:schemeClr val="tx1"/>
                          </a:solidFill>
                        </a:rPr>
                        <a:t>Always abstain</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3,550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35,465</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21,279</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50" dirty="0">
                          <a:solidFill>
                            <a:schemeClr val="tx1"/>
                          </a:solidFill>
                        </a:rPr>
                        <a:t>Always auto-repair</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58,290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5,800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126,275</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112,089</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bl>
          </a:graphicData>
        </a:graphic>
      </p:graphicFrame>
      <p:sp>
        <p:nvSpPr>
          <p:cNvPr id="4" name="Text 1"/>
          <p:cNvSpPr txBox="1"/>
          <p:nvPr/>
        </p:nvSpPr>
        <p:spPr>
          <a:xfrm>
            <a:off x="640080" y="3291840"/>
            <a:ext cx="10972800" cy="320040"/>
          </a:xfrm>
          <a:prstGeom prst="rect">
            <a:avLst/>
          </a:prstGeom>
          <a:noFill/>
          <a:ln/>
        </p:spPr>
        <p:txBody>
          <a:bodyPr wrap="square" rtlCol="0" anchor="ctr"/>
          <a:lstStyle/>
          <a:p>
            <a:pPr indent="0" marL="0">
              <a:buNone/>
            </a:pPr>
            <a:r>
              <a:rPr lang="en-US" sz="1100" i="1" dirty="0">
                <a:solidFill>
                  <a:schemeClr val="accent3"/>
                </a:solidFill>
              </a:rPr>
              <a:t>Regret = how much worse than the best policy for that dataset. Costs are abstract experimental penalty units, never monetary.</a:t>
            </a:r>
            <a:endParaRPr lang="en-US" sz="1100" dirty="0"/>
          </a:p>
        </p:txBody>
      </p:sp>
      <p:sp>
        <p:nvSpPr>
          <p:cNvPr id="5" name="k0.74.05"/>
          <p:cNvSpPr/>
          <p:nvPr/>
        </p:nvSpPr>
        <p:spPr>
          <a:xfrm>
            <a:off x="640080" y="3703320"/>
            <a:ext cx="5349240" cy="2011680"/>
          </a:xfrm>
          <a:prstGeom prst="roundRect">
            <a:avLst>
              <a:gd name="adj" fmla="val 3636"/>
            </a:avLst>
          </a:prstGeom>
          <a:solidFill>
            <a:srgbClr val="F4EEFA"/>
          </a:solidFill>
          <a:ln w="12700">
            <a:solidFill>
              <a:schemeClr val="accent4"/>
            </a:solidFill>
            <a:prstDash val="solid"/>
          </a:ln>
        </p:spPr>
      </p:sp>
      <p:sp>
        <p:nvSpPr>
          <p:cNvPr id="6" name="Text 3"/>
          <p:cNvSpPr txBox="1"/>
          <p:nvPr/>
        </p:nvSpPr>
        <p:spPr>
          <a:xfrm>
            <a:off x="914400" y="3858768"/>
            <a:ext cx="4800600" cy="292608"/>
          </a:xfrm>
          <a:prstGeom prst="rect">
            <a:avLst/>
          </a:prstGeom>
          <a:noFill/>
          <a:ln/>
        </p:spPr>
        <p:txBody>
          <a:bodyPr wrap="square" lIns="0" tIns="0" rIns="0" bIns="0" rtlCol="0" anchor="ctr"/>
          <a:lstStyle/>
          <a:p>
            <a:pPr indent="0" marL="0">
              <a:buNone/>
            </a:pPr>
            <a:r>
              <a:rPr lang="en-US" sz="1350" b="1" dirty="0">
                <a:solidFill>
                  <a:srgbClr val="4A2060"/>
                </a:solidFill>
              </a:rPr>
              <a:t>Zero worst-case regret</a:t>
            </a:r>
            <a:endParaRPr lang="en-US" sz="1350" dirty="0"/>
          </a:p>
        </p:txBody>
      </p:sp>
      <p:sp>
        <p:nvSpPr>
          <p:cNvPr id="7" name="Text 4"/>
          <p:cNvSpPr txBox="1"/>
          <p:nvPr/>
        </p:nvSpPr>
        <p:spPr>
          <a:xfrm>
            <a:off x="914400" y="4206240"/>
            <a:ext cx="4800600" cy="1371600"/>
          </a:xfrm>
          <a:prstGeom prst="rect">
            <a:avLst/>
          </a:prstGeom>
          <a:noFill/>
          <a:ln/>
        </p:spPr>
        <p:txBody>
          <a:bodyPr wrap="square" lIns="0" tIns="0" rIns="0" bIns="0" rtlCol="0" anchor="ctr"/>
          <a:lstStyle/>
          <a:p>
            <a:pPr indent="0" marL="0">
              <a:buNone/>
            </a:pPr>
            <a:r>
              <a:rPr lang="en-US" sz="1150" dirty="0">
                <a:solidFill>
                  <a:srgbClr val="4A2060"/>
                </a:solidFill>
              </a:rPr>
              <a:t>The proposed policy attains the best cost on every dataset, so its worst-case regret is zero. No fixed rule manages that — each is fine somewhere and badly beaten elsewhere.</a:t>
            </a:r>
            <a:endParaRPr lang="en-US" sz="1150" dirty="0"/>
          </a:p>
        </p:txBody>
      </p:sp>
      <p:sp>
        <p:nvSpPr>
          <p:cNvPr id="8" name="k6.854.05"/>
          <p:cNvSpPr/>
          <p:nvPr/>
        </p:nvSpPr>
        <p:spPr>
          <a:xfrm>
            <a:off x="6263640" y="3703320"/>
            <a:ext cx="5349240" cy="2011680"/>
          </a:xfrm>
          <a:prstGeom prst="roundRect">
            <a:avLst>
              <a:gd name="adj" fmla="val 3636"/>
            </a:avLst>
          </a:prstGeom>
          <a:solidFill>
            <a:srgbClr val="FDF3E3"/>
          </a:solidFill>
          <a:ln w="12700">
            <a:solidFill>
              <a:schemeClr val="accent2"/>
            </a:solidFill>
            <a:prstDash val="solid"/>
          </a:ln>
        </p:spPr>
      </p:sp>
      <p:sp>
        <p:nvSpPr>
          <p:cNvPr id="9" name="Text 6"/>
          <p:cNvSpPr txBox="1"/>
          <p:nvPr/>
        </p:nvSpPr>
        <p:spPr>
          <a:xfrm>
            <a:off x="6537960" y="3858768"/>
            <a:ext cx="4800600" cy="292608"/>
          </a:xfrm>
          <a:prstGeom prst="rect">
            <a:avLst/>
          </a:prstGeom>
          <a:noFill/>
          <a:ln/>
        </p:spPr>
        <p:txBody>
          <a:bodyPr wrap="square" lIns="0" tIns="0" rIns="0" bIns="0" rtlCol="0" anchor="ctr"/>
          <a:lstStyle/>
          <a:p>
            <a:pPr indent="0" marL="0">
              <a:buNone/>
            </a:pPr>
            <a:r>
              <a:rPr lang="en-US" sz="1350" b="1" dirty="0">
                <a:solidFill>
                  <a:srgbClr val="8A5A08"/>
                </a:solidFill>
              </a:rPr>
              <a:t>But: wins versus ties</a:t>
            </a:r>
            <a:endParaRPr lang="en-US" sz="1350" dirty="0"/>
          </a:p>
        </p:txBody>
      </p:sp>
      <p:sp>
        <p:nvSpPr>
          <p:cNvPr id="10" name="Text 7"/>
          <p:cNvSpPr txBox="1"/>
          <p:nvPr/>
        </p:nvSpPr>
        <p:spPr>
          <a:xfrm>
            <a:off x="6537960" y="4206240"/>
            <a:ext cx="4800600" cy="1371600"/>
          </a:xfrm>
          <a:prstGeom prst="rect">
            <a:avLst/>
          </a:prstGeom>
          <a:noFill/>
          <a:ln/>
        </p:spPr>
        <p:txBody>
          <a:bodyPr wrap="square" lIns="0" tIns="0" rIns="0" bIns="0" rtlCol="0" anchor="ctr"/>
          <a:lstStyle/>
          <a:p>
            <a:pPr indent="0" marL="0">
              <a:buNone/>
            </a:pPr>
            <a:r>
              <a:rPr lang="en-US" sz="1150" dirty="0">
                <a:solidFill>
                  <a:srgbClr val="5F4206"/>
                </a:solidFill>
              </a:rPr>
              <a:t>Breast Cancer is an outright win. Adult TIES always-abstain at 0. Smart Factory TIES always-human. Reported as ties, not presented as wins.</a:t>
            </a:r>
            <a:endParaRPr lang="en-US" sz="1150" dirty="0"/>
          </a:p>
        </p:txBody>
      </p:sp>
      <p:sp>
        <p:nvSpPr>
          <p:cNvPr id="12"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Calibration quality, with confidence intervals</a:t>
            </a:r>
            <a:endParaRPr lang="en-US" sz="2800" dirty="0"/>
          </a:p>
        </p:txBody>
      </p:sp>
      <p:graphicFrame>
        <p:nvGraphicFramePr>
          <p:cNvPr id="3" name="Chart 0" descr=""/>
          <p:cNvGraphicFramePr/>
          <p:nvPr/>
        </p:nvGraphicFramePr>
        <p:xfrm>
          <a:off x="502920" y="1143000"/>
          <a:ext cx="5715000" cy="3566160"/>
        </p:xfrm>
        <a:graphic xmlns:a="http://schemas.openxmlformats.org/drawingml/2006/main">
          <a:graphicData uri="http://schemas.openxmlformats.org/drawingml/2006/chart">
            <c:chart xmlns:c="http://schemas.openxmlformats.org/drawingml/2006/chart" r:id="rId1"/>
          </a:graphicData>
        </a:graphic>
      </p:graphicFrame>
      <p:sp>
        <p:nvSpPr>
          <p:cNvPr id="4" name="k71.25"/>
          <p:cNvSpPr/>
          <p:nvPr/>
        </p:nvSpPr>
        <p:spPr>
          <a:xfrm>
            <a:off x="6400800" y="1143000"/>
            <a:ext cx="5212080" cy="3886200"/>
          </a:xfrm>
          <a:prstGeom prst="roundRect">
            <a:avLst>
              <a:gd name="adj" fmla="val 1882"/>
            </a:avLst>
          </a:prstGeom>
          <a:solidFill>
            <a:schemeClr val="bg2"/>
          </a:solidFill>
          <a:ln w="9525">
            <a:solidFill>
              <a:srgbClr val="DDE5EC"/>
            </a:solidFill>
            <a:prstDash val="solid"/>
          </a:ln>
        </p:spPr>
      </p:sp>
      <p:sp>
        <p:nvSpPr>
          <p:cNvPr id="5" name="Text 2"/>
          <p:cNvSpPr txBox="1"/>
          <p:nvPr/>
        </p:nvSpPr>
        <p:spPr>
          <a:xfrm>
            <a:off x="6675120" y="1298448"/>
            <a:ext cx="4663440" cy="292608"/>
          </a:xfrm>
          <a:prstGeom prst="rect">
            <a:avLst/>
          </a:prstGeom>
          <a:noFill/>
          <a:ln/>
        </p:spPr>
        <p:txBody>
          <a:bodyPr wrap="square" lIns="0" tIns="0" rIns="0" bIns="0" rtlCol="0" anchor="ctr"/>
          <a:lstStyle/>
          <a:p>
            <a:pPr indent="0" marL="0">
              <a:buNone/>
            </a:pPr>
            <a:r>
              <a:rPr lang="en-US" sz="1250" b="1" dirty="0">
                <a:solidFill>
                  <a:schemeClr val="tx1"/>
                </a:solidFill>
              </a:rPr>
              <a:t>What survives resampling</a:t>
            </a:r>
            <a:endParaRPr lang="en-US" sz="1250" dirty="0"/>
          </a:p>
        </p:txBody>
      </p:sp>
      <p:sp>
        <p:nvSpPr>
          <p:cNvPr id="6" name="Text 3"/>
          <p:cNvSpPr txBox="1"/>
          <p:nvPr/>
        </p:nvSpPr>
        <p:spPr>
          <a:xfrm>
            <a:off x="6675120" y="1609344"/>
            <a:ext cx="4709160" cy="3337560"/>
          </a:xfrm>
          <a:prstGeom prst="rect">
            <a:avLst/>
          </a:prstGeom>
          <a:noFill/>
          <a:ln/>
        </p:spPr>
        <p:txBody>
          <a:bodyPr wrap="square" lIns="0" tIns="0" rIns="0" bIns="0" rtlCol="0" anchor="ctr"/>
          <a:lstStyle/>
          <a:p>
            <a:pPr indent="0" marL="0">
              <a:buNone/>
            </a:pPr>
            <a:r>
              <a:rPr lang="en-US" sz="930" b="1" dirty="0">
                <a:solidFill>
                  <a:srgbClr val="1E7A47"/>
                </a:solidFill>
              </a:rPr>
              <a:t>✔  Isotonic beats raw
</a:t>
            </a:r>
            <a:endParaRPr lang="en-US" sz="930" dirty="0"/>
          </a:p>
          <a:p>
            <a:pPr indent="0" marL="0">
              <a:buNone/>
            </a:pPr>
            <a:r>
              <a:rPr lang="en-US" sz="930" dirty="0">
                <a:solidFill>
                  <a:schemeClr val="accent3"/>
                </a:solidFill>
              </a:rPr>
              <a:t>0.1842 vs 0.1982 — intervals do not overlap on either fittable dataset.
</a:t>
            </a:r>
            <a:endParaRPr lang="en-US" sz="930" dirty="0"/>
          </a:p>
          <a:p>
            <a:pPr indent="0" marL="0">
              <a:buNone/>
            </a:pPr>
            <a:r>
              <a:rPr lang="en-US" sz="930" b="1" dirty="0">
                <a:solidFill>
                  <a:srgbClr val="9E3B30"/>
                </a:solidFill>
              </a:rPr>
              <a:t>✘  Logistic vs raw is noise
</a:t>
            </a:r>
            <a:endParaRPr lang="en-US" sz="930" dirty="0"/>
          </a:p>
          <a:p>
            <a:pPr indent="0" marL="0">
              <a:buNone/>
            </a:pPr>
            <a:r>
              <a:rPr lang="en-US" sz="930" dirty="0">
                <a:solidFill>
                  <a:schemeClr val="accent3"/>
                </a:solidFill>
              </a:rPr>
              <a:t>0.1979 vs 0.1982. We had quoted this as an improvement from a single split. Twenty splits killed it.
</a:t>
            </a:r>
            <a:endParaRPr lang="en-US" sz="930" dirty="0"/>
          </a:p>
          <a:p>
            <a:pPr indent="0" marL="0">
              <a:buNone/>
            </a:pPr>
            <a:r>
              <a:rPr lang="en-US" sz="930" b="1" dirty="0">
                <a:solidFill>
                  <a:srgbClr val="9E3B30"/>
                </a:solidFill>
              </a:rPr>
              <a:t>✘  Our multivariate calibrator fails
</a:t>
            </a:r>
            <a:endParaRPr lang="en-US" sz="930" dirty="0"/>
          </a:p>
          <a:p>
            <a:pPr indent="0" marL="0">
              <a:buNone/>
            </a:pPr>
            <a:r>
              <a:rPr lang="en-US" sz="930" dirty="0">
                <a:solidFill>
                  <a:schemeClr val="accent3"/>
                </a:solidFill>
              </a:rPr>
              <a:t>Indistinguishable from raw here, and worse than isotonic on Smart Factory. A failed ablation, not a contribution.
</a:t>
            </a:r>
            <a:endParaRPr lang="en-US" sz="930" dirty="0"/>
          </a:p>
          <a:p>
            <a:pPr indent="0" marL="0">
              <a:buNone/>
            </a:pPr>
            <a:r>
              <a:rPr lang="en-US" sz="930" b="1" dirty="0">
                <a:solidFill>
                  <a:srgbClr val="9E3B30"/>
                </a:solidFill>
              </a:rPr>
              <a:t>✘  Adult cannot be calibrated
</a:t>
            </a:r>
            <a:endParaRPr lang="en-US" sz="930" dirty="0"/>
          </a:p>
          <a:p>
            <a:pPr indent="0" marL="0">
              <a:buNone/>
            </a:pPr>
            <a:r>
              <a:rPr lang="en-US" sz="930" dirty="0">
                <a:solidFill>
                  <a:schemeClr val="accent3"/>
                </a:solidFill>
              </a:rPr>
              <a:t>0 of 20 splits fitted. Printed “—”, never a number.</a:t>
            </a:r>
            <a:endParaRPr lang="en-US" sz="930" dirty="0"/>
          </a:p>
        </p:txBody>
      </p:sp>
      <p:sp>
        <p:nvSpPr>
          <p:cNvPr id="7" name="Text 4"/>
          <p:cNvSpPr txBox="1"/>
          <p:nvPr/>
        </p:nvSpPr>
        <p:spPr>
          <a:xfrm>
            <a:off x="640080" y="5852160"/>
            <a:ext cx="10972800" cy="411480"/>
          </a:xfrm>
          <a:prstGeom prst="rect">
            <a:avLst/>
          </a:prstGeom>
          <a:noFill/>
          <a:ln/>
        </p:spPr>
        <p:txBody>
          <a:bodyPr wrap="square" rtlCol="0" anchor="ctr"/>
          <a:lstStyle/>
          <a:p>
            <a:pPr indent="0" marL="0">
              <a:buNone/>
            </a:pPr>
            <a:r>
              <a:rPr lang="en-US" sz="1050" i="1" dirty="0">
                <a:solidFill>
                  <a:schemeClr val="accent3"/>
                </a:solidFill>
              </a:rPr>
              <a:t>Moving from one split to twenty with bootstrap intervals invalidated two claims we had been making. That is precisely why it was done.</a:t>
            </a:r>
            <a:endParaRPr lang="en-US" sz="1050" dirty="0"/>
          </a:p>
        </p:txBody>
      </p:sp>
      <p:sp>
        <p:nvSpPr>
          <p:cNvPr id="8"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Phase 12: a real LLM vs the rule-based repairer</a:t>
            </a:r>
            <a:endParaRPr lang="en-US" sz="2800" dirty="0"/>
          </a:p>
        </p:txBody>
      </p:sp>
      <p:sp>
        <p:nvSpPr>
          <p:cNvPr id="3" name="Text 1"/>
          <p:cNvSpPr txBox="1"/>
          <p:nvPr/>
        </p:nvSpPr>
        <p:spPr>
          <a:xfrm>
            <a:off x="640080" y="1097280"/>
            <a:ext cx="10972800" cy="320040"/>
          </a:xfrm>
          <a:prstGeom prst="rect">
            <a:avLst/>
          </a:prstGeom>
          <a:noFill/>
          <a:ln/>
        </p:spPr>
        <p:txBody>
          <a:bodyPr wrap="square" rtlCol="0" anchor="ctr"/>
          <a:lstStyle/>
          <a:p>
            <a:pPr indent="0" marL="0">
              <a:buNone/>
            </a:pPr>
            <a:r>
              <a:rPr lang="en-US" sz="1200" dirty="0">
                <a:solidFill>
                  <a:schemeClr val="accent3"/>
                </a:solidFill>
              </a:rPr>
              <a:t>392 live API calls on Breast Cancer · GPT-OSS-120B via Groq · 0.5 % fallback rate · cached and reproducible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5577840" cy="914400"/>
        </p:xfrm>
        <a:graphic>
          <a:graphicData uri="http://schemas.openxmlformats.org/drawingml/2006/table">
            <a:tbl>
              <a:tblPr/>
              <a:tblGrid>
                <a:gridCol w="1859280"/>
                <a:gridCol w="1859280"/>
                <a:gridCol w="1859280"/>
              </a:tblGrid>
              <a:tr h="310896">
                <a:tc>
                  <a:txBody>
                    <a:bodyPr/>
                    <a:lstStyle/>
                    <a:p>
                      <a:pPr indent="0" marL="0">
                        <a:buNone/>
                      </a:pPr>
                      <a:r>
                        <a:rPr lang="en-US" sz="1150" b="1" dirty="0">
                          <a:solidFill>
                            <a:srgbClr val="FFFFFF"/>
                          </a:solidFill>
                        </a:rPr>
                        <a:t>Measure</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50" b="1" dirty="0">
                          <a:solidFill>
                            <a:srgbClr val="FFFFFF"/>
                          </a:solidFill>
                        </a:rPr>
                        <a:t>Rule-based</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50" b="1" dirty="0">
                          <a:solidFill>
                            <a:srgbClr val="FFFFFF"/>
                          </a:solidFill>
                        </a:rPr>
                        <a:t>Real LLM</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r>
              <a:tr h="310896">
                <a:tc>
                  <a:txBody>
                    <a:bodyPr/>
                    <a:lstStyle/>
                    <a:p>
                      <a:pPr indent="0" marL="0">
                        <a:buNone/>
                      </a:pPr>
                      <a:r>
                        <a:rPr lang="en-US" sz="1150" dirty="0">
                          <a:solidFill>
                            <a:schemeClr val="tx1"/>
                          </a:solidFill>
                        </a:rPr>
                        <a:t>Top-1 repair accuracy</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67.3 %</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b="1" dirty="0">
                          <a:solidFill>
                            <a:srgbClr val="1E7A47"/>
                          </a:solidFill>
                        </a:rPr>
                        <a:t>71.0 %</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50" dirty="0">
                          <a:solidFill>
                            <a:schemeClr val="tx1"/>
                          </a:solidFill>
                        </a:rPr>
                        <a:t>Proposed policy cost</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b="1" dirty="0">
                          <a:solidFill>
                            <a:srgbClr val="1E7A47"/>
                          </a:solidFill>
                        </a:rPr>
                        <a:t>1,615</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1,670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50" dirty="0">
                          <a:solidFill>
                            <a:schemeClr val="tx1"/>
                          </a:solidFill>
                        </a:rPr>
                        <a:t>Best simple baseline</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1,720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b="1" dirty="0">
                          <a:solidFill>
                            <a:schemeClr val="tx1"/>
                          </a:solidFill>
                        </a:rPr>
                        <a:t>1,620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50" b="1" dirty="0">
                          <a:solidFill>
                            <a:schemeClr val="tx1"/>
                          </a:solidFill>
                        </a:rPr>
                        <a:t>Verdict</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b="1" dirty="0">
                          <a:solidFill>
                            <a:schemeClr val="tx1"/>
                          </a:solidFill>
                        </a:rPr>
                        <a:t>proposed wins</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b="1" dirty="0">
                          <a:solidFill>
                            <a:srgbClr val="C0392B"/>
                          </a:solidFill>
                        </a:rPr>
                        <a:t>proposed LOSES by 50</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bl>
          </a:graphicData>
        </a:graphic>
      </p:graphicFrame>
      <p:sp>
        <p:nvSpPr>
          <p:cNvPr id="5" name="k7.11.7"/>
          <p:cNvSpPr/>
          <p:nvPr/>
        </p:nvSpPr>
        <p:spPr>
          <a:xfrm>
            <a:off x="6492240" y="1554480"/>
            <a:ext cx="5120640" cy="1874520"/>
          </a:xfrm>
          <a:prstGeom prst="roundRect">
            <a:avLst>
              <a:gd name="adj" fmla="val 3902"/>
            </a:avLst>
          </a:prstGeom>
          <a:solidFill>
            <a:srgbClr val="FBECEC"/>
          </a:solidFill>
          <a:ln w="12700">
            <a:solidFill>
              <a:schemeClr val="accent5"/>
            </a:solidFill>
            <a:prstDash val="solid"/>
          </a:ln>
        </p:spPr>
      </p:sp>
      <p:sp>
        <p:nvSpPr>
          <p:cNvPr id="6" name="Text 3"/>
          <p:cNvSpPr txBox="1"/>
          <p:nvPr/>
        </p:nvSpPr>
        <p:spPr>
          <a:xfrm>
            <a:off x="6766560" y="1719072"/>
            <a:ext cx="4572000" cy="502920"/>
          </a:xfrm>
          <a:prstGeom prst="rect">
            <a:avLst/>
          </a:prstGeom>
          <a:noFill/>
          <a:ln/>
        </p:spPr>
        <p:txBody>
          <a:bodyPr wrap="square" lIns="0" tIns="0" rIns="0" bIns="0" rtlCol="0" anchor="ctr"/>
          <a:lstStyle/>
          <a:p>
            <a:pPr indent="0" marL="0">
              <a:buNone/>
            </a:pPr>
            <a:r>
              <a:rPr lang="en-US" sz="1250" b="1" dirty="0">
                <a:solidFill>
                  <a:srgbClr val="8C2B22"/>
                </a:solidFill>
              </a:rPr>
              <a:t>The LLM repairs better — and our policy does worse</a:t>
            </a:r>
            <a:endParaRPr lang="en-US" sz="1250" dirty="0"/>
          </a:p>
        </p:txBody>
      </p:sp>
      <p:sp>
        <p:nvSpPr>
          <p:cNvPr id="7" name="Text 4"/>
          <p:cNvSpPr txBox="1"/>
          <p:nvPr/>
        </p:nvSpPr>
        <p:spPr>
          <a:xfrm>
            <a:off x="6766560" y="2267712"/>
            <a:ext cx="4572000" cy="1005840"/>
          </a:xfrm>
          <a:prstGeom prst="rect">
            <a:avLst/>
          </a:prstGeom>
          <a:noFill/>
          <a:ln/>
        </p:spPr>
        <p:txBody>
          <a:bodyPr wrap="square" lIns="0" tIns="0" rIns="0" bIns="0" rtlCol="0" anchor="ctr"/>
          <a:lstStyle/>
          <a:p>
            <a:pPr indent="0" marL="0">
              <a:buNone/>
            </a:pPr>
            <a:r>
              <a:rPr lang="en-US" sz="1150" dirty="0">
                <a:solidFill>
                  <a:srgbClr val="6E241D"/>
                </a:solidFill>
              </a:rPr>
              <a:t>With the real model, a four-line confidence threshold beats our method on the one dataset where the whole pipeline works. Reported as a loss.</a:t>
            </a:r>
            <a:endParaRPr lang="en-US" sz="1150" dirty="0"/>
          </a:p>
        </p:txBody>
      </p:sp>
      <p:sp>
        <p:nvSpPr>
          <p:cNvPr id="8" name="Text 5"/>
          <p:cNvSpPr txBox="1"/>
          <p:nvPr/>
        </p:nvSpPr>
        <p:spPr>
          <a:xfrm>
            <a:off x="640080" y="3703320"/>
            <a:ext cx="10972800" cy="320040"/>
          </a:xfrm>
          <a:prstGeom prst="rect">
            <a:avLst/>
          </a:prstGeom>
          <a:noFill/>
          <a:ln/>
        </p:spPr>
        <p:txBody>
          <a:bodyPr wrap="square" rtlCol="0" anchor="ctr"/>
          <a:lstStyle/>
          <a:p>
            <a:pPr indent="0" marL="0">
              <a:buNone/>
            </a:pPr>
            <a:r>
              <a:rPr lang="en-US" sz="1300" b="1" dirty="0">
                <a:solidFill>
                  <a:srgbClr val="000000"/>
                </a:solidFill>
              </a:rPr>
              <a:t>Why the upside is capped — controlled comparison on 80 cells</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40080" y="4114800"/>
          <a:ext cx="10972800" cy="914400"/>
        </p:xfrm>
        <a:graphic>
          <a:graphicData uri="http://schemas.openxmlformats.org/drawingml/2006/table">
            <a:tbl>
              <a:tblPr/>
              <a:tblGrid>
                <a:gridCol w="2743200"/>
                <a:gridCol w="2743200"/>
                <a:gridCol w="2743200"/>
                <a:gridCol w="2743200"/>
              </a:tblGrid>
              <a:tr h="310896">
                <a:tc>
                  <a:txBody>
                    <a:bodyPr/>
                    <a:lstStyle/>
                    <a:p>
                      <a:pPr indent="0" marL="0">
                        <a:buNone/>
                      </a:pPr>
                      <a:r>
                        <a:rPr lang="en-US" sz="1150" b="1" dirty="0">
                          <a:solidFill>
                            <a:srgbClr val="FFFFFF"/>
                          </a:solidFill>
                        </a:rPr>
                        <a:t>Corruption type</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50" b="1" dirty="0">
                          <a:solidFill>
                            <a:srgbClr val="FFFFFF"/>
                          </a:solidFill>
                        </a:rPr>
                        <a:t>Rule-based</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50" b="1" dirty="0">
                          <a:solidFill>
                            <a:srgbClr val="FFFFFF"/>
                          </a:solidFill>
                        </a:rPr>
                        <a:t>LLM</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indent="0" marL="0">
                        <a:buNone/>
                      </a:pPr>
                      <a:r>
                        <a:rPr lang="en-US" sz="1150" b="1" dirty="0">
                          <a:solidFill>
                            <a:srgbClr val="FFFFFF"/>
                          </a:solidFill>
                        </a:rPr>
                        <a:t>Reading</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r>
              <a:tr h="310896">
                <a:tc>
                  <a:txBody>
                    <a:bodyPr/>
                    <a:lstStyle/>
                    <a:p>
                      <a:pPr indent="0" marL="0">
                        <a:buNone/>
                      </a:pPr>
                      <a:r>
                        <a:rPr lang="en-US" sz="1150" dirty="0">
                          <a:solidFill>
                            <a:schemeClr val="tx1"/>
                          </a:solidFill>
                        </a:rPr>
                        <a:t>Destroyed (missing)</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45 %</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dirty="0">
                          <a:solidFill>
                            <a:schemeClr val="tx1"/>
                          </a:solidFill>
                        </a:rPr>
                        <a:t>50 %</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indent="0" marL="0">
                        <a:buNone/>
                      </a:pPr>
                      <a:r>
                        <a:rPr lang="en-US" sz="1150" dirty="0">
                          <a:solidFill>
                            <a:schemeClr val="tx1"/>
                          </a:solidFill>
                        </a:rPr>
                        <a:t>noise — both are guessing</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50" dirty="0">
                          <a:solidFill>
                            <a:schemeClr val="tx1"/>
                          </a:solidFill>
                        </a:rPr>
                        <a:t>Recoverable (out-of-range)</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b="1" dirty="0">
                          <a:solidFill>
                            <a:schemeClr val="tx1"/>
                          </a:solidFill>
                        </a:rPr>
                        <a:t>100 %</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50" b="1" dirty="0">
                          <a:solidFill>
                            <a:srgbClr val="C0392B"/>
                          </a:solidFill>
                        </a:rPr>
                        <a:t>92.5 %</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indent="0" marL="0">
                        <a:buNone/>
                      </a:pPr>
                      <a:r>
                        <a:rPr lang="en-US" sz="1150" dirty="0">
                          <a:solidFill>
                            <a:schemeClr val="tx1"/>
                          </a:solidFill>
                        </a:rPr>
                        <a:t>the LLM is WORSE where the answer is determined</a:t>
                      </a:r>
                      <a:endParaRPr lang="en-US" sz="115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bl>
          </a:graphicData>
        </a:graphic>
      </p:graphicFrame>
      <p:sp>
        <p:nvSpPr>
          <p:cNvPr id="10" name="Text 6"/>
          <p:cNvSpPr txBox="1"/>
          <p:nvPr/>
        </p:nvSpPr>
        <p:spPr>
          <a:xfrm>
            <a:off x="640080" y="5852160"/>
            <a:ext cx="10972800" cy="411480"/>
          </a:xfrm>
          <a:prstGeom prst="rect">
            <a:avLst/>
          </a:prstGeom>
          <a:noFill/>
          <a:ln/>
        </p:spPr>
        <p:txBody>
          <a:bodyPr wrap="square" rtlCol="0" anchor="ctr"/>
          <a:lstStyle/>
          <a:p>
            <a:pPr indent="0" marL="0">
              <a:buNone/>
            </a:pPr>
            <a:r>
              <a:rPr lang="en-US" sz="1050" i="1" dirty="0">
                <a:solidFill>
                  <a:schemeClr val="accent3"/>
                </a:solidFill>
              </a:rPr>
              <a:t>The LLM reasons itself out of deterministic cases a simple rule gets right every time. On destroyed values nothing can help.</a:t>
            </a:r>
            <a:endParaRPr lang="en-US" sz="1050" dirty="0"/>
          </a:p>
        </p:txBody>
      </p:sp>
      <p:sp>
        <p:nvSpPr>
          <p:cNvPr id="11"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10515600" cy="1097280"/>
          </a:xfrm>
          <a:prstGeom prst="rect">
            <a:avLst/>
          </a:prstGeom>
          <a:noFill/>
          <a:ln/>
        </p:spPr>
        <p:txBody>
          <a:bodyPr wrap="square" rtlCol="0"/>
          <a:lstStyle/>
          <a:p>
            <a:pPr indent="0" marL="0">
              <a:buNone/>
            </a:pPr>
            <a:r>
              <a:rPr lang="en-US" sz="3600" b="1" dirty="0">
                <a:solidFill>
                  <a:schemeClr val="bg1"/>
                </a:solidFill>
              </a:rPr>
              <a:t>Part III — research programme</a:t>
            </a:r>
            <a:endParaRPr lang="en-US" sz="3600" dirty="0"/>
          </a:p>
        </p:txBody>
      </p:sp>
      <p:sp>
        <p:nvSpPr>
          <p:cNvPr id="3" name="Text 0"/>
          <p:cNvSpPr/>
          <p:nvPr>
            <p:ph idx="101" type="body" hasCustomPrompt="1"/>
          </p:nvPr>
        </p:nvSpPr>
        <p:spPr>
          <a:xfrm>
            <a:off x="822960" y="3840480"/>
            <a:ext cx="10515600" cy="1097280"/>
          </a:xfrm>
          <a:prstGeom prst="rect">
            <a:avLst/>
          </a:prstGeom>
          <a:noFill/>
          <a:ln/>
        </p:spPr>
        <p:txBody>
          <a:bodyPr wrap="square" rtlCol="0"/>
          <a:lstStyle/>
          <a:p>
            <a:pPr indent="0" marL="0">
              <a:buNone/>
            </a:pPr>
            <a:r>
              <a:rPr lang="en-US" sz="1500" dirty="0">
                <a:solidFill>
                  <a:srgbClr val="D6E6EF"/>
                </a:solidFill>
              </a:rPr>
              <a:t>Five waves rebuilding the method from fundamentals, after the results showed detection was the limiting factor.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Why we reframed: detection was the broken link</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143000"/>
          <a:ext cx="10972800" cy="914400"/>
        </p:xfrm>
        <a:graphic>
          <a:graphicData uri="http://schemas.openxmlformats.org/drawingml/2006/table">
            <a:tbl>
              <a:tblPr/>
              <a:tblGrid>
                <a:gridCol w="1828800"/>
                <a:gridCol w="1828800"/>
                <a:gridCol w="1828800"/>
                <a:gridCol w="1828800"/>
                <a:gridCol w="1828800"/>
                <a:gridCol w="1828800"/>
              </a:tblGrid>
              <a:tr h="310896">
                <a:tc>
                  <a:txBody>
                    <a:bodyPr/>
                    <a:lstStyle/>
                    <a:p>
                      <a:pPr indent="0" marL="0">
                        <a:buNone/>
                      </a:pPr>
                      <a:r>
                        <a:rPr lang="en-US" sz="1100" b="1" dirty="0">
                          <a:solidFill>
                            <a:srgbClr val="FFFFFF"/>
                          </a:solidFill>
                        </a:rPr>
                        <a:t>Dataset</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00" b="1" dirty="0">
                          <a:solidFill>
                            <a:srgbClr val="FFFFFF"/>
                          </a:solidFill>
                        </a:rPr>
                        <a:t>Prevalence</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00" b="1" dirty="0">
                          <a:solidFill>
                            <a:srgbClr val="FFFFFF"/>
                          </a:solidFill>
                        </a:rPr>
                        <a:t>PR-AUC</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00" b="1" dirty="0">
                          <a:solidFill>
                            <a:srgbClr val="FFFFFF"/>
                          </a:solidFill>
                        </a:rPr>
                        <a:t>Lift vs chance</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00" b="1" dirty="0">
                          <a:solidFill>
                            <a:srgbClr val="FFFFFF"/>
                          </a:solidFill>
                        </a:rPr>
                        <a:t>ROC-AUC</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indent="0" marL="0">
                        <a:buNone/>
                      </a:pPr>
                      <a:r>
                        <a:rPr lang="en-US" sz="1100" b="1" dirty="0">
                          <a:solidFill>
                            <a:srgbClr val="FFFFFF"/>
                          </a:solidFill>
                        </a:rPr>
                        <a:t>Reading</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r>
              <a:tr h="310896">
                <a:tc>
                  <a:txBody>
                    <a:bodyPr/>
                    <a:lstStyle/>
                    <a:p>
                      <a:pPr indent="0" marL="0">
                        <a:buNone/>
                      </a:pPr>
                      <a:r>
                        <a:rPr lang="en-US" sz="1100" dirty="0">
                          <a:solidFill>
                            <a:schemeClr val="tx1"/>
                          </a:solidFill>
                        </a:rPr>
                        <a:t>Smart Factory</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1.58 %</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1.0000</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1.0000</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indent="0" marL="0">
                        <a:buNone/>
                      </a:pPr>
                      <a:r>
                        <a:rPr lang="en-US" sz="1100" dirty="0">
                          <a:solidFill>
                            <a:schemeClr val="tx1"/>
                          </a:solidFill>
                        </a:rPr>
                        <a:t>trivial — corruption is blank cells</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00" dirty="0">
                          <a:solidFill>
                            <a:schemeClr val="tx1"/>
                          </a:solidFill>
                        </a:rPr>
                        <a:t>Breast Cancer</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7.52 %</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0.6712</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8.9×</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0.8222</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indent="0" marL="0">
                        <a:buNone/>
                      </a:pPr>
                      <a:r>
                        <a:rPr lang="en-US" sz="1100" dirty="0">
                          <a:solidFill>
                            <a:schemeClr val="tx1"/>
                          </a:solidFill>
                        </a:rPr>
                        <a:t>real signal</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00" b="1" dirty="0">
                          <a:solidFill>
                            <a:schemeClr val="tx1"/>
                          </a:solidFill>
                        </a:rPr>
                        <a:t>Adult</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b="1" dirty="0">
                          <a:solidFill>
                            <a:schemeClr val="tx1"/>
                          </a:solidFill>
                        </a:rPr>
                        <a:t>0.25 %</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b="1" dirty="0">
                          <a:solidFill>
                            <a:srgbClr val="C0392B"/>
                          </a:solidFill>
                        </a:rPr>
                        <a:t>0.0025</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b="1" dirty="0">
                          <a:solidFill>
                            <a:srgbClr val="C0392B"/>
                          </a:solidFill>
                        </a:rPr>
                        <a:t>1.0×</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b="1" dirty="0">
                          <a:solidFill>
                            <a:srgbClr val="C0392B"/>
                          </a:solidFill>
                        </a:rPr>
                        <a:t>0.4956</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indent="0" marL="0">
                        <a:buNone/>
                      </a:pPr>
                      <a:r>
                        <a:rPr lang="en-US" sz="1100" b="1" dirty="0">
                          <a:solidFill>
                            <a:srgbClr val="C0392B"/>
                          </a:solidFill>
                        </a:rPr>
                        <a:t>no information at all</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bl>
          </a:graphicData>
        </a:graphic>
      </p:graphicFrame>
      <p:sp>
        <p:nvSpPr>
          <p:cNvPr id="4" name="k0.72.85"/>
          <p:cNvSpPr/>
          <p:nvPr/>
        </p:nvSpPr>
        <p:spPr>
          <a:xfrm>
            <a:off x="640080" y="2606040"/>
            <a:ext cx="10972800" cy="1371600"/>
          </a:xfrm>
          <a:prstGeom prst="roundRect">
            <a:avLst>
              <a:gd name="adj" fmla="val 5333"/>
            </a:avLst>
          </a:prstGeom>
          <a:solidFill>
            <a:srgbClr val="FBECEC"/>
          </a:solidFill>
          <a:ln w="12700">
            <a:solidFill>
              <a:schemeClr val="accent5"/>
            </a:solidFill>
            <a:prstDash val="solid"/>
          </a:ln>
        </p:spPr>
      </p:sp>
      <p:sp>
        <p:nvSpPr>
          <p:cNvPr id="5" name="Text 2"/>
          <p:cNvSpPr txBox="1"/>
          <p:nvPr/>
        </p:nvSpPr>
        <p:spPr>
          <a:xfrm>
            <a:off x="914400" y="2770632"/>
            <a:ext cx="10424160" cy="1097280"/>
          </a:xfrm>
          <a:prstGeom prst="rect">
            <a:avLst/>
          </a:prstGeom>
          <a:noFill/>
          <a:ln/>
        </p:spPr>
        <p:txBody>
          <a:bodyPr wrap="square" lIns="0" tIns="0" rIns="0" bIns="0" rtlCol="0" anchor="ctr"/>
          <a:lstStyle/>
          <a:p>
            <a:pPr indent="0" marL="0">
              <a:buNone/>
            </a:pPr>
            <a:r>
              <a:rPr lang="en-US" sz="1250" b="1" dirty="0">
                <a:solidFill>
                  <a:srgbClr val="8C2B22"/>
                </a:solidFill>
              </a:rPr>
              <a:t>Adult’s PR-AUC equals its prevalence — the signature of a constant scorer.  </a:t>
            </a:r>
            <a:pPr indent="0" marL="0">
              <a:buNone/>
            </a:pPr>
            <a:r>
              <a:rPr lang="en-US" sz="1150" dirty="0">
                <a:solidFill>
                  <a:srgbClr val="6E241D"/>
                </a:solidFill>
              </a:rPr>
              <a:t>Its ROC-AUC of 0.4956 is below 0.5, so the ranking is slightly anti-correlated with corruption. A detector that flags nothing scores 99.75 % accuracy on Adult, which is why accuracy is never a headline number here.</a:t>
            </a:r>
            <a:endParaRPr lang="en-US" sz="1250" dirty="0"/>
          </a:p>
        </p:txBody>
      </p:sp>
      <p:sp>
        <p:nvSpPr>
          <p:cNvPr id="6" name="Text 3"/>
          <p:cNvSpPr txBox="1"/>
          <p:nvPr/>
        </p:nvSpPr>
        <p:spPr>
          <a:xfrm>
            <a:off x="640080" y="4114800"/>
            <a:ext cx="10972800" cy="1371600"/>
          </a:xfrm>
          <a:prstGeom prst="rect">
            <a:avLst/>
          </a:prstGeom>
          <a:noFill/>
          <a:ln/>
        </p:spPr>
        <p:txBody>
          <a:bodyPr wrap="square" rtlCol="0" anchor="ctr"/>
          <a:lstStyle/>
          <a:p>
            <a:pPr marL="342900" indent="-342900">
              <a:spcAft>
                <a:spcPts val="600"/>
              </a:spcAft>
              <a:buSzPct val="100000"/>
              <a:buChar char="•"/>
            </a:pPr>
            <a:r>
              <a:rPr lang="en-US" sz="1200" dirty="0">
                <a:solidFill>
                  <a:schemeClr val="tx1"/>
                </a:solidFill>
              </a:rPr>
              <a:t>Adult’s corruption swaps a valid value for another valid value — like changing “cat” to “dog”. A syntactic rule sees nothing wrong.</a:t>
            </a:r>
            <a:endParaRPr lang="en-US" sz="1200" dirty="0"/>
          </a:p>
          <a:p>
            <a:pPr marL="342900" indent="-342900">
              <a:spcAft>
                <a:spcPts val="600"/>
              </a:spcAft>
              <a:buSzPct val="100000"/>
              <a:buChar char="•"/>
            </a:pPr>
            <a:r>
              <a:rPr lang="en-US" sz="1200" dirty="0">
                <a:solidFill>
                  <a:schemeClr val="tx1"/>
                </a:solidFill>
              </a:rPr>
              <a:t>This matches published behaviour: HoloDetect (SIGMOD 2019) reports F1 = 0.002 for outlier detection on Adult.</a:t>
            </a:r>
            <a:endParaRPr lang="en-US" sz="1200" dirty="0"/>
          </a:p>
          <a:p>
            <a:pPr marL="342900" indent="-342900">
              <a:spcAft>
                <a:spcPts val="600"/>
              </a:spcAft>
              <a:buSzPct val="100000"/>
              <a:buChar char="•"/>
            </a:pPr>
            <a:r>
              <a:rPr lang="en-US" sz="1200" dirty="0">
                <a:solidFill>
                  <a:schemeClr val="tx1"/>
                </a:solidFill>
              </a:rPr>
              <a:t>A rule detector is a SET, not a RANKING — 169 distinct scores on Adult versus the conditional model’s 551,866. PR-AUC measures it on an axis it does not attempt.</a:t>
            </a:r>
            <a:endParaRPr lang="en-US" sz="1200" dirty="0"/>
          </a:p>
        </p:txBody>
      </p:sp>
      <p:sp>
        <p:nvSpPr>
          <p:cNvPr id="7" name="Text 4"/>
          <p:cNvSpPr txBox="1"/>
          <p:nvPr/>
        </p:nvSpPr>
        <p:spPr>
          <a:xfrm>
            <a:off x="640080" y="5852160"/>
            <a:ext cx="10972800" cy="411480"/>
          </a:xfrm>
          <a:prstGeom prst="rect">
            <a:avLst/>
          </a:prstGeom>
          <a:noFill/>
          <a:ln/>
        </p:spPr>
        <p:txBody>
          <a:bodyPr wrap="square" rtlCol="0" anchor="ctr"/>
          <a:lstStyle/>
          <a:p>
            <a:pPr indent="0" marL="0">
              <a:buNone/>
            </a:pPr>
            <a:r>
              <a:rPr lang="en-US" sz="1050" i="1" dirty="0">
                <a:solidFill>
                  <a:schemeClr val="accent3"/>
                </a:solidFill>
              </a:rPr>
              <a:t>So the research waves optimise detection — P(cell is corrupted) — rather than repair accuracy.</a:t>
            </a:r>
            <a:endParaRPr lang="en-US" sz="1050" dirty="0"/>
          </a:p>
        </p:txBody>
      </p:sp>
      <p:sp>
        <p:nvSpPr>
          <p:cNvPr id="8"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Waves 1–3: what each established</a:t>
            </a:r>
            <a:endParaRPr lang="en-US" sz="2800" dirty="0"/>
          </a:p>
        </p:txBody>
      </p:sp>
      <p:sp>
        <p:nvSpPr>
          <p:cNvPr id="3" name="k0.71.25"/>
          <p:cNvSpPr/>
          <p:nvPr/>
        </p:nvSpPr>
        <p:spPr>
          <a:xfrm>
            <a:off x="640080" y="1143000"/>
            <a:ext cx="10972800" cy="1417320"/>
          </a:xfrm>
          <a:prstGeom prst="roundRect">
            <a:avLst>
              <a:gd name="adj" fmla="val 5161"/>
            </a:avLst>
          </a:prstGeom>
          <a:solidFill>
            <a:schemeClr val="bg2"/>
          </a:solidFill>
          <a:ln w="9525">
            <a:solidFill>
              <a:srgbClr val="DDE5EC"/>
            </a:solidFill>
            <a:prstDash val="solid"/>
          </a:ln>
        </p:spPr>
      </p:sp>
      <p:sp>
        <p:nvSpPr>
          <p:cNvPr id="4" name="v0"/>
          <p:cNvSpPr/>
          <p:nvPr/>
        </p:nvSpPr>
        <p:spPr>
          <a:xfrm>
            <a:off x="868680" y="1325880"/>
            <a:ext cx="1143000" cy="438912"/>
          </a:xfrm>
          <a:prstGeom prst="roundRect">
            <a:avLst>
              <a:gd name="adj" fmla="val 14583"/>
            </a:avLst>
          </a:prstGeom>
          <a:solidFill>
            <a:schemeClr val="accent6"/>
          </a:solidFill>
          <a:ln/>
        </p:spPr>
      </p:sp>
      <p:sp>
        <p:nvSpPr>
          <p:cNvPr id="5" name="Text 3"/>
          <p:cNvSpPr txBox="1"/>
          <p:nvPr/>
        </p:nvSpPr>
        <p:spPr>
          <a:xfrm>
            <a:off x="868680" y="1325880"/>
            <a:ext cx="1143000" cy="438912"/>
          </a:xfrm>
          <a:prstGeom prst="rect">
            <a:avLst/>
          </a:prstGeom>
          <a:noFill/>
          <a:ln/>
        </p:spPr>
        <p:txBody>
          <a:bodyPr wrap="square" lIns="0" tIns="0" rIns="0" bIns="0" rtlCol="0" anchor="ctr"/>
          <a:lstStyle/>
          <a:p>
            <a:pPr algn="ctr" indent="0" marL="0">
              <a:buNone/>
            </a:pPr>
            <a:r>
              <a:rPr lang="en-US" sz="1150" b="1" dirty="0">
                <a:solidFill>
                  <a:srgbClr val="FFFFFF"/>
                </a:solidFill>
              </a:rPr>
              <a:t>Wave 1</a:t>
            </a:r>
            <a:endParaRPr lang="en-US" sz="1150" dirty="0"/>
          </a:p>
        </p:txBody>
      </p:sp>
      <p:sp>
        <p:nvSpPr>
          <p:cNvPr id="6" name="Text 4"/>
          <p:cNvSpPr txBox="1"/>
          <p:nvPr/>
        </p:nvSpPr>
        <p:spPr>
          <a:xfrm>
            <a:off x="2148840" y="1289304"/>
            <a:ext cx="9098280" cy="329184"/>
          </a:xfrm>
          <a:prstGeom prst="rect">
            <a:avLst/>
          </a:prstGeom>
          <a:noFill/>
          <a:ln/>
        </p:spPr>
        <p:txBody>
          <a:bodyPr wrap="square" lIns="0" tIns="0" rIns="0" bIns="0" rtlCol="0" anchor="ctr"/>
          <a:lstStyle/>
          <a:p>
            <a:pPr indent="0" marL="0">
              <a:buNone/>
            </a:pPr>
            <a:r>
              <a:rPr lang="en-US" sz="1250" b="1" dirty="0">
                <a:solidFill>
                  <a:schemeClr val="tx1"/>
                </a:solidFill>
              </a:rPr>
              <a:t>Conditional modelling — ask whether a value fits its ROW, not whether it is malformed</a:t>
            </a:r>
            <a:endParaRPr lang="en-US" sz="1250" dirty="0"/>
          </a:p>
        </p:txBody>
      </p:sp>
      <p:sp>
        <p:nvSpPr>
          <p:cNvPr id="7" name="Text 5"/>
          <p:cNvSpPr txBox="1"/>
          <p:nvPr/>
        </p:nvSpPr>
        <p:spPr>
          <a:xfrm>
            <a:off x="2148840" y="1645920"/>
            <a:ext cx="9098280" cy="822960"/>
          </a:xfrm>
          <a:prstGeom prst="rect">
            <a:avLst/>
          </a:prstGeom>
          <a:noFill/>
          <a:ln/>
        </p:spPr>
        <p:txBody>
          <a:bodyPr wrap="square" lIns="0" tIns="0" rIns="0" bIns="0" rtlCol="0" anchor="ctr"/>
          <a:lstStyle/>
          <a:p>
            <a:pPr indent="0" marL="0">
              <a:buNone/>
            </a:pPr>
            <a:r>
              <a:rPr lang="en-US" sz="1100" dirty="0">
                <a:solidFill>
                  <a:schemeClr val="accent3"/>
                </a:solidFill>
              </a:rPr>
              <a:t>Adult PR-AUC 0.0025 → 0.0120; 0.13 → 0.70 on the tampered column; ROC 0.4957 → 0.8875. A built-in marginal-rarity control proved conditioning is the factor. But it LOSES on Breast Cancer (0.6404 vs 0.6712) — rules win where corruption is syntactic.</a:t>
            </a:r>
            <a:endParaRPr lang="en-US" sz="1100" dirty="0"/>
          </a:p>
        </p:txBody>
      </p:sp>
      <p:sp>
        <p:nvSpPr>
          <p:cNvPr id="8" name="k0.72.9699999999999998"/>
          <p:cNvSpPr/>
          <p:nvPr/>
        </p:nvSpPr>
        <p:spPr>
          <a:xfrm>
            <a:off x="640080" y="2715768"/>
            <a:ext cx="10972800" cy="1417320"/>
          </a:xfrm>
          <a:prstGeom prst="roundRect">
            <a:avLst>
              <a:gd name="adj" fmla="val 5161"/>
            </a:avLst>
          </a:prstGeom>
          <a:solidFill>
            <a:schemeClr val="bg2"/>
          </a:solidFill>
          <a:ln w="9525">
            <a:solidFill>
              <a:srgbClr val="DDE5EC"/>
            </a:solidFill>
            <a:prstDash val="solid"/>
          </a:ln>
        </p:spPr>
      </p:sp>
      <p:sp>
        <p:nvSpPr>
          <p:cNvPr id="9" name="v1"/>
          <p:cNvSpPr/>
          <p:nvPr/>
        </p:nvSpPr>
        <p:spPr>
          <a:xfrm>
            <a:off x="868680" y="2898648"/>
            <a:ext cx="1143000" cy="438912"/>
          </a:xfrm>
          <a:prstGeom prst="roundRect">
            <a:avLst>
              <a:gd name="adj" fmla="val 14583"/>
            </a:avLst>
          </a:prstGeom>
          <a:solidFill>
            <a:schemeClr val="accent1"/>
          </a:solidFill>
          <a:ln/>
        </p:spPr>
      </p:sp>
      <p:sp>
        <p:nvSpPr>
          <p:cNvPr id="10" name="Text 8"/>
          <p:cNvSpPr txBox="1"/>
          <p:nvPr/>
        </p:nvSpPr>
        <p:spPr>
          <a:xfrm>
            <a:off x="868680" y="2898648"/>
            <a:ext cx="1143000" cy="438912"/>
          </a:xfrm>
          <a:prstGeom prst="rect">
            <a:avLst/>
          </a:prstGeom>
          <a:noFill/>
          <a:ln/>
        </p:spPr>
        <p:txBody>
          <a:bodyPr wrap="square" lIns="0" tIns="0" rIns="0" bIns="0" rtlCol="0" anchor="ctr"/>
          <a:lstStyle/>
          <a:p>
            <a:pPr algn="ctr" indent="0" marL="0">
              <a:buNone/>
            </a:pPr>
            <a:r>
              <a:rPr lang="en-US" sz="1150" b="1" dirty="0">
                <a:solidFill>
                  <a:srgbClr val="FFFFFF"/>
                </a:solidFill>
              </a:rPr>
              <a:t>Wave 2</a:t>
            </a:r>
            <a:endParaRPr lang="en-US" sz="1150" dirty="0"/>
          </a:p>
        </p:txBody>
      </p:sp>
      <p:sp>
        <p:nvSpPr>
          <p:cNvPr id="11" name="Text 9"/>
          <p:cNvSpPr txBox="1"/>
          <p:nvPr/>
        </p:nvSpPr>
        <p:spPr>
          <a:xfrm>
            <a:off x="2148840" y="2862072"/>
            <a:ext cx="9098280" cy="329184"/>
          </a:xfrm>
          <a:prstGeom prst="rect">
            <a:avLst/>
          </a:prstGeom>
          <a:noFill/>
          <a:ln/>
        </p:spPr>
        <p:txBody>
          <a:bodyPr wrap="square" lIns="0" tIns="0" rIns="0" bIns="0" rtlCol="0" anchor="ctr"/>
          <a:lstStyle/>
          <a:p>
            <a:pPr indent="0" marL="0">
              <a:buNone/>
            </a:pPr>
            <a:r>
              <a:rPr lang="en-US" sz="1250" b="1" dirty="0">
                <a:solidFill>
                  <a:schemeClr val="tx1"/>
                </a:solidFill>
              </a:rPr>
              <a:t>Combine both detectors, and spend a label budget</a:t>
            </a:r>
            <a:endParaRPr lang="en-US" sz="1250" dirty="0"/>
          </a:p>
        </p:txBody>
      </p:sp>
      <p:sp>
        <p:nvSpPr>
          <p:cNvPr id="12" name="Text 10"/>
          <p:cNvSpPr txBox="1"/>
          <p:nvPr/>
        </p:nvSpPr>
        <p:spPr>
          <a:xfrm>
            <a:off x="2148840" y="3218688"/>
            <a:ext cx="9098280" cy="822960"/>
          </a:xfrm>
          <a:prstGeom prst="rect">
            <a:avLst/>
          </a:prstGeom>
          <a:noFill/>
          <a:ln/>
        </p:spPr>
        <p:txBody>
          <a:bodyPr wrap="square" lIns="0" tIns="0" rIns="0" bIns="0" rtlCol="0" anchor="ctr"/>
          <a:lstStyle/>
          <a:p>
            <a:pPr indent="0" marL="0">
              <a:buNone/>
            </a:pPr>
            <a:r>
              <a:rPr lang="en-US" sz="1100" dirty="0">
                <a:solidFill>
                  <a:schemeClr val="accent3"/>
                </a:solidFill>
              </a:rPr>
              <a:t>Noisy-OR fusion at ZERO labels scores 0.7209 on Breast Cancer, beating both parents (0.6712 / 0.6361) with non-overlapping intervals. NOVEL NEGATIVE: Raha’s published 20-label jump does not transfer — at 0.25 % prevalence, 20 labels found zero errors in 5 of 5 splits.</a:t>
            </a:r>
            <a:endParaRPr lang="en-US" sz="1100" dirty="0"/>
          </a:p>
        </p:txBody>
      </p:sp>
      <p:sp>
        <p:nvSpPr>
          <p:cNvPr id="13" name="k0.74.6899999999999995"/>
          <p:cNvSpPr/>
          <p:nvPr/>
        </p:nvSpPr>
        <p:spPr>
          <a:xfrm>
            <a:off x="640080" y="4288536"/>
            <a:ext cx="10972800" cy="1417320"/>
          </a:xfrm>
          <a:prstGeom prst="roundRect">
            <a:avLst>
              <a:gd name="adj" fmla="val 5161"/>
            </a:avLst>
          </a:prstGeom>
          <a:solidFill>
            <a:schemeClr val="bg2"/>
          </a:solidFill>
          <a:ln w="9525">
            <a:solidFill>
              <a:srgbClr val="DDE5EC"/>
            </a:solidFill>
            <a:prstDash val="solid"/>
          </a:ln>
        </p:spPr>
      </p:sp>
      <p:sp>
        <p:nvSpPr>
          <p:cNvPr id="14" name="v2"/>
          <p:cNvSpPr/>
          <p:nvPr/>
        </p:nvSpPr>
        <p:spPr>
          <a:xfrm>
            <a:off x="868680" y="4471416"/>
            <a:ext cx="1143000" cy="438912"/>
          </a:xfrm>
          <a:prstGeom prst="roundRect">
            <a:avLst>
              <a:gd name="adj" fmla="val 14583"/>
            </a:avLst>
          </a:prstGeom>
          <a:solidFill>
            <a:schemeClr val="accent2"/>
          </a:solidFill>
          <a:ln/>
        </p:spPr>
      </p:sp>
      <p:sp>
        <p:nvSpPr>
          <p:cNvPr id="15" name="Text 13"/>
          <p:cNvSpPr txBox="1"/>
          <p:nvPr/>
        </p:nvSpPr>
        <p:spPr>
          <a:xfrm>
            <a:off x="868680" y="4471416"/>
            <a:ext cx="1143000" cy="438912"/>
          </a:xfrm>
          <a:prstGeom prst="rect">
            <a:avLst/>
          </a:prstGeom>
          <a:noFill/>
          <a:ln/>
        </p:spPr>
        <p:txBody>
          <a:bodyPr wrap="square" lIns="0" tIns="0" rIns="0" bIns="0" rtlCol="0" anchor="ctr"/>
          <a:lstStyle/>
          <a:p>
            <a:pPr algn="ctr" indent="0" marL="0">
              <a:buNone/>
            </a:pPr>
            <a:r>
              <a:rPr lang="en-US" sz="1150" b="1" dirty="0">
                <a:solidFill>
                  <a:srgbClr val="FFFFFF"/>
                </a:solidFill>
              </a:rPr>
              <a:t>Wave 3</a:t>
            </a:r>
            <a:endParaRPr lang="en-US" sz="1150" dirty="0"/>
          </a:p>
        </p:txBody>
      </p:sp>
      <p:sp>
        <p:nvSpPr>
          <p:cNvPr id="16" name="Text 14"/>
          <p:cNvSpPr txBox="1"/>
          <p:nvPr/>
        </p:nvSpPr>
        <p:spPr>
          <a:xfrm>
            <a:off x="2148840" y="4434840"/>
            <a:ext cx="9098280" cy="329184"/>
          </a:xfrm>
          <a:prstGeom prst="rect">
            <a:avLst/>
          </a:prstGeom>
          <a:noFill/>
          <a:ln/>
        </p:spPr>
        <p:txBody>
          <a:bodyPr wrap="square" lIns="0" tIns="0" rIns="0" bIns="0" rtlCol="0" anchor="ctr"/>
          <a:lstStyle/>
          <a:p>
            <a:pPr indent="0" marL="0">
              <a:buNone/>
            </a:pPr>
            <a:r>
              <a:rPr lang="en-US" sz="1250" b="1" dirty="0">
                <a:solidFill>
                  <a:schemeClr val="tx1"/>
                </a:solidFill>
              </a:rPr>
              <a:t>Decide which cells a small label budget should ask about</a:t>
            </a:r>
            <a:endParaRPr lang="en-US" sz="1250" dirty="0"/>
          </a:p>
        </p:txBody>
      </p:sp>
      <p:sp>
        <p:nvSpPr>
          <p:cNvPr id="17" name="Text 15"/>
          <p:cNvSpPr txBox="1"/>
          <p:nvPr/>
        </p:nvSpPr>
        <p:spPr>
          <a:xfrm>
            <a:off x="2148840" y="4791456"/>
            <a:ext cx="9098280" cy="822960"/>
          </a:xfrm>
          <a:prstGeom prst="rect">
            <a:avLst/>
          </a:prstGeom>
          <a:noFill/>
          <a:ln/>
        </p:spPr>
        <p:txBody>
          <a:bodyPr wrap="square" lIns="0" tIns="0" rIns="0" bIns="0" rtlCol="0" anchor="ctr"/>
          <a:lstStyle/>
          <a:p>
            <a:pPr indent="0" marL="0">
              <a:buNone/>
            </a:pPr>
            <a:r>
              <a:rPr lang="en-US" sz="1100" dirty="0">
                <a:solidFill>
                  <a:schemeClr val="accent3"/>
                </a:solidFill>
              </a:rPr>
              <a:t>Spreading the budget reaches 50 % of full supervision with 100 labels; asking in small batches needs 5× fewer labels than asking all at once. Asking about the MOST SUSPICIOUS cells never works — zero positives at every budget up to 500.</a:t>
            </a:r>
            <a:endParaRPr lang="en-US" sz="1100" dirty="0"/>
          </a:p>
        </p:txBody>
      </p:sp>
      <p:sp>
        <p:nvSpPr>
          <p:cNvPr id="18" name="Text 16"/>
          <p:cNvSpPr txBox="1"/>
          <p:nvPr/>
        </p:nvSpPr>
        <p:spPr>
          <a:xfrm>
            <a:off x="640080" y="5852160"/>
            <a:ext cx="10972800" cy="411480"/>
          </a:xfrm>
          <a:prstGeom prst="rect">
            <a:avLst/>
          </a:prstGeom>
          <a:noFill/>
          <a:ln/>
        </p:spPr>
        <p:txBody>
          <a:bodyPr wrap="square" rtlCol="0" anchor="ctr"/>
          <a:lstStyle/>
          <a:p>
            <a:pPr indent="0" marL="0">
              <a:buNone/>
            </a:pPr>
            <a:r>
              <a:rPr lang="en-US" sz="1050" i="1" dirty="0">
                <a:solidFill>
                  <a:schemeClr val="accent3"/>
                </a:solidFill>
              </a:rPr>
              <a:t>Methodological catch: conditional features are scored out-of-fold. An in-sample fit scored 0.5014 versus 0.6408 — it would have produced a handicapped baseline and a fabricated improvement.</a:t>
            </a:r>
            <a:endParaRPr lang="en-US" sz="1050" dirty="0"/>
          </a:p>
        </p:txBody>
      </p:sp>
      <p:sp>
        <p:nvSpPr>
          <p:cNvPr id="19"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Wave 4: responding to external review</a:t>
            </a:r>
            <a:endParaRPr lang="en-US" sz="2800" dirty="0"/>
          </a:p>
        </p:txBody>
      </p:sp>
      <p:sp>
        <p:nvSpPr>
          <p:cNvPr id="3" name="k0.71.22"/>
          <p:cNvSpPr/>
          <p:nvPr/>
        </p:nvSpPr>
        <p:spPr>
          <a:xfrm>
            <a:off x="640080" y="1115568"/>
            <a:ext cx="5349240" cy="2240280"/>
          </a:xfrm>
          <a:prstGeom prst="roundRect">
            <a:avLst>
              <a:gd name="adj" fmla="val 3265"/>
            </a:avLst>
          </a:prstGeom>
          <a:solidFill>
            <a:srgbClr val="ECF7F1"/>
          </a:solidFill>
          <a:ln w="12700">
            <a:solidFill>
              <a:schemeClr val="accent1"/>
            </a:solidFill>
            <a:prstDash val="solid"/>
          </a:ln>
        </p:spPr>
      </p:sp>
      <p:sp>
        <p:nvSpPr>
          <p:cNvPr id="4" name="Text 2"/>
          <p:cNvSpPr txBox="1"/>
          <p:nvPr/>
        </p:nvSpPr>
        <p:spPr>
          <a:xfrm>
            <a:off x="914400" y="1261872"/>
            <a:ext cx="4800600" cy="292608"/>
          </a:xfrm>
          <a:prstGeom prst="rect">
            <a:avLst/>
          </a:prstGeom>
          <a:noFill/>
          <a:ln/>
        </p:spPr>
        <p:txBody>
          <a:bodyPr wrap="square" lIns="0" tIns="0" rIns="0" bIns="0" rtlCol="0" anchor="ctr"/>
          <a:lstStyle/>
          <a:p>
            <a:pPr indent="0" marL="0">
              <a:buNone/>
            </a:pPr>
            <a:r>
              <a:rPr lang="en-US" sz="1250" b="1" dirty="0">
                <a:solidFill>
                  <a:srgbClr val="18603A"/>
                </a:solidFill>
              </a:rPr>
              <a:t>Are the costs defensible?  Yes</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914400" y="1627632"/>
          <a:ext cx="4800600" cy="914400"/>
        </p:xfrm>
        <a:graphic>
          <a:graphicData uri="http://schemas.openxmlformats.org/drawingml/2006/table">
            <a:tbl>
              <a:tblPr/>
              <a:tblGrid>
                <a:gridCol w="1600200"/>
                <a:gridCol w="1600200"/>
                <a:gridCol w="1600200"/>
              </a:tblGrid>
              <a:tr h="310896">
                <a:tc>
                  <a:txBody>
                    <a:bodyPr/>
                    <a:lstStyle/>
                    <a:p>
                      <a:pPr indent="0" marL="0">
                        <a:buNone/>
                      </a:pPr>
                      <a:r>
                        <a:rPr lang="en-US" sz="1000" b="1" dirty="0">
                          <a:solidFill>
                            <a:srgbClr val="FFFFFF"/>
                          </a:solidFill>
                        </a:rPr>
                        <a:t>Dataset</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000" b="1" dirty="0">
                          <a:solidFill>
                            <a:srgbClr val="FFFFFF"/>
                          </a:solidFill>
                        </a:rPr>
                        <a:t>Best or tied</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000" b="1" dirty="0">
                          <a:solidFill>
                            <a:srgbClr val="FFFFFF"/>
                          </a:solidFill>
                        </a:rPr>
                        <a:t>Strictly best</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r>
              <a:tr h="310896">
                <a:tc>
                  <a:txBody>
                    <a:bodyPr/>
                    <a:lstStyle/>
                    <a:p>
                      <a:pPr indent="0" marL="0">
                        <a:buNone/>
                      </a:pPr>
                      <a:r>
                        <a:rPr lang="en-US" sz="1000" dirty="0">
                          <a:solidFill>
                            <a:schemeClr val="tx1"/>
                          </a:solidFill>
                        </a:rPr>
                        <a:t>Adult</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100.0 %</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0.0 %</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000" dirty="0">
                          <a:solidFill>
                            <a:schemeClr val="tx1"/>
                          </a:solidFill>
                        </a:rPr>
                        <a:t>Breast Cancer</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96.5 %</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57.9 %</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000" dirty="0">
                          <a:solidFill>
                            <a:schemeClr val="tx1"/>
                          </a:solidFill>
                        </a:rPr>
                        <a:t>Smart Factory</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98.5 %</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2.9 %</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bl>
          </a:graphicData>
        </a:graphic>
      </p:graphicFrame>
      <p:sp>
        <p:nvSpPr>
          <p:cNvPr id="6" name="Text 3"/>
          <p:cNvSpPr txBox="1"/>
          <p:nvPr/>
        </p:nvSpPr>
        <p:spPr>
          <a:xfrm>
            <a:off x="914400" y="2743200"/>
            <a:ext cx="4800600" cy="548640"/>
          </a:xfrm>
          <a:prstGeom prst="rect">
            <a:avLst/>
          </a:prstGeom>
          <a:noFill/>
          <a:ln/>
        </p:spPr>
        <p:txBody>
          <a:bodyPr wrap="square" lIns="0" tIns="0" rIns="0" bIns="0" rtlCol="0" anchor="ctr"/>
          <a:lstStyle/>
          <a:p>
            <a:pPr indent="0" marL="0">
              <a:buNone/>
            </a:pPr>
            <a:r>
              <a:rPr lang="en-US" sz="1050" dirty="0">
                <a:solidFill>
                  <a:srgbClr val="1F6B44"/>
                </a:solidFill>
              </a:rPr>
              <a:t>Robust across a principled sweep of cost ratios — but Adult’s 100 % is 100 % TIES. Robustness and superiority are different claims.</a:t>
            </a:r>
            <a:endParaRPr lang="en-US" sz="1050" dirty="0"/>
          </a:p>
        </p:txBody>
      </p:sp>
      <p:sp>
        <p:nvSpPr>
          <p:cNvPr id="7" name="k6.851.22"/>
          <p:cNvSpPr/>
          <p:nvPr/>
        </p:nvSpPr>
        <p:spPr>
          <a:xfrm>
            <a:off x="6263640" y="1115568"/>
            <a:ext cx="5349240" cy="2240280"/>
          </a:xfrm>
          <a:prstGeom prst="roundRect">
            <a:avLst>
              <a:gd name="adj" fmla="val 3265"/>
            </a:avLst>
          </a:prstGeom>
          <a:solidFill>
            <a:srgbClr val="F4EEFA"/>
          </a:solidFill>
          <a:ln w="12700">
            <a:solidFill>
              <a:schemeClr val="accent4"/>
            </a:solidFill>
            <a:prstDash val="solid"/>
          </a:ln>
        </p:spPr>
      </p:sp>
      <p:sp>
        <p:nvSpPr>
          <p:cNvPr id="8" name="Text 5"/>
          <p:cNvSpPr txBox="1"/>
          <p:nvPr/>
        </p:nvSpPr>
        <p:spPr>
          <a:xfrm>
            <a:off x="6537960" y="1261872"/>
            <a:ext cx="4800600" cy="292608"/>
          </a:xfrm>
          <a:prstGeom prst="rect">
            <a:avLst/>
          </a:prstGeom>
          <a:noFill/>
          <a:ln/>
        </p:spPr>
        <p:txBody>
          <a:bodyPr wrap="square" lIns="0" tIns="0" rIns="0" bIns="0" rtlCol="0" anchor="ctr"/>
          <a:lstStyle/>
          <a:p>
            <a:pPr indent="0" marL="0">
              <a:buNone/>
            </a:pPr>
            <a:r>
              <a:rPr lang="en-US" sz="1250" b="1" dirty="0">
                <a:solidFill>
                  <a:srgbClr val="4A2060"/>
                </a:solidFill>
              </a:rPr>
              <a:t>Routing easy vs hard cells (new mechanism)</a:t>
            </a:r>
            <a:endParaRPr lang="en-US" sz="125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537960" y="1627632"/>
          <a:ext cx="4800600" cy="914400"/>
        </p:xfrm>
        <a:graphic>
          <a:graphicData uri="http://schemas.openxmlformats.org/drawingml/2006/table">
            <a:tbl>
              <a:tblPr/>
              <a:tblGrid>
                <a:gridCol w="1200150"/>
                <a:gridCol w="1200150"/>
                <a:gridCol w="1200150"/>
                <a:gridCol w="1200150"/>
              </a:tblGrid>
              <a:tr h="310896">
                <a:tc>
                  <a:txBody>
                    <a:bodyPr/>
                    <a:lstStyle/>
                    <a:p>
                      <a:pPr indent="0" marL="0">
                        <a:buNone/>
                      </a:pPr>
                      <a:r>
                        <a:rPr lang="en-US" sz="1000" b="1" dirty="0">
                          <a:solidFill>
                            <a:srgbClr val="FFFFFF"/>
                          </a:solidFill>
                        </a:rPr>
                        <a:t>Approach</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000" b="1" dirty="0">
                          <a:solidFill>
                            <a:srgbClr val="FFFFFF"/>
                          </a:solidFill>
                        </a:rPr>
                        <a:t>Accuracy</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000" b="1" dirty="0">
                          <a:solidFill>
                            <a:srgbClr val="FFFFFF"/>
                          </a:solidFill>
                        </a:rPr>
                        <a:t>API calls</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000" b="1" dirty="0">
                          <a:solidFill>
                            <a:srgbClr val="FFFFFF"/>
                          </a:solidFill>
                        </a:rPr>
                        <a:t>Cost</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r>
              <a:tr h="310896">
                <a:tc>
                  <a:txBody>
                    <a:bodyPr/>
                    <a:lstStyle/>
                    <a:p>
                      <a:pPr indent="0" marL="0">
                        <a:buNone/>
                      </a:pPr>
                      <a:r>
                        <a:rPr lang="en-US" sz="1000" dirty="0">
                          <a:solidFill>
                            <a:schemeClr val="tx1"/>
                          </a:solidFill>
                        </a:rPr>
                        <a:t>Rule only</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67.3 %</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0</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1,615</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000" dirty="0">
                          <a:solidFill>
                            <a:schemeClr val="tx1"/>
                          </a:solidFill>
                        </a:rPr>
                        <a:t>LLM only</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71.0 %</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355</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1,670</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000" b="1" dirty="0">
                          <a:solidFill>
                            <a:schemeClr val="tx1"/>
                          </a:solidFill>
                        </a:rPr>
                        <a:t>Routed</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b="1" dirty="0">
                          <a:solidFill>
                            <a:schemeClr val="tx1"/>
                          </a:solidFill>
                        </a:rPr>
                        <a:t>71.0 %</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b="1" dirty="0">
                          <a:solidFill>
                            <a:schemeClr val="tx1"/>
                          </a:solidFill>
                        </a:rPr>
                        <a:t>210</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000" dirty="0">
                          <a:solidFill>
                            <a:schemeClr val="tx1"/>
                          </a:solidFill>
                        </a:rPr>
                        <a:t>1,680</a:t>
                      </a:r>
                      <a:endParaRPr lang="en-US" sz="10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bl>
          </a:graphicData>
        </a:graphic>
      </p:graphicFrame>
      <p:sp>
        <p:nvSpPr>
          <p:cNvPr id="10" name="Text 6"/>
          <p:cNvSpPr txBox="1"/>
          <p:nvPr/>
        </p:nvSpPr>
        <p:spPr>
          <a:xfrm>
            <a:off x="6537960" y="2743200"/>
            <a:ext cx="4800600" cy="365760"/>
          </a:xfrm>
          <a:prstGeom prst="rect">
            <a:avLst/>
          </a:prstGeom>
          <a:noFill/>
          <a:ln/>
        </p:spPr>
        <p:txBody>
          <a:bodyPr wrap="square" lIns="0" tIns="0" rIns="0" bIns="0" rtlCol="0" anchor="ctr"/>
          <a:lstStyle/>
          <a:p>
            <a:pPr indent="0" marL="0">
              <a:buNone/>
            </a:pPr>
            <a:r>
              <a:rPr lang="en-US" sz="1050" dirty="0">
                <a:solidFill>
                  <a:srgbClr val="4A2060"/>
                </a:solidFill>
              </a:rPr>
              <a:t>Matches the LLM’s accuracy with 41 % fewer API calls.</a:t>
            </a:r>
            <a:endParaRPr lang="en-US" sz="1050" dirty="0"/>
          </a:p>
        </p:txBody>
      </p:sp>
      <p:sp>
        <p:nvSpPr>
          <p:cNvPr id="11" name="k0.73.85"/>
          <p:cNvSpPr/>
          <p:nvPr/>
        </p:nvSpPr>
        <p:spPr>
          <a:xfrm>
            <a:off x="640080" y="3520440"/>
            <a:ext cx="10972800" cy="1051560"/>
          </a:xfrm>
          <a:prstGeom prst="roundRect">
            <a:avLst>
              <a:gd name="adj" fmla="val 6957"/>
            </a:avLst>
          </a:prstGeom>
          <a:solidFill>
            <a:srgbClr val="FDF3E3"/>
          </a:solidFill>
          <a:ln w="12700">
            <a:solidFill>
              <a:schemeClr val="accent2"/>
            </a:solidFill>
            <a:prstDash val="solid"/>
          </a:ln>
        </p:spPr>
      </p:sp>
      <p:sp>
        <p:nvSpPr>
          <p:cNvPr id="12" name="Text 8"/>
          <p:cNvSpPr txBox="1"/>
          <p:nvPr/>
        </p:nvSpPr>
        <p:spPr>
          <a:xfrm>
            <a:off x="914400" y="3657600"/>
            <a:ext cx="10424160" cy="868680"/>
          </a:xfrm>
          <a:prstGeom prst="rect">
            <a:avLst/>
          </a:prstGeom>
          <a:noFill/>
          <a:ln/>
        </p:spPr>
        <p:txBody>
          <a:bodyPr wrap="square" lIns="0" tIns="0" rIns="0" bIns="0" rtlCol="0" anchor="ctr"/>
          <a:lstStyle/>
          <a:p>
            <a:pPr indent="0" marL="0">
              <a:buNone/>
            </a:pPr>
            <a:r>
              <a:rPr lang="en-US" sz="1250" b="1" dirty="0">
                <a:solidFill>
                  <a:srgbClr val="8A5A08"/>
                </a:solidFill>
              </a:rPr>
              <a:t>Counterintuitive finding: better repairs produce WORSE policy cost.  </a:t>
            </a:r>
            <a:pPr indent="0" marL="0">
              <a:buNone/>
            </a:pPr>
            <a:r>
              <a:rPr lang="en-US" sz="1150" dirty="0">
                <a:solidFill>
                  <a:srgbClr val="5F4206"/>
                </a:solidFill>
              </a:rPr>
              <a:t>The least accurate repairer is cheapest (1,615); an oracle repairer is most accurate and most expensive (1,775). Better repairs raise confidence, so more cells auto-repair, and a wrong auto-repair costs 50 against review’s 5. The LLM did not fail — it succeeded at the wrong objective.</a:t>
            </a:r>
            <a:endParaRPr lang="en-US" sz="1250" dirty="0"/>
          </a:p>
        </p:txBody>
      </p:sp>
      <p:sp>
        <p:nvSpPr>
          <p:cNvPr id="13" name="k0.75.15"/>
          <p:cNvSpPr/>
          <p:nvPr/>
        </p:nvSpPr>
        <p:spPr>
          <a:xfrm>
            <a:off x="640080" y="4709160"/>
            <a:ext cx="10972800" cy="1005840"/>
          </a:xfrm>
          <a:prstGeom prst="roundRect">
            <a:avLst>
              <a:gd name="adj" fmla="val 7273"/>
            </a:avLst>
          </a:prstGeom>
          <a:solidFill>
            <a:srgbClr val="FBECEC"/>
          </a:solidFill>
          <a:ln w="12700">
            <a:solidFill>
              <a:schemeClr val="accent5"/>
            </a:solidFill>
            <a:prstDash val="solid"/>
          </a:ln>
        </p:spPr>
      </p:sp>
      <p:sp>
        <p:nvSpPr>
          <p:cNvPr id="14" name="Text 10"/>
          <p:cNvSpPr txBox="1"/>
          <p:nvPr/>
        </p:nvSpPr>
        <p:spPr>
          <a:xfrm>
            <a:off x="914400" y="4846320"/>
            <a:ext cx="10424160" cy="822960"/>
          </a:xfrm>
          <a:prstGeom prst="rect">
            <a:avLst/>
          </a:prstGeom>
          <a:noFill/>
          <a:ln/>
        </p:spPr>
        <p:txBody>
          <a:bodyPr wrap="square" lIns="0" tIns="0" rIns="0" bIns="0" rtlCol="0" anchor="ctr"/>
          <a:lstStyle/>
          <a:p>
            <a:pPr indent="0" marL="0">
              <a:buNone/>
            </a:pPr>
            <a:r>
              <a:rPr lang="en-US" sz="1250" b="1" dirty="0">
                <a:solidFill>
                  <a:srgbClr val="8C2B22"/>
                </a:solidFill>
              </a:rPr>
              <a:t>Two of our ideas were prior art or formally wrong.  </a:t>
            </a:r>
            <a:pPr indent="0" marL="0">
              <a:buNone/>
            </a:pPr>
            <a:r>
              <a:rPr lang="en-US" sz="1150" dirty="0">
                <a:solidFill>
                  <a:srgbClr val="6E241D"/>
                </a:solidFill>
              </a:rPr>
              <a:t>ED2 (CIKM 2019) already contains a “Column Selector” doing what we were about to claim, and reports it unstable. Our scoring statistic is a density where theory (Ren et al., NeurIPS 2019) calls for a likelihood ratio. We tested that fix against a pre-registered condition — it was REFUTED.</a:t>
            </a:r>
            <a:endParaRPr lang="en-US" sz="1250" dirty="0"/>
          </a:p>
        </p:txBody>
      </p:sp>
      <p:sp>
        <p:nvSpPr>
          <p:cNvPr id="15"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bg1"/>
                </a:solidFill>
              </a:rPr>
              <a:t>The core open problem, isolated by measurement</a:t>
            </a:r>
            <a:endParaRPr lang="en-US" sz="2800" dirty="0"/>
          </a:p>
        </p:txBody>
      </p:sp>
      <p:sp>
        <p:nvSpPr>
          <p:cNvPr id="3" name="Text 1"/>
          <p:cNvSpPr txBox="1"/>
          <p:nvPr/>
        </p:nvSpPr>
        <p:spPr>
          <a:xfrm>
            <a:off x="640080" y="1097280"/>
            <a:ext cx="10972800" cy="365760"/>
          </a:xfrm>
          <a:prstGeom prst="rect">
            <a:avLst/>
          </a:prstGeom>
          <a:noFill/>
          <a:ln/>
        </p:spPr>
        <p:txBody>
          <a:bodyPr wrap="square" rtlCol="0" anchor="ctr"/>
          <a:lstStyle/>
          <a:p>
            <a:pPr indent="0" marL="0">
              <a:buNone/>
            </a:pPr>
            <a:r>
              <a:rPr lang="en-US" sz="1350" b="1" dirty="0">
                <a:solidFill>
                  <a:srgbClr val="FFD9D4"/>
                </a:solidFill>
              </a:rPr>
              <a:t>On Adult, of the 5,000 cells our detector is most suspicious about, ZERO are in the tampered column.</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6675120" cy="914400"/>
        </p:xfrm>
        <a:graphic>
          <a:graphicData uri="http://schemas.openxmlformats.org/drawingml/2006/table">
            <a:tbl>
              <a:tblPr/>
              <a:tblGrid>
                <a:gridCol w="2225040"/>
                <a:gridCol w="2225040"/>
                <a:gridCol w="2225040"/>
              </a:tblGrid>
              <a:tr h="310896">
                <a:tc>
                  <a:txBody>
                    <a:bodyPr/>
                    <a:lstStyle/>
                    <a:p>
                      <a:pPr indent="0" marL="0">
                        <a:buNone/>
                      </a:pPr>
                      <a:r>
                        <a:rPr lang="en-US" sz="1100" b="1" dirty="0">
                          <a:solidFill>
                            <a:srgbClr val="FFFFFF"/>
                          </a:solidFill>
                        </a:rPr>
                        <a:t>Column</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00" b="1" dirty="0">
                          <a:solidFill>
                            <a:srgbClr val="FFFFFF"/>
                          </a:solidFill>
                        </a:rPr>
                        <a:t>Cells in top 1,701</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c>
                  <a:txBody>
                    <a:bodyPr/>
                    <a:lstStyle/>
                    <a:p>
                      <a:pPr algn="r" indent="0" marL="0">
                        <a:buNone/>
                      </a:pPr>
                      <a:r>
                        <a:rPr lang="en-US" sz="1100" b="1" dirty="0">
                          <a:solidFill>
                            <a:srgbClr val="FFFFFF"/>
                          </a:solidFill>
                        </a:rPr>
                        <a:t>Actually corrupted</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solidFill>
                      <a:srgbClr val="0F1E3D"/>
                    </a:solidFill>
                  </a:tcPr>
                </a:tc>
              </a:tr>
              <a:tr h="310896">
                <a:tc>
                  <a:txBody>
                    <a:bodyPr/>
                    <a:lstStyle/>
                    <a:p>
                      <a:pPr indent="0" marL="0">
                        <a:buNone/>
                      </a:pPr>
                      <a:r>
                        <a:rPr lang="en-US" sz="1100" dirty="0">
                          <a:solidFill>
                            <a:schemeClr val="tx1"/>
                          </a:solidFill>
                        </a:rPr>
                        <a:t>native_country</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1,348</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0</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00" dirty="0">
                          <a:solidFill>
                            <a:schemeClr val="tx1"/>
                          </a:solidFill>
                        </a:rPr>
                        <a:t>occupation</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343</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0</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00" dirty="0">
                          <a:solidFill>
                            <a:schemeClr val="tx1"/>
                          </a:solidFill>
                        </a:rPr>
                        <a:t>marital_status</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8</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0</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00" dirty="0">
                          <a:solidFill>
                            <a:schemeClr val="tx1"/>
                          </a:solidFill>
                        </a:rPr>
                        <a:t>workclass</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2</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0</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r h="310896">
                <a:tc>
                  <a:txBody>
                    <a:bodyPr/>
                    <a:lstStyle/>
                    <a:p>
                      <a:pPr indent="0" marL="0">
                        <a:buNone/>
                      </a:pPr>
                      <a:r>
                        <a:rPr lang="en-US" sz="1100" b="1" dirty="0">
                          <a:solidFill>
                            <a:srgbClr val="C0392B"/>
                          </a:solidFill>
                        </a:rPr>
                        <a:t>income (the tampered column)</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b="1" dirty="0">
                          <a:solidFill>
                            <a:srgbClr val="C0392B"/>
                          </a:solidFill>
                        </a:rPr>
                        <a:t>0</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c>
                  <a:txBody>
                    <a:bodyPr/>
                    <a:lstStyle/>
                    <a:p>
                      <a:pPr algn="r" indent="0" marL="0">
                        <a:buNone/>
                      </a:pPr>
                      <a:r>
                        <a:rPr lang="en-US" sz="1100" dirty="0">
                          <a:solidFill>
                            <a:schemeClr val="tx1"/>
                          </a:solidFill>
                        </a:rPr>
                        <a:t>—</a:t>
                      </a:r>
                      <a:endParaRPr lang="en-US" sz="1100" dirty="0"/>
                    </a:p>
                  </a:txBody>
                  <a:tcPr marL="91440" marR="91440" marT="45720" marB="45720">
                    <a:lnL w="6350" cap="flat" cmpd="sng" algn="ctr">
                      <a:solidFill>
                        <a:srgbClr val="DDE5EC"/>
                      </a:solidFill>
                      <a:prstDash val="solid"/>
                      <a:round/>
                      <a:headEnd type="none" w="med" len="med"/>
                      <a:tailEnd type="none" w="med" len="med"/>
                    </a:lnL>
                    <a:lnR w="6350" cap="flat" cmpd="sng" algn="ctr">
                      <a:solidFill>
                        <a:srgbClr val="DDE5EC"/>
                      </a:solidFill>
                      <a:prstDash val="solid"/>
                      <a:round/>
                      <a:headEnd type="none" w="med" len="med"/>
                      <a:tailEnd type="none" w="med" len="med"/>
                    </a:lnR>
                    <a:lnT w="6350" cap="flat" cmpd="sng" algn="ctr">
                      <a:solidFill>
                        <a:srgbClr val="DDE5EC"/>
                      </a:solidFill>
                      <a:prstDash val="solid"/>
                      <a:round/>
                      <a:headEnd type="none" w="med" len="med"/>
                      <a:tailEnd type="none" w="med" len="med"/>
                    </a:lnT>
                    <a:lnB w="6350" cap="flat" cmpd="sng" algn="ctr">
                      <a:solidFill>
                        <a:srgbClr val="DDE5EC"/>
                      </a:solidFill>
                      <a:prstDash val="solid"/>
                      <a:round/>
                      <a:headEnd type="none" w="med" len="med"/>
                      <a:tailEnd type="none" w="med" len="med"/>
                    </a:lnB>
                  </a:tcPr>
                </a:tc>
              </a:tr>
            </a:tbl>
          </a:graphicData>
        </a:graphic>
      </p:graphicFrame>
      <p:sp>
        <p:nvSpPr>
          <p:cNvPr id="5" name="k8.31.72"/>
          <p:cNvSpPr/>
          <p:nvPr/>
        </p:nvSpPr>
        <p:spPr>
          <a:xfrm>
            <a:off x="7589520" y="1572768"/>
            <a:ext cx="4023360" cy="2057400"/>
          </a:xfrm>
          <a:prstGeom prst="roundRect">
            <a:avLst>
              <a:gd name="adj" fmla="val 3556"/>
            </a:avLst>
          </a:prstGeom>
          <a:solidFill>
            <a:srgbClr val="16294C"/>
          </a:solidFill>
          <a:ln w="12700">
            <a:solidFill>
              <a:schemeClr val="accent4"/>
            </a:solidFill>
            <a:prstDash val="solid"/>
          </a:ln>
        </p:spPr>
      </p:sp>
      <p:sp>
        <p:nvSpPr>
          <p:cNvPr id="6" name="Text 3"/>
          <p:cNvSpPr txBox="1"/>
          <p:nvPr/>
        </p:nvSpPr>
        <p:spPr>
          <a:xfrm>
            <a:off x="7818120" y="1719072"/>
            <a:ext cx="3566160" cy="274320"/>
          </a:xfrm>
          <a:prstGeom prst="rect">
            <a:avLst/>
          </a:prstGeom>
          <a:noFill/>
          <a:ln/>
        </p:spPr>
        <p:txBody>
          <a:bodyPr wrap="square" lIns="0" tIns="0" rIns="0" bIns="0" rtlCol="0" anchor="ctr"/>
          <a:lstStyle/>
          <a:p>
            <a:pPr indent="0" marL="0">
              <a:buNone/>
            </a:pPr>
            <a:r>
              <a:rPr lang="en-US" sz="1250" b="1" dirty="0">
                <a:solidFill>
                  <a:srgbClr val="E0CCF2"/>
                </a:solidFill>
              </a:rPr>
              <a:t>Why</a:t>
            </a:r>
            <a:endParaRPr lang="en-US" sz="1250" dirty="0"/>
          </a:p>
        </p:txBody>
      </p:sp>
      <p:sp>
        <p:nvSpPr>
          <p:cNvPr id="7" name="Text 4"/>
          <p:cNvSpPr txBox="1"/>
          <p:nvPr/>
        </p:nvSpPr>
        <p:spPr>
          <a:xfrm>
            <a:off x="7818120" y="2011680"/>
            <a:ext cx="3566160" cy="1508760"/>
          </a:xfrm>
          <a:prstGeom prst="rect">
            <a:avLst/>
          </a:prstGeom>
          <a:noFill/>
          <a:ln/>
        </p:spPr>
        <p:txBody>
          <a:bodyPr wrap="square" lIns="0" tIns="0" rIns="0" bIns="0" rtlCol="0" anchor="ctr"/>
          <a:lstStyle/>
          <a:p>
            <a:pPr indent="0" marL="0">
              <a:buNone/>
            </a:pPr>
            <a:r>
              <a:rPr lang="en-US" sz="1100" dirty="0">
                <a:solidFill>
                  <a:srgbClr val="DCE7F5"/>
                </a:solidFill>
              </a:rPr>
              <a:t>Almost everyone in that column is from the United States, so a rare country is genuinely improbable given the row. The model is CORRECT that it is surprising. The cell is also completely clean.</a:t>
            </a:r>
            <a:endParaRPr lang="en-US" sz="1100" dirty="0"/>
          </a:p>
        </p:txBody>
      </p:sp>
      <p:sp>
        <p:nvSpPr>
          <p:cNvPr id="8" name="k0.74.2"/>
          <p:cNvSpPr/>
          <p:nvPr/>
        </p:nvSpPr>
        <p:spPr>
          <a:xfrm>
            <a:off x="640080" y="3840480"/>
            <a:ext cx="10972800" cy="1874520"/>
          </a:xfrm>
          <a:prstGeom prst="roundRect">
            <a:avLst>
              <a:gd name="adj" fmla="val 3902"/>
            </a:avLst>
          </a:prstGeom>
          <a:solidFill>
            <a:srgbClr val="1D3A6B"/>
          </a:solidFill>
          <a:ln w="12700">
            <a:solidFill>
              <a:schemeClr val="accent4"/>
            </a:solidFill>
            <a:prstDash val="solid"/>
          </a:ln>
        </p:spPr>
      </p:sp>
      <p:sp>
        <p:nvSpPr>
          <p:cNvPr id="9" name="Text 6"/>
          <p:cNvSpPr txBox="1"/>
          <p:nvPr/>
        </p:nvSpPr>
        <p:spPr>
          <a:xfrm>
            <a:off x="914400" y="4005072"/>
            <a:ext cx="10424160" cy="292608"/>
          </a:xfrm>
          <a:prstGeom prst="rect">
            <a:avLst/>
          </a:prstGeom>
          <a:noFill/>
          <a:ln/>
        </p:spPr>
        <p:txBody>
          <a:bodyPr wrap="square" lIns="0" tIns="0" rIns="0" bIns="0" rtlCol="0" anchor="ctr"/>
          <a:lstStyle/>
          <a:p>
            <a:pPr indent="0" marL="0">
              <a:buNone/>
            </a:pPr>
            <a:r>
              <a:rPr lang="en-US" sz="1350" b="1" dirty="0">
                <a:solidFill>
                  <a:srgbClr val="E0CCF2"/>
                </a:solidFill>
              </a:rPr>
              <a:t>Rarity is not corruption</a:t>
            </a:r>
            <a:endParaRPr lang="en-US" sz="1350" dirty="0"/>
          </a:p>
        </p:txBody>
      </p:sp>
      <p:sp>
        <p:nvSpPr>
          <p:cNvPr id="10" name="Text 7"/>
          <p:cNvSpPr txBox="1"/>
          <p:nvPr/>
        </p:nvSpPr>
        <p:spPr>
          <a:xfrm>
            <a:off x="914400" y="4315968"/>
            <a:ext cx="10424160" cy="1325880"/>
          </a:xfrm>
          <a:prstGeom prst="rect">
            <a:avLst/>
          </a:prstGeom>
          <a:noFill/>
          <a:ln/>
        </p:spPr>
        <p:txBody>
          <a:bodyPr wrap="square" lIns="0" tIns="0" rIns="0" bIns="0" rtlCol="0" anchor="ctr"/>
          <a:lstStyle/>
          <a:p>
            <a:pPr indent="0" marL="0">
              <a:buNone/>
            </a:pPr>
            <a:r>
              <a:rPr lang="en-US" sz="1150" dirty="0">
                <a:solidFill>
                  <a:srgbClr val="DCE7F5"/>
                </a:solidFill>
              </a:rPr>
              <a:t>Our detector ranks corruption well WITHIN a column (PR-AUC 0.6873 on the right one) but has no idea WHICH column is worth examining. These are two different capabilities and we have only the first.</a:t>
            </a:r>
            <a:endParaRPr lang="en-US" sz="1150" dirty="0"/>
          </a:p>
          <a:p>
            <a:pPr indent="0" marL="0">
              <a:buNone/>
            </a:pPr>
            <a:endParaRPr lang="en-US" sz="1150" dirty="0"/>
          </a:p>
          <a:p>
            <a:pPr indent="0" marL="0">
              <a:buNone/>
            </a:pPr>
            <a:r>
              <a:rPr lang="en-US" sz="1150" dirty="0">
                <a:solidFill>
                  <a:srgbClr val="DCE7F5"/>
                </a:solidFill>
              </a:rPr>
              <a:t>This also explains Wave 3: strategies that queried the most-suspicious cells found zero errors, because the top of the ranking was never the tampered column. The literature confirms the difficulty — no published system separates rare-but-valid from corrupted using one table and no labels.</a:t>
            </a:r>
            <a:endParaRPr lang="en-US" sz="1150" dirty="0"/>
          </a:p>
        </p:txBody>
      </p:sp>
      <p:sp>
        <p:nvSpPr>
          <p:cNvPr id="11"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Experimental rigour</a:t>
            </a:r>
            <a:endParaRPr lang="en-US" sz="2800" dirty="0"/>
          </a:p>
        </p:txBody>
      </p:sp>
      <p:sp>
        <p:nvSpPr>
          <p:cNvPr id="3" name="k0.71.25"/>
          <p:cNvSpPr/>
          <p:nvPr/>
        </p:nvSpPr>
        <p:spPr>
          <a:xfrm>
            <a:off x="640080" y="1143000"/>
            <a:ext cx="2606040" cy="1234440"/>
          </a:xfrm>
          <a:prstGeom prst="roundRect">
            <a:avLst>
              <a:gd name="adj" fmla="val 5926"/>
            </a:avLst>
          </a:prstGeom>
          <a:solidFill>
            <a:schemeClr val="bg2"/>
          </a:solidFill>
          <a:ln w="9525">
            <a:solidFill>
              <a:srgbClr val="DDE5EC"/>
            </a:solidFill>
            <a:prstDash val="solid"/>
          </a:ln>
        </p:spPr>
      </p:sp>
      <p:sp>
        <p:nvSpPr>
          <p:cNvPr id="4" name="Text 2"/>
          <p:cNvSpPr txBox="1"/>
          <p:nvPr/>
        </p:nvSpPr>
        <p:spPr>
          <a:xfrm>
            <a:off x="640080" y="1280160"/>
            <a:ext cx="2606040" cy="640080"/>
          </a:xfrm>
          <a:prstGeom prst="rect">
            <a:avLst/>
          </a:prstGeom>
          <a:noFill/>
          <a:ln/>
        </p:spPr>
        <p:txBody>
          <a:bodyPr wrap="square" lIns="0" tIns="0" rIns="0" bIns="0" rtlCol="0" anchor="ctr"/>
          <a:lstStyle/>
          <a:p>
            <a:pPr algn="ctr" indent="0" marL="0">
              <a:buNone/>
            </a:pPr>
            <a:r>
              <a:rPr lang="en-US" sz="3400" b="1" dirty="0">
                <a:solidFill>
                  <a:schemeClr val="accent6"/>
                </a:solidFill>
              </a:rPr>
              <a:t>~1,850</a:t>
            </a:r>
            <a:endParaRPr lang="en-US" sz="3400" dirty="0"/>
          </a:p>
        </p:txBody>
      </p:sp>
      <p:sp>
        <p:nvSpPr>
          <p:cNvPr id="5" name="Text 3"/>
          <p:cNvSpPr txBox="1"/>
          <p:nvPr/>
        </p:nvSpPr>
        <p:spPr>
          <a:xfrm>
            <a:off x="640080" y="1901952"/>
            <a:ext cx="2606040" cy="365760"/>
          </a:xfrm>
          <a:prstGeom prst="rect">
            <a:avLst/>
          </a:prstGeom>
          <a:noFill/>
          <a:ln/>
        </p:spPr>
        <p:txBody>
          <a:bodyPr wrap="square" lIns="0" tIns="0" rIns="0" bIns="0" rtlCol="0" anchor="ctr"/>
          <a:lstStyle/>
          <a:p>
            <a:pPr algn="ctr" indent="0" marL="0">
              <a:buNone/>
            </a:pPr>
            <a:r>
              <a:rPr lang="en-US" sz="1050" dirty="0">
                <a:solidFill>
                  <a:schemeClr val="accent3"/>
                </a:solidFill>
              </a:rPr>
              <a:t>automated tests</a:t>
            </a:r>
            <a:endParaRPr lang="en-US" sz="1050" dirty="0"/>
          </a:p>
        </p:txBody>
      </p:sp>
      <p:sp>
        <p:nvSpPr>
          <p:cNvPr id="6" name="k3.78000000000000021.25"/>
          <p:cNvSpPr/>
          <p:nvPr/>
        </p:nvSpPr>
        <p:spPr>
          <a:xfrm>
            <a:off x="3456432" y="1143000"/>
            <a:ext cx="2606040" cy="1234440"/>
          </a:xfrm>
          <a:prstGeom prst="roundRect">
            <a:avLst>
              <a:gd name="adj" fmla="val 5926"/>
            </a:avLst>
          </a:prstGeom>
          <a:solidFill>
            <a:schemeClr val="bg2"/>
          </a:solidFill>
          <a:ln w="9525">
            <a:solidFill>
              <a:srgbClr val="DDE5EC"/>
            </a:solidFill>
            <a:prstDash val="solid"/>
          </a:ln>
        </p:spPr>
      </p:sp>
      <p:sp>
        <p:nvSpPr>
          <p:cNvPr id="7" name="Text 5"/>
          <p:cNvSpPr txBox="1"/>
          <p:nvPr/>
        </p:nvSpPr>
        <p:spPr>
          <a:xfrm>
            <a:off x="3456432" y="1280160"/>
            <a:ext cx="2606040" cy="640080"/>
          </a:xfrm>
          <a:prstGeom prst="rect">
            <a:avLst/>
          </a:prstGeom>
          <a:noFill/>
          <a:ln/>
        </p:spPr>
        <p:txBody>
          <a:bodyPr wrap="square" lIns="0" tIns="0" rIns="0" bIns="0" rtlCol="0" anchor="ctr"/>
          <a:lstStyle/>
          <a:p>
            <a:pPr algn="ctr" indent="0" marL="0">
              <a:buNone/>
            </a:pPr>
            <a:r>
              <a:rPr lang="en-US" sz="3400" b="1" dirty="0">
                <a:solidFill>
                  <a:schemeClr val="accent1"/>
                </a:solidFill>
              </a:rPr>
              <a:t>13</a:t>
            </a:r>
            <a:endParaRPr lang="en-US" sz="3400" dirty="0"/>
          </a:p>
        </p:txBody>
      </p:sp>
      <p:sp>
        <p:nvSpPr>
          <p:cNvPr id="8" name="Text 6"/>
          <p:cNvSpPr txBox="1"/>
          <p:nvPr/>
        </p:nvSpPr>
        <p:spPr>
          <a:xfrm>
            <a:off x="3456432" y="1901952"/>
            <a:ext cx="2606040" cy="365760"/>
          </a:xfrm>
          <a:prstGeom prst="rect">
            <a:avLst/>
          </a:prstGeom>
          <a:noFill/>
          <a:ln/>
        </p:spPr>
        <p:txBody>
          <a:bodyPr wrap="square" lIns="0" tIns="0" rIns="0" bIns="0" rtlCol="0" anchor="ctr"/>
          <a:lstStyle/>
          <a:p>
            <a:pPr algn="ctr" indent="0" marL="0">
              <a:buNone/>
            </a:pPr>
            <a:r>
              <a:rPr lang="en-US" sz="1050" dirty="0">
                <a:solidFill>
                  <a:schemeClr val="accent3"/>
                </a:solidFill>
              </a:rPr>
              <a:t>phases complete</a:t>
            </a:r>
            <a:endParaRPr lang="en-US" sz="1050" dirty="0"/>
          </a:p>
        </p:txBody>
      </p:sp>
      <p:sp>
        <p:nvSpPr>
          <p:cNvPr id="9" name="k6.861.25"/>
          <p:cNvSpPr/>
          <p:nvPr/>
        </p:nvSpPr>
        <p:spPr>
          <a:xfrm>
            <a:off x="6272784" y="1143000"/>
            <a:ext cx="2606040" cy="1234440"/>
          </a:xfrm>
          <a:prstGeom prst="roundRect">
            <a:avLst>
              <a:gd name="adj" fmla="val 5926"/>
            </a:avLst>
          </a:prstGeom>
          <a:solidFill>
            <a:schemeClr val="bg2"/>
          </a:solidFill>
          <a:ln w="9525">
            <a:solidFill>
              <a:srgbClr val="DDE5EC"/>
            </a:solidFill>
            <a:prstDash val="solid"/>
          </a:ln>
        </p:spPr>
      </p:sp>
      <p:sp>
        <p:nvSpPr>
          <p:cNvPr id="10" name="Text 8"/>
          <p:cNvSpPr txBox="1"/>
          <p:nvPr/>
        </p:nvSpPr>
        <p:spPr>
          <a:xfrm>
            <a:off x="6272784" y="1280160"/>
            <a:ext cx="2606040" cy="640080"/>
          </a:xfrm>
          <a:prstGeom prst="rect">
            <a:avLst/>
          </a:prstGeom>
          <a:noFill/>
          <a:ln/>
        </p:spPr>
        <p:txBody>
          <a:bodyPr wrap="square" lIns="0" tIns="0" rIns="0" bIns="0" rtlCol="0" anchor="ctr"/>
          <a:lstStyle/>
          <a:p>
            <a:pPr algn="ctr" indent="0" marL="0">
              <a:buNone/>
            </a:pPr>
            <a:r>
              <a:rPr lang="en-US" sz="3400" b="1" dirty="0">
                <a:solidFill>
                  <a:schemeClr val="accent4"/>
                </a:solidFill>
              </a:rPr>
              <a:t>20</a:t>
            </a:r>
            <a:endParaRPr lang="en-US" sz="3400" dirty="0"/>
          </a:p>
        </p:txBody>
      </p:sp>
      <p:sp>
        <p:nvSpPr>
          <p:cNvPr id="11" name="Text 9"/>
          <p:cNvSpPr txBox="1"/>
          <p:nvPr/>
        </p:nvSpPr>
        <p:spPr>
          <a:xfrm>
            <a:off x="6272784" y="1901952"/>
            <a:ext cx="2606040" cy="365760"/>
          </a:xfrm>
          <a:prstGeom prst="rect">
            <a:avLst/>
          </a:prstGeom>
          <a:noFill/>
          <a:ln/>
        </p:spPr>
        <p:txBody>
          <a:bodyPr wrap="square" lIns="0" tIns="0" rIns="0" bIns="0" rtlCol="0" anchor="ctr"/>
          <a:lstStyle/>
          <a:p>
            <a:pPr algn="ctr" indent="0" marL="0">
              <a:buNone/>
            </a:pPr>
            <a:r>
              <a:rPr lang="en-US" sz="1050" dirty="0">
                <a:solidFill>
                  <a:schemeClr val="accent3"/>
                </a:solidFill>
              </a:rPr>
              <a:t>repeated splits</a:t>
            </a:r>
            <a:endParaRPr lang="en-US" sz="1050" dirty="0"/>
          </a:p>
        </p:txBody>
      </p:sp>
      <p:sp>
        <p:nvSpPr>
          <p:cNvPr id="12" name="k9.941.25"/>
          <p:cNvSpPr/>
          <p:nvPr/>
        </p:nvSpPr>
        <p:spPr>
          <a:xfrm>
            <a:off x="9089136" y="1143000"/>
            <a:ext cx="2606040" cy="1234440"/>
          </a:xfrm>
          <a:prstGeom prst="roundRect">
            <a:avLst>
              <a:gd name="adj" fmla="val 5926"/>
            </a:avLst>
          </a:prstGeom>
          <a:solidFill>
            <a:schemeClr val="bg2"/>
          </a:solidFill>
          <a:ln w="9525">
            <a:solidFill>
              <a:srgbClr val="DDE5EC"/>
            </a:solidFill>
            <a:prstDash val="solid"/>
          </a:ln>
        </p:spPr>
      </p:sp>
      <p:sp>
        <p:nvSpPr>
          <p:cNvPr id="13" name="Text 11"/>
          <p:cNvSpPr txBox="1"/>
          <p:nvPr/>
        </p:nvSpPr>
        <p:spPr>
          <a:xfrm>
            <a:off x="9089136" y="1280160"/>
            <a:ext cx="2606040" cy="640080"/>
          </a:xfrm>
          <a:prstGeom prst="rect">
            <a:avLst/>
          </a:prstGeom>
          <a:noFill/>
          <a:ln/>
        </p:spPr>
        <p:txBody>
          <a:bodyPr wrap="square" lIns="0" tIns="0" rIns="0" bIns="0" rtlCol="0" anchor="ctr"/>
          <a:lstStyle/>
          <a:p>
            <a:pPr algn="ctr" indent="0" marL="0">
              <a:buNone/>
            </a:pPr>
            <a:r>
              <a:rPr lang="en-US" sz="3400" b="1" dirty="0">
                <a:solidFill>
                  <a:schemeClr val="accent2"/>
                </a:solidFill>
              </a:rPr>
              <a:t>0</a:t>
            </a:r>
            <a:endParaRPr lang="en-US" sz="3400" dirty="0"/>
          </a:p>
        </p:txBody>
      </p:sp>
      <p:sp>
        <p:nvSpPr>
          <p:cNvPr id="14" name="Text 12"/>
          <p:cNvSpPr txBox="1"/>
          <p:nvPr/>
        </p:nvSpPr>
        <p:spPr>
          <a:xfrm>
            <a:off x="9089136" y="1901952"/>
            <a:ext cx="2606040" cy="365760"/>
          </a:xfrm>
          <a:prstGeom prst="rect">
            <a:avLst/>
          </a:prstGeom>
          <a:noFill/>
          <a:ln/>
        </p:spPr>
        <p:txBody>
          <a:bodyPr wrap="square" lIns="0" tIns="0" rIns="0" bIns="0" rtlCol="0" anchor="ctr"/>
          <a:lstStyle/>
          <a:p>
            <a:pPr algn="ctr" indent="0" marL="0">
              <a:buNone/>
            </a:pPr>
            <a:r>
              <a:rPr lang="en-US" sz="1050" dirty="0">
                <a:solidFill>
                  <a:schemeClr val="accent3"/>
                </a:solidFill>
              </a:rPr>
              <a:t>numbers hand-entered</a:t>
            </a:r>
            <a:endParaRPr lang="en-US" sz="1050" dirty="0"/>
          </a:p>
        </p:txBody>
      </p:sp>
      <p:sp>
        <p:nvSpPr>
          <p:cNvPr id="15" name="k0.72.85"/>
          <p:cNvSpPr/>
          <p:nvPr/>
        </p:nvSpPr>
        <p:spPr>
          <a:xfrm>
            <a:off x="640080" y="2606040"/>
            <a:ext cx="5349240" cy="2377440"/>
          </a:xfrm>
          <a:prstGeom prst="roundRect">
            <a:avLst>
              <a:gd name="adj" fmla="val 3077"/>
            </a:avLst>
          </a:prstGeom>
          <a:solidFill>
            <a:schemeClr val="bg2"/>
          </a:solidFill>
          <a:ln w="9525">
            <a:solidFill>
              <a:srgbClr val="DDE5EC"/>
            </a:solidFill>
            <a:prstDash val="solid"/>
          </a:ln>
        </p:spPr>
      </p:sp>
      <p:sp>
        <p:nvSpPr>
          <p:cNvPr id="16" name="Text 14"/>
          <p:cNvSpPr txBox="1"/>
          <p:nvPr/>
        </p:nvSpPr>
        <p:spPr>
          <a:xfrm>
            <a:off x="914400" y="2761488"/>
            <a:ext cx="4800600" cy="274320"/>
          </a:xfrm>
          <a:prstGeom prst="rect">
            <a:avLst/>
          </a:prstGeom>
          <a:noFill/>
          <a:ln/>
        </p:spPr>
        <p:txBody>
          <a:bodyPr wrap="square" lIns="0" tIns="0" rIns="0" bIns="0" rtlCol="0" anchor="ctr"/>
          <a:lstStyle/>
          <a:p>
            <a:pPr indent="0" marL="0">
              <a:buNone/>
            </a:pPr>
            <a:r>
              <a:rPr lang="en-US" sz="1250" b="1" dirty="0">
                <a:solidFill>
                  <a:schemeClr val="tx1"/>
                </a:solidFill>
              </a:rPr>
              <a:t>How results are produced</a:t>
            </a:r>
            <a:endParaRPr lang="en-US" sz="1250" dirty="0"/>
          </a:p>
        </p:txBody>
      </p:sp>
      <p:sp>
        <p:nvSpPr>
          <p:cNvPr id="17" name="Text 15"/>
          <p:cNvSpPr txBox="1"/>
          <p:nvPr/>
        </p:nvSpPr>
        <p:spPr>
          <a:xfrm>
            <a:off x="914400" y="3108960"/>
            <a:ext cx="4800600" cy="173736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One command regenerates every table and figure</a:t>
            </a:r>
            <a:endParaRPr lang="en-US" sz="1100" dirty="0"/>
          </a:p>
          <a:p>
            <a:pPr marL="342900" indent="-342900">
              <a:spcAft>
                <a:spcPts val="600"/>
              </a:spcAft>
              <a:buSzPct val="100000"/>
              <a:buChar char="•"/>
            </a:pPr>
            <a:r>
              <a:rPr lang="en-US" sz="1100" dirty="0">
                <a:solidFill>
                  <a:schemeClr val="tx1"/>
                </a:solidFill>
              </a:rPr>
              <a:t>Deterministic — re-running gives byte-identical output</a:t>
            </a:r>
            <a:endParaRPr lang="en-US" sz="1100" dirty="0"/>
          </a:p>
          <a:p>
            <a:pPr marL="342900" indent="-342900">
              <a:spcAft>
                <a:spcPts val="600"/>
              </a:spcAft>
              <a:buSzPct val="100000"/>
              <a:buChar char="•"/>
            </a:pPr>
            <a:r>
              <a:rPr lang="en-US" sz="1100" dirty="0">
                <a:solidFill>
                  <a:schemeClr val="tx1"/>
                </a:solidFill>
              </a:rPr>
              <a:t>Provenance recorded: git commit, seeds, library versions</a:t>
            </a:r>
            <a:endParaRPr lang="en-US" sz="1100" dirty="0"/>
          </a:p>
          <a:p>
            <a:pPr marL="342900" indent="-342900">
              <a:spcAft>
                <a:spcPts val="600"/>
              </a:spcAft>
              <a:buSzPct val="100000"/>
              <a:buChar char="•"/>
            </a:pPr>
            <a:r>
              <a:rPr lang="en-US" sz="1100" dirty="0">
                <a:solidFill>
                  <a:schemeClr val="tx1"/>
                </a:solidFill>
              </a:rPr>
              <a:t>Repeated splits with bootstrap confidence intervals</a:t>
            </a:r>
            <a:endParaRPr lang="en-US" sz="1100" dirty="0"/>
          </a:p>
          <a:p>
            <a:pPr marL="342900" indent="-342900">
              <a:spcAft>
                <a:spcPts val="600"/>
              </a:spcAft>
              <a:buSzPct val="100000"/>
              <a:buChar char="•"/>
            </a:pPr>
            <a:r>
              <a:rPr lang="en-US" sz="1100" dirty="0">
                <a:solidFill>
                  <a:schemeClr val="tx1"/>
                </a:solidFill>
              </a:rPr>
              <a:t>Undefined metrics print “—”, never 0.0</a:t>
            </a:r>
            <a:endParaRPr lang="en-US" sz="1100" dirty="0"/>
          </a:p>
        </p:txBody>
      </p:sp>
      <p:sp>
        <p:nvSpPr>
          <p:cNvPr id="18" name="k6.852.85"/>
          <p:cNvSpPr/>
          <p:nvPr/>
        </p:nvSpPr>
        <p:spPr>
          <a:xfrm>
            <a:off x="6263640" y="2606040"/>
            <a:ext cx="5349240" cy="2377440"/>
          </a:xfrm>
          <a:prstGeom prst="roundRect">
            <a:avLst>
              <a:gd name="adj" fmla="val 3077"/>
            </a:avLst>
          </a:prstGeom>
          <a:solidFill>
            <a:srgbClr val="EAF3F8"/>
          </a:solidFill>
          <a:ln w="9525">
            <a:solidFill>
              <a:srgbClr val="DDE5EC"/>
            </a:solidFill>
            <a:prstDash val="solid"/>
          </a:ln>
        </p:spPr>
      </p:sp>
      <p:sp>
        <p:nvSpPr>
          <p:cNvPr id="19" name="Text 17"/>
          <p:cNvSpPr txBox="1"/>
          <p:nvPr/>
        </p:nvSpPr>
        <p:spPr>
          <a:xfrm>
            <a:off x="6537960" y="2761488"/>
            <a:ext cx="4800600" cy="274320"/>
          </a:xfrm>
          <a:prstGeom prst="rect">
            <a:avLst/>
          </a:prstGeom>
          <a:noFill/>
          <a:ln/>
        </p:spPr>
        <p:txBody>
          <a:bodyPr wrap="square" lIns="0" tIns="0" rIns="0" bIns="0" rtlCol="0" anchor="ctr"/>
          <a:lstStyle/>
          <a:p>
            <a:pPr indent="0" marL="0">
              <a:buNone/>
            </a:pPr>
            <a:r>
              <a:rPr lang="en-US" sz="1250" b="1" dirty="0">
                <a:solidFill>
                  <a:schemeClr val="tx1"/>
                </a:solidFill>
              </a:rPr>
              <a:t>Tests designed to fail</a:t>
            </a:r>
            <a:endParaRPr lang="en-US" sz="1250" dirty="0"/>
          </a:p>
        </p:txBody>
      </p:sp>
      <p:sp>
        <p:nvSpPr>
          <p:cNvPr id="20" name="Text 18"/>
          <p:cNvSpPr txBox="1"/>
          <p:nvPr/>
        </p:nvSpPr>
        <p:spPr>
          <a:xfrm>
            <a:off x="6537960" y="3108960"/>
            <a:ext cx="4800600" cy="173736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Expected answers re-derived independently in the test</a:t>
            </a:r>
            <a:endParaRPr lang="en-US" sz="1100" dirty="0"/>
          </a:p>
          <a:p>
            <a:pPr marL="342900" indent="-342900">
              <a:spcAft>
                <a:spcPts val="600"/>
              </a:spcAft>
              <a:buSzPct val="100000"/>
              <a:buChar char="•"/>
            </a:pPr>
            <a:r>
              <a:rPr lang="en-US" sz="1100" dirty="0">
                <a:solidFill>
                  <a:schemeClr val="tx1"/>
                </a:solidFill>
              </a:rPr>
              <a:t>Mutation-tested — code deliberately broken to confirm tests catch it</a:t>
            </a:r>
            <a:endParaRPr lang="en-US" sz="1100" dirty="0"/>
          </a:p>
          <a:p>
            <a:pPr marL="342900" indent="-342900">
              <a:spcAft>
                <a:spcPts val="600"/>
              </a:spcAft>
              <a:buSzPct val="100000"/>
              <a:buChar char="•"/>
            </a:pPr>
            <a:r>
              <a:rPr lang="en-US" sz="1100" dirty="0">
                <a:solidFill>
                  <a:schemeClr val="tx1"/>
                </a:solidFill>
              </a:rPr>
              <a:t>Leakage counterfactual: inverting hidden labels must change nothing</a:t>
            </a:r>
            <a:endParaRPr lang="en-US" sz="1100" dirty="0"/>
          </a:p>
          <a:p>
            <a:pPr marL="342900" indent="-342900">
              <a:spcAft>
                <a:spcPts val="600"/>
              </a:spcAft>
              <a:buSzPct val="100000"/>
              <a:buChar char="•"/>
            </a:pPr>
            <a:r>
              <a:rPr lang="en-US" sz="1100" dirty="0">
                <a:solidFill>
                  <a:schemeClr val="tx1"/>
                </a:solidFill>
              </a:rPr>
              <a:t>Decision boundaries verified on a 40,401-point grid</a:t>
            </a:r>
            <a:endParaRPr lang="en-US" sz="1100" dirty="0"/>
          </a:p>
          <a:p>
            <a:pPr marL="342900" indent="-342900">
              <a:spcAft>
                <a:spcPts val="600"/>
              </a:spcAft>
              <a:buSzPct val="100000"/>
              <a:buChar char="•"/>
            </a:pPr>
            <a:r>
              <a:rPr lang="en-US" sz="1100" dirty="0">
                <a:solidFill>
                  <a:schemeClr val="tx1"/>
                </a:solidFill>
              </a:rPr>
              <a:t>Hypotheses pre-registered before measurement</a:t>
            </a:r>
            <a:endParaRPr lang="en-US" sz="1100" dirty="0"/>
          </a:p>
        </p:txBody>
      </p:sp>
      <p:sp>
        <p:nvSpPr>
          <p:cNvPr id="21" name="k0.75.6"/>
          <p:cNvSpPr/>
          <p:nvPr/>
        </p:nvSpPr>
        <p:spPr>
          <a:xfrm>
            <a:off x="640080" y="5120640"/>
            <a:ext cx="10972800" cy="685800"/>
          </a:xfrm>
          <a:prstGeom prst="roundRect">
            <a:avLst>
              <a:gd name="adj" fmla="val 10667"/>
            </a:avLst>
          </a:prstGeom>
          <a:solidFill>
            <a:srgbClr val="ECF7F1"/>
          </a:solidFill>
          <a:ln w="12700">
            <a:solidFill>
              <a:schemeClr val="accent1"/>
            </a:solidFill>
            <a:prstDash val="solid"/>
          </a:ln>
        </p:spPr>
      </p:sp>
      <p:sp>
        <p:nvSpPr>
          <p:cNvPr id="22" name="Text 20"/>
          <p:cNvSpPr txBox="1"/>
          <p:nvPr/>
        </p:nvSpPr>
        <p:spPr>
          <a:xfrm>
            <a:off x="914400" y="5248656"/>
            <a:ext cx="10424160" cy="457200"/>
          </a:xfrm>
          <a:prstGeom prst="rect">
            <a:avLst/>
          </a:prstGeom>
          <a:noFill/>
          <a:ln/>
        </p:spPr>
        <p:txBody>
          <a:bodyPr wrap="square" lIns="0" tIns="0" rIns="0" bIns="0" rtlCol="0" anchor="ctr"/>
          <a:lstStyle/>
          <a:p>
            <a:pPr indent="0" marL="0">
              <a:buNone/>
            </a:pPr>
            <a:r>
              <a:rPr lang="en-US" sz="1150" i="1" dirty="0">
                <a:solidFill>
                  <a:srgbClr val="1F6B44"/>
                </a:solidFill>
              </a:rPr>
              <a:t>This discipline is why two previously reported claims were caught as noise before publication rather than after.</a:t>
            </a:r>
            <a:endParaRPr lang="en-US" sz="1150" dirty="0"/>
          </a:p>
        </p:txBody>
      </p:sp>
      <p:sp>
        <p:nvSpPr>
          <p:cNvPr id="23"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bg1"/>
                </a:solidFill>
              </a:rPr>
              <a:t>Limitations, stated plainly</a:t>
            </a:r>
            <a:endParaRPr lang="en-US" sz="2800" dirty="0"/>
          </a:p>
        </p:txBody>
      </p:sp>
      <p:sp>
        <p:nvSpPr>
          <p:cNvPr id="3" name="l0"/>
          <p:cNvSpPr/>
          <p:nvPr/>
        </p:nvSpPr>
        <p:spPr>
          <a:xfrm>
            <a:off x="640080" y="1097280"/>
            <a:ext cx="10972800" cy="868680"/>
          </a:xfrm>
          <a:prstGeom prst="roundRect">
            <a:avLst>
              <a:gd name="adj" fmla="val 7368"/>
            </a:avLst>
          </a:prstGeom>
          <a:solidFill>
            <a:srgbClr val="16294C"/>
          </a:solidFill>
          <a:ln w="12700">
            <a:solidFill>
              <a:schemeClr val="accent5"/>
            </a:solidFill>
            <a:prstDash val="solid"/>
          </a:ln>
        </p:spPr>
      </p:sp>
      <p:sp>
        <p:nvSpPr>
          <p:cNvPr id="4" name="ld0"/>
          <p:cNvSpPr/>
          <p:nvPr/>
        </p:nvSpPr>
        <p:spPr>
          <a:xfrm>
            <a:off x="914400" y="1335024"/>
            <a:ext cx="365760" cy="365760"/>
          </a:xfrm>
          <a:prstGeom prst="ellipse">
            <a:avLst/>
          </a:prstGeom>
          <a:solidFill>
            <a:schemeClr val="accent5"/>
          </a:solidFill>
          <a:ln/>
        </p:spPr>
      </p:sp>
      <p:sp>
        <p:nvSpPr>
          <p:cNvPr id="5" name="Text 3"/>
          <p:cNvSpPr txBox="1"/>
          <p:nvPr/>
        </p:nvSpPr>
        <p:spPr>
          <a:xfrm>
            <a:off x="914400" y="13350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Text 4"/>
          <p:cNvSpPr txBox="1"/>
          <p:nvPr/>
        </p:nvSpPr>
        <p:spPr>
          <a:xfrm>
            <a:off x="1463040" y="1170432"/>
            <a:ext cx="9875520" cy="292608"/>
          </a:xfrm>
          <a:prstGeom prst="rect">
            <a:avLst/>
          </a:prstGeom>
          <a:noFill/>
          <a:ln/>
        </p:spPr>
        <p:txBody>
          <a:bodyPr wrap="square" lIns="0" tIns="0" rIns="0" bIns="0" rtlCol="0" anchor="ctr"/>
          <a:lstStyle/>
          <a:p>
            <a:pPr indent="0" marL="0">
              <a:buNone/>
            </a:pPr>
            <a:r>
              <a:rPr lang="en-US" sz="1250" b="1" dirty="0">
                <a:solidFill>
                  <a:srgbClr val="FFD9D4"/>
                </a:solidFill>
              </a:rPr>
              <a:t>Evidence concentrated in one dataset</a:t>
            </a:r>
            <a:endParaRPr lang="en-US" sz="1250" dirty="0"/>
          </a:p>
        </p:txBody>
      </p:sp>
      <p:sp>
        <p:nvSpPr>
          <p:cNvPr id="7" name="Text 5"/>
          <p:cNvSpPr txBox="1"/>
          <p:nvPr/>
        </p:nvSpPr>
        <p:spPr>
          <a:xfrm>
            <a:off x="1463040" y="1481328"/>
            <a:ext cx="9875520" cy="457200"/>
          </a:xfrm>
          <a:prstGeom prst="rect">
            <a:avLst/>
          </a:prstGeom>
          <a:noFill/>
          <a:ln/>
        </p:spPr>
        <p:txBody>
          <a:bodyPr wrap="square" lIns="0" tIns="0" rIns="0" bIns="0" rtlCol="0" anchor="ctr"/>
          <a:lstStyle/>
          <a:p>
            <a:pPr indent="0" marL="0">
              <a:buNone/>
            </a:pPr>
            <a:r>
              <a:rPr lang="en-US" sz="1050" dirty="0">
                <a:solidFill>
                  <a:srgbClr val="C3D2E6"/>
                </a:solidFill>
              </a:rPr>
              <a:t>Adult’s corruption is invisible to detection; Smart Factory’s is entirely destroyed values. Breast Cancer is the only dataset exercising the full pipeline across corruption types.</a:t>
            </a:r>
            <a:endParaRPr lang="en-US" sz="1050" dirty="0"/>
          </a:p>
        </p:txBody>
      </p:sp>
      <p:sp>
        <p:nvSpPr>
          <p:cNvPr id="8" name="l1"/>
          <p:cNvSpPr/>
          <p:nvPr/>
        </p:nvSpPr>
        <p:spPr>
          <a:xfrm>
            <a:off x="640080" y="2084832"/>
            <a:ext cx="10972800" cy="868680"/>
          </a:xfrm>
          <a:prstGeom prst="roundRect">
            <a:avLst>
              <a:gd name="adj" fmla="val 7368"/>
            </a:avLst>
          </a:prstGeom>
          <a:solidFill>
            <a:srgbClr val="16294C"/>
          </a:solidFill>
          <a:ln w="12700">
            <a:solidFill>
              <a:schemeClr val="accent5"/>
            </a:solidFill>
            <a:prstDash val="solid"/>
          </a:ln>
        </p:spPr>
      </p:sp>
      <p:sp>
        <p:nvSpPr>
          <p:cNvPr id="9" name="ld1"/>
          <p:cNvSpPr/>
          <p:nvPr/>
        </p:nvSpPr>
        <p:spPr>
          <a:xfrm>
            <a:off x="914400" y="2322576"/>
            <a:ext cx="365760" cy="365760"/>
          </a:xfrm>
          <a:prstGeom prst="ellipse">
            <a:avLst/>
          </a:prstGeom>
          <a:solidFill>
            <a:schemeClr val="accent5"/>
          </a:solidFill>
          <a:ln/>
        </p:spPr>
      </p:sp>
      <p:sp>
        <p:nvSpPr>
          <p:cNvPr id="10" name="Text 8"/>
          <p:cNvSpPr txBox="1"/>
          <p:nvPr/>
        </p:nvSpPr>
        <p:spPr>
          <a:xfrm>
            <a:off x="914400" y="23225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9"/>
          <p:cNvSpPr txBox="1"/>
          <p:nvPr/>
        </p:nvSpPr>
        <p:spPr>
          <a:xfrm>
            <a:off x="1463040" y="2157984"/>
            <a:ext cx="9875520" cy="292608"/>
          </a:xfrm>
          <a:prstGeom prst="rect">
            <a:avLst/>
          </a:prstGeom>
          <a:noFill/>
          <a:ln/>
        </p:spPr>
        <p:txBody>
          <a:bodyPr wrap="square" lIns="0" tIns="0" rIns="0" bIns="0" rtlCol="0" anchor="ctr"/>
          <a:lstStyle/>
          <a:p>
            <a:pPr indent="0" marL="0">
              <a:buNone/>
            </a:pPr>
            <a:r>
              <a:rPr lang="en-US" sz="1250" b="1" dirty="0">
                <a:solidFill>
                  <a:srgbClr val="FFD9D4"/>
                </a:solidFill>
              </a:rPr>
              <a:t>Undetected errors are priced at zero</a:t>
            </a:r>
            <a:endParaRPr lang="en-US" sz="1250" dirty="0"/>
          </a:p>
        </p:txBody>
      </p:sp>
      <p:sp>
        <p:nvSpPr>
          <p:cNvPr id="12" name="Text 10"/>
          <p:cNvSpPr txBox="1"/>
          <p:nvPr/>
        </p:nvSpPr>
        <p:spPr>
          <a:xfrm>
            <a:off x="1463040" y="2468880"/>
            <a:ext cx="9875520" cy="457200"/>
          </a:xfrm>
          <a:prstGeom prst="rect">
            <a:avLst/>
          </a:prstGeom>
          <a:noFill/>
          <a:ln/>
        </p:spPr>
        <p:txBody>
          <a:bodyPr wrap="square" lIns="0" tIns="0" rIns="0" bIns="0" rtlCol="0" anchor="ctr"/>
          <a:lstStyle/>
          <a:p>
            <a:pPr indent="0" marL="0">
              <a:buNone/>
            </a:pPr>
            <a:r>
              <a:rPr lang="en-US" sz="1050" dirty="0">
                <a:solidFill>
                  <a:srgbClr val="C3D2E6"/>
                </a:solidFill>
              </a:rPr>
              <a:t>1,701 on Adult, 276 on Breast Cancer. Every cost figure describes the flagged cells only, not total data-quality harm.</a:t>
            </a:r>
            <a:endParaRPr lang="en-US" sz="1050" dirty="0"/>
          </a:p>
        </p:txBody>
      </p:sp>
      <p:sp>
        <p:nvSpPr>
          <p:cNvPr id="13" name="l2"/>
          <p:cNvSpPr/>
          <p:nvPr/>
        </p:nvSpPr>
        <p:spPr>
          <a:xfrm>
            <a:off x="640080" y="3072384"/>
            <a:ext cx="10972800" cy="868680"/>
          </a:xfrm>
          <a:prstGeom prst="roundRect">
            <a:avLst>
              <a:gd name="adj" fmla="val 7368"/>
            </a:avLst>
          </a:prstGeom>
          <a:solidFill>
            <a:srgbClr val="16294C"/>
          </a:solidFill>
          <a:ln w="12700">
            <a:solidFill>
              <a:schemeClr val="accent5"/>
            </a:solidFill>
            <a:prstDash val="solid"/>
          </a:ln>
        </p:spPr>
      </p:sp>
      <p:sp>
        <p:nvSpPr>
          <p:cNvPr id="14" name="ld2"/>
          <p:cNvSpPr/>
          <p:nvPr/>
        </p:nvSpPr>
        <p:spPr>
          <a:xfrm>
            <a:off x="914400" y="3310128"/>
            <a:ext cx="365760" cy="365760"/>
          </a:xfrm>
          <a:prstGeom prst="ellipse">
            <a:avLst/>
          </a:prstGeom>
          <a:solidFill>
            <a:schemeClr val="accent5"/>
          </a:solidFill>
          <a:ln/>
        </p:spPr>
      </p:sp>
      <p:sp>
        <p:nvSpPr>
          <p:cNvPr id="15" name="Text 13"/>
          <p:cNvSpPr txBox="1"/>
          <p:nvPr/>
        </p:nvSpPr>
        <p:spPr>
          <a:xfrm>
            <a:off x="914400" y="33101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Text 14"/>
          <p:cNvSpPr txBox="1"/>
          <p:nvPr/>
        </p:nvSpPr>
        <p:spPr>
          <a:xfrm>
            <a:off x="1463040" y="3145536"/>
            <a:ext cx="9875520" cy="292608"/>
          </a:xfrm>
          <a:prstGeom prst="rect">
            <a:avLst/>
          </a:prstGeom>
          <a:noFill/>
          <a:ln/>
        </p:spPr>
        <p:txBody>
          <a:bodyPr wrap="square" lIns="0" tIns="0" rIns="0" bIns="0" rtlCol="0" anchor="ctr"/>
          <a:lstStyle/>
          <a:p>
            <a:pPr indent="0" marL="0">
              <a:buNone/>
            </a:pPr>
            <a:r>
              <a:rPr lang="en-US" sz="1250" b="1" dirty="0">
                <a:solidFill>
                  <a:srgbClr val="FFD9D4"/>
                </a:solidFill>
              </a:rPr>
              <a:t>Clean-data knowledge in the profile</a:t>
            </a:r>
            <a:endParaRPr lang="en-US" sz="1250" dirty="0"/>
          </a:p>
        </p:txBody>
      </p:sp>
      <p:sp>
        <p:nvSpPr>
          <p:cNvPr id="17" name="Text 15"/>
          <p:cNvSpPr txBox="1"/>
          <p:nvPr/>
        </p:nvSpPr>
        <p:spPr>
          <a:xfrm>
            <a:off x="1463040" y="3456432"/>
            <a:ext cx="9875520" cy="457200"/>
          </a:xfrm>
          <a:prstGeom prst="rect">
            <a:avLst/>
          </a:prstGeom>
          <a:noFill/>
          <a:ln/>
        </p:spPr>
        <p:txBody>
          <a:bodyPr wrap="square" lIns="0" tIns="0" rIns="0" bIns="0" rtlCol="0" anchor="ctr"/>
          <a:lstStyle/>
          <a:p>
            <a:pPr indent="0" marL="0">
              <a:buNone/>
            </a:pPr>
            <a:r>
              <a:rPr lang="en-US" sz="1050" dirty="0">
                <a:solidFill>
                  <a:srgbClr val="C3D2E6"/>
                </a:solidFill>
              </a:rPr>
              <a:t>Detector fences and imputation statistics derive from clean aggregates. Documented since the outset; the ablation is running now.</a:t>
            </a:r>
            <a:endParaRPr lang="en-US" sz="1050" dirty="0"/>
          </a:p>
        </p:txBody>
      </p:sp>
      <p:sp>
        <p:nvSpPr>
          <p:cNvPr id="18" name="l3"/>
          <p:cNvSpPr/>
          <p:nvPr/>
        </p:nvSpPr>
        <p:spPr>
          <a:xfrm>
            <a:off x="640080" y="4059936"/>
            <a:ext cx="10972800" cy="868680"/>
          </a:xfrm>
          <a:prstGeom prst="roundRect">
            <a:avLst>
              <a:gd name="adj" fmla="val 7368"/>
            </a:avLst>
          </a:prstGeom>
          <a:solidFill>
            <a:srgbClr val="16294C"/>
          </a:solidFill>
          <a:ln w="12700">
            <a:solidFill>
              <a:schemeClr val="accent5"/>
            </a:solidFill>
            <a:prstDash val="solid"/>
          </a:ln>
        </p:spPr>
      </p:sp>
      <p:sp>
        <p:nvSpPr>
          <p:cNvPr id="19" name="ld3"/>
          <p:cNvSpPr/>
          <p:nvPr/>
        </p:nvSpPr>
        <p:spPr>
          <a:xfrm>
            <a:off x="914400" y="4297680"/>
            <a:ext cx="365760" cy="365760"/>
          </a:xfrm>
          <a:prstGeom prst="ellipse">
            <a:avLst/>
          </a:prstGeom>
          <a:solidFill>
            <a:schemeClr val="accent5"/>
          </a:solidFill>
          <a:ln/>
        </p:spPr>
      </p:sp>
      <p:sp>
        <p:nvSpPr>
          <p:cNvPr id="20" name="Text 18"/>
          <p:cNvSpPr txBox="1"/>
          <p:nvPr/>
        </p:nvSpPr>
        <p:spPr>
          <a:xfrm>
            <a:off x="914400" y="4297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1" name="Text 19"/>
          <p:cNvSpPr txBox="1"/>
          <p:nvPr/>
        </p:nvSpPr>
        <p:spPr>
          <a:xfrm>
            <a:off x="1463040" y="4133088"/>
            <a:ext cx="9875520" cy="292608"/>
          </a:xfrm>
          <a:prstGeom prst="rect">
            <a:avLst/>
          </a:prstGeom>
          <a:noFill/>
          <a:ln/>
        </p:spPr>
        <p:txBody>
          <a:bodyPr wrap="square" lIns="0" tIns="0" rIns="0" bIns="0" rtlCol="0" anchor="ctr"/>
          <a:lstStyle/>
          <a:p>
            <a:pPr indent="0" marL="0">
              <a:buNone/>
            </a:pPr>
            <a:r>
              <a:rPr lang="en-US" sz="1250" b="1" dirty="0">
                <a:solidFill>
                  <a:srgbClr val="FFD9D4"/>
                </a:solidFill>
              </a:rPr>
              <a:t>The LLM barely helps</a:t>
            </a:r>
            <a:endParaRPr lang="en-US" sz="1250" dirty="0"/>
          </a:p>
        </p:txBody>
      </p:sp>
      <p:sp>
        <p:nvSpPr>
          <p:cNvPr id="22" name="Text 20"/>
          <p:cNvSpPr txBox="1"/>
          <p:nvPr/>
        </p:nvSpPr>
        <p:spPr>
          <a:xfrm>
            <a:off x="1463040" y="4443984"/>
            <a:ext cx="9875520" cy="457200"/>
          </a:xfrm>
          <a:prstGeom prst="rect">
            <a:avLst/>
          </a:prstGeom>
          <a:noFill/>
          <a:ln/>
        </p:spPr>
        <p:txBody>
          <a:bodyPr wrap="square" lIns="0" tIns="0" rIns="0" bIns="0" rtlCol="0" anchor="ctr"/>
          <a:lstStyle/>
          <a:p>
            <a:pPr indent="0" marL="0">
              <a:buNone/>
            </a:pPr>
            <a:r>
              <a:rPr lang="en-US" sz="1050" dirty="0">
                <a:solidFill>
                  <a:srgbClr val="C3D2E6"/>
                </a:solidFill>
              </a:rPr>
              <a:t>Mock repairs dominate the results. The title’s “LLM-Assisted” is only partly earned.</a:t>
            </a:r>
            <a:endParaRPr lang="en-US" sz="1050" dirty="0"/>
          </a:p>
        </p:txBody>
      </p:sp>
      <p:sp>
        <p:nvSpPr>
          <p:cNvPr id="23" name="l4"/>
          <p:cNvSpPr/>
          <p:nvPr/>
        </p:nvSpPr>
        <p:spPr>
          <a:xfrm>
            <a:off x="640080" y="5047488"/>
            <a:ext cx="10972800" cy="868680"/>
          </a:xfrm>
          <a:prstGeom prst="roundRect">
            <a:avLst>
              <a:gd name="adj" fmla="val 7368"/>
            </a:avLst>
          </a:prstGeom>
          <a:solidFill>
            <a:srgbClr val="16294C"/>
          </a:solidFill>
          <a:ln w="12700">
            <a:solidFill>
              <a:schemeClr val="accent5"/>
            </a:solidFill>
            <a:prstDash val="solid"/>
          </a:ln>
        </p:spPr>
      </p:sp>
      <p:sp>
        <p:nvSpPr>
          <p:cNvPr id="24" name="ld4"/>
          <p:cNvSpPr/>
          <p:nvPr/>
        </p:nvSpPr>
        <p:spPr>
          <a:xfrm>
            <a:off x="914400" y="5285232"/>
            <a:ext cx="365760" cy="365760"/>
          </a:xfrm>
          <a:prstGeom prst="ellipse">
            <a:avLst/>
          </a:prstGeom>
          <a:solidFill>
            <a:schemeClr val="accent5"/>
          </a:solidFill>
          <a:ln/>
        </p:spPr>
      </p:sp>
      <p:sp>
        <p:nvSpPr>
          <p:cNvPr id="25" name="Text 23"/>
          <p:cNvSpPr txBox="1"/>
          <p:nvPr/>
        </p:nvSpPr>
        <p:spPr>
          <a:xfrm>
            <a:off x="914400" y="52852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6" name="Text 24"/>
          <p:cNvSpPr txBox="1"/>
          <p:nvPr/>
        </p:nvSpPr>
        <p:spPr>
          <a:xfrm>
            <a:off x="1463040" y="5120640"/>
            <a:ext cx="9875520" cy="292608"/>
          </a:xfrm>
          <a:prstGeom prst="rect">
            <a:avLst/>
          </a:prstGeom>
          <a:noFill/>
          <a:ln/>
        </p:spPr>
        <p:txBody>
          <a:bodyPr wrap="square" lIns="0" tIns="0" rIns="0" bIns="0" rtlCol="0" anchor="ctr"/>
          <a:lstStyle/>
          <a:p>
            <a:pPr indent="0" marL="0">
              <a:buNone/>
            </a:pPr>
            <a:r>
              <a:rPr lang="en-US" sz="1250" b="1" dirty="0">
                <a:solidFill>
                  <a:srgbClr val="FFD9D4"/>
                </a:solidFill>
              </a:rPr>
              <a:t>External comparison not yet complete</a:t>
            </a:r>
            <a:endParaRPr lang="en-US" sz="1250" dirty="0"/>
          </a:p>
        </p:txBody>
      </p:sp>
      <p:sp>
        <p:nvSpPr>
          <p:cNvPr id="27" name="Text 25"/>
          <p:cNvSpPr txBox="1"/>
          <p:nvPr/>
        </p:nvSpPr>
        <p:spPr>
          <a:xfrm>
            <a:off x="1463040" y="5431536"/>
            <a:ext cx="9875520" cy="457200"/>
          </a:xfrm>
          <a:prstGeom prst="rect">
            <a:avLst/>
          </a:prstGeom>
          <a:noFill/>
          <a:ln/>
        </p:spPr>
        <p:txBody>
          <a:bodyPr wrap="square" lIns="0" tIns="0" rIns="0" bIns="0" rtlCol="0" anchor="ctr"/>
          <a:lstStyle/>
          <a:p>
            <a:pPr indent="0" marL="0">
              <a:buNone/>
            </a:pPr>
            <a:r>
              <a:rPr lang="en-US" sz="1050" dirty="0">
                <a:solidFill>
                  <a:srgbClr val="C3D2E6"/>
                </a:solidFill>
              </a:rPr>
              <a:t>Published baselines identified and installable; the comparison is running but not finished.</a:t>
            </a:r>
            <a:endParaRPr lang="en-US" sz="1050" dirty="0"/>
          </a:p>
        </p:txBody>
      </p:sp>
      <p:sp>
        <p:nvSpPr>
          <p:cNvPr id="28"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972800" cy="713232"/>
          </a:xfrm>
          <a:prstGeom prst="rect">
            <a:avLst/>
          </a:prstGeom>
          <a:noFill/>
          <a:ln/>
        </p:spPr>
        <p:txBody>
          <a:bodyPr wrap="square" rtlCol="0"/>
          <a:lstStyle/>
          <a:p>
            <a:pPr indent="0" marL="0">
              <a:buNone/>
            </a:pPr>
            <a:r>
              <a:rPr lang="en-US" sz="2800" b="1" dirty="0">
                <a:solidFill>
                  <a:schemeClr val="tx1"/>
                </a:solidFill>
              </a:rPr>
              <a:t>Current status and next steps</a:t>
            </a:r>
            <a:endParaRPr lang="en-US" sz="2800" dirty="0"/>
          </a:p>
        </p:txBody>
      </p:sp>
      <p:sp>
        <p:nvSpPr>
          <p:cNvPr id="3" name="k0.71.22"/>
          <p:cNvSpPr/>
          <p:nvPr/>
        </p:nvSpPr>
        <p:spPr>
          <a:xfrm>
            <a:off x="640080" y="1115568"/>
            <a:ext cx="5349240" cy="2377440"/>
          </a:xfrm>
          <a:prstGeom prst="roundRect">
            <a:avLst>
              <a:gd name="adj" fmla="val 3077"/>
            </a:avLst>
          </a:prstGeom>
          <a:solidFill>
            <a:srgbClr val="ECF7F1"/>
          </a:solidFill>
          <a:ln w="12700">
            <a:solidFill>
              <a:schemeClr val="accent1"/>
            </a:solidFill>
            <a:prstDash val="solid"/>
          </a:ln>
        </p:spPr>
      </p:sp>
      <p:sp>
        <p:nvSpPr>
          <p:cNvPr id="4" name="Text 2"/>
          <p:cNvSpPr txBox="1"/>
          <p:nvPr/>
        </p:nvSpPr>
        <p:spPr>
          <a:xfrm>
            <a:off x="914400" y="1261872"/>
            <a:ext cx="4800600" cy="274320"/>
          </a:xfrm>
          <a:prstGeom prst="rect">
            <a:avLst/>
          </a:prstGeom>
          <a:noFill/>
          <a:ln/>
        </p:spPr>
        <p:txBody>
          <a:bodyPr wrap="square" lIns="0" tIns="0" rIns="0" bIns="0" rtlCol="0" anchor="ctr"/>
          <a:lstStyle/>
          <a:p>
            <a:pPr indent="0" marL="0">
              <a:buNone/>
            </a:pPr>
            <a:r>
              <a:rPr lang="en-US" sz="1250" b="1" dirty="0">
                <a:solidFill>
                  <a:srgbClr val="18603A"/>
                </a:solidFill>
              </a:rPr>
              <a:t>Complete</a:t>
            </a:r>
            <a:endParaRPr lang="en-US" sz="1250" dirty="0"/>
          </a:p>
        </p:txBody>
      </p:sp>
      <p:sp>
        <p:nvSpPr>
          <p:cNvPr id="5" name="Text 3"/>
          <p:cNvSpPr txBox="1"/>
          <p:nvPr/>
        </p:nvSpPr>
        <p:spPr>
          <a:xfrm>
            <a:off x="914400" y="1609344"/>
            <a:ext cx="4800600" cy="1828800"/>
          </a:xfrm>
          <a:prstGeom prst="rect">
            <a:avLst/>
          </a:prstGeom>
          <a:noFill/>
          <a:ln/>
        </p:spPr>
        <p:txBody>
          <a:bodyPr wrap="square" rtlCol="0" anchor="ctr"/>
          <a:lstStyle/>
          <a:p>
            <a:pPr marL="342900" indent="-342900">
              <a:spcAft>
                <a:spcPts val="600"/>
              </a:spcAft>
              <a:buSzPct val="100000"/>
              <a:buChar char="•"/>
            </a:pPr>
            <a:r>
              <a:rPr lang="en-US" sz="1100" dirty="0">
                <a:solidFill>
                  <a:srgbClr val="1F6B44"/>
                </a:solidFill>
              </a:rPr>
              <a:t>All 13 pipeline phases, end to end</a:t>
            </a:r>
            <a:endParaRPr lang="en-US" sz="1100" dirty="0"/>
          </a:p>
          <a:p>
            <a:pPr marL="342900" indent="-342900">
              <a:spcAft>
                <a:spcPts val="600"/>
              </a:spcAft>
              <a:buSzPct val="100000"/>
              <a:buChar char="•"/>
            </a:pPr>
            <a:r>
              <a:rPr lang="en-US" sz="1100" dirty="0">
                <a:solidFill>
                  <a:srgbClr val="1F6B44"/>
                </a:solidFill>
              </a:rPr>
              <a:t>Calibrated three-way decision layer</a:t>
            </a:r>
            <a:endParaRPr lang="en-US" sz="1100" dirty="0"/>
          </a:p>
          <a:p>
            <a:pPr marL="342900" indent="-342900">
              <a:spcAft>
                <a:spcPts val="600"/>
              </a:spcAft>
              <a:buSzPct val="100000"/>
              <a:buChar char="•"/>
            </a:pPr>
            <a:r>
              <a:rPr lang="en-US" sz="1100" dirty="0">
                <a:solidFill>
                  <a:srgbClr val="1F6B44"/>
                </a:solidFill>
              </a:rPr>
              <a:t>Interactive dashboard for live demonstration</a:t>
            </a:r>
            <a:endParaRPr lang="en-US" sz="1100" dirty="0"/>
          </a:p>
          <a:p>
            <a:pPr marL="342900" indent="-342900">
              <a:spcAft>
                <a:spcPts val="600"/>
              </a:spcAft>
              <a:buSzPct val="100000"/>
              <a:buChar char="•"/>
            </a:pPr>
            <a:r>
              <a:rPr lang="en-US" sz="1100" dirty="0">
                <a:solidFill>
                  <a:srgbClr val="1F6B44"/>
                </a:solidFill>
              </a:rPr>
              <a:t>Real LLM integration, measured against a baseline</a:t>
            </a:r>
            <a:endParaRPr lang="en-US" sz="1100" dirty="0"/>
          </a:p>
          <a:p>
            <a:pPr marL="342900" indent="-342900">
              <a:spcAft>
                <a:spcPts val="600"/>
              </a:spcAft>
              <a:buSzPct val="100000"/>
              <a:buChar char="•"/>
            </a:pPr>
            <a:r>
              <a:rPr lang="en-US" sz="1100" dirty="0">
                <a:solidFill>
                  <a:srgbClr val="1F6B44"/>
                </a:solidFill>
              </a:rPr>
              <a:t>Fully reproducible experiment runner</a:t>
            </a:r>
            <a:endParaRPr lang="en-US" sz="1100" dirty="0"/>
          </a:p>
          <a:p>
            <a:pPr marL="342900" indent="-342900">
              <a:spcAft>
                <a:spcPts val="600"/>
              </a:spcAft>
              <a:buSzPct val="100000"/>
              <a:buChar char="•"/>
            </a:pPr>
            <a:r>
              <a:rPr lang="en-US" sz="1100" dirty="0">
                <a:solidFill>
                  <a:srgbClr val="1F6B44"/>
                </a:solidFill>
              </a:rPr>
              <a:t>Four research waves with honest ablations</a:t>
            </a:r>
            <a:endParaRPr lang="en-US" sz="1100" dirty="0"/>
          </a:p>
        </p:txBody>
      </p:sp>
      <p:sp>
        <p:nvSpPr>
          <p:cNvPr id="6" name="k6.851.22"/>
          <p:cNvSpPr/>
          <p:nvPr/>
        </p:nvSpPr>
        <p:spPr>
          <a:xfrm>
            <a:off x="6263640" y="1115568"/>
            <a:ext cx="5349240" cy="2377440"/>
          </a:xfrm>
          <a:prstGeom prst="roundRect">
            <a:avLst>
              <a:gd name="adj" fmla="val 3077"/>
            </a:avLst>
          </a:prstGeom>
          <a:solidFill>
            <a:srgbClr val="FDF3E3"/>
          </a:solidFill>
          <a:ln w="12700">
            <a:solidFill>
              <a:schemeClr val="accent2"/>
            </a:solidFill>
            <a:prstDash val="solid"/>
          </a:ln>
        </p:spPr>
      </p:sp>
      <p:sp>
        <p:nvSpPr>
          <p:cNvPr id="7" name="Text 5"/>
          <p:cNvSpPr txBox="1"/>
          <p:nvPr/>
        </p:nvSpPr>
        <p:spPr>
          <a:xfrm>
            <a:off x="6537960" y="1261872"/>
            <a:ext cx="4800600" cy="274320"/>
          </a:xfrm>
          <a:prstGeom prst="rect">
            <a:avLst/>
          </a:prstGeom>
          <a:noFill/>
          <a:ln/>
        </p:spPr>
        <p:txBody>
          <a:bodyPr wrap="square" lIns="0" tIns="0" rIns="0" bIns="0" rtlCol="0" anchor="ctr"/>
          <a:lstStyle/>
          <a:p>
            <a:pPr indent="0" marL="0">
              <a:buNone/>
            </a:pPr>
            <a:r>
              <a:rPr lang="en-US" sz="1250" b="1" dirty="0">
                <a:solidFill>
                  <a:srgbClr val="8A5A08"/>
                </a:solidFill>
              </a:rPr>
              <a:t>In progress (Wave 5)</a:t>
            </a:r>
            <a:endParaRPr lang="en-US" sz="1250" dirty="0"/>
          </a:p>
        </p:txBody>
      </p:sp>
      <p:sp>
        <p:nvSpPr>
          <p:cNvPr id="8" name="Text 6"/>
          <p:cNvSpPr txBox="1"/>
          <p:nvPr/>
        </p:nvSpPr>
        <p:spPr>
          <a:xfrm>
            <a:off x="6537960" y="1609344"/>
            <a:ext cx="4800600" cy="1828800"/>
          </a:xfrm>
          <a:prstGeom prst="rect">
            <a:avLst/>
          </a:prstGeom>
          <a:noFill/>
          <a:ln/>
        </p:spPr>
        <p:txBody>
          <a:bodyPr wrap="square" rtlCol="0" anchor="ctr"/>
          <a:lstStyle/>
          <a:p>
            <a:pPr marL="342900" indent="-342900">
              <a:spcAft>
                <a:spcPts val="600"/>
              </a:spcAft>
              <a:buSzPct val="100000"/>
              <a:buChar char="•"/>
            </a:pPr>
            <a:r>
              <a:rPr lang="en-US" sz="1100" dirty="0">
                <a:solidFill>
                  <a:srgbClr val="5F4206"/>
                </a:solidFill>
              </a:rPr>
              <a:t>External baseline comparison (Raha, 20-label budget)</a:t>
            </a:r>
            <a:endParaRPr lang="en-US" sz="1100" dirty="0"/>
          </a:p>
          <a:p>
            <a:pPr marL="342900" indent="-342900">
              <a:spcAft>
                <a:spcPts val="600"/>
              </a:spcAft>
              <a:buSzPct val="100000"/>
              <a:buChar char="•"/>
            </a:pPr>
            <a:r>
              <a:rPr lang="en-US" sz="1100" dirty="0">
                <a:solidFill>
                  <a:srgbClr val="5F4206"/>
                </a:solidFill>
              </a:rPr>
              <a:t>Complete costs including undetected errors</a:t>
            </a:r>
            <a:endParaRPr lang="en-US" sz="1100" dirty="0"/>
          </a:p>
          <a:p>
            <a:pPr marL="342900" indent="-342900">
              <a:spcAft>
                <a:spcPts val="600"/>
              </a:spcAft>
              <a:buSzPct val="100000"/>
              <a:buChar char="•"/>
            </a:pPr>
            <a:r>
              <a:rPr lang="en-US" sz="1100" dirty="0">
                <a:solidFill>
                  <a:srgbClr val="5F4206"/>
                </a:solidFill>
              </a:rPr>
              <a:t>Clean-data leakage ablation</a:t>
            </a:r>
            <a:endParaRPr lang="en-US" sz="1100" dirty="0"/>
          </a:p>
          <a:p>
            <a:pPr marL="342900" indent="-342900">
              <a:spcAft>
                <a:spcPts val="600"/>
              </a:spcAft>
              <a:buSzPct val="100000"/>
              <a:buChar char="•"/>
            </a:pPr>
            <a:r>
              <a:rPr lang="en-US" sz="1100" dirty="0">
                <a:solidFill>
                  <a:srgbClr val="5F4206"/>
                </a:solidFill>
              </a:rPr>
              <a:t>Controlled corruption study across types and rates</a:t>
            </a:r>
            <a:endParaRPr lang="en-US" sz="1100" dirty="0"/>
          </a:p>
          <a:p>
            <a:pPr marL="342900" indent="-342900">
              <a:spcAft>
                <a:spcPts val="600"/>
              </a:spcAft>
              <a:buSzPct val="100000"/>
              <a:buChar char="•"/>
            </a:pPr>
            <a:r>
              <a:rPr lang="en-US" sz="1100" dirty="0">
                <a:solidFill>
                  <a:srgbClr val="5F4206"/>
                </a:solidFill>
              </a:rPr>
              <a:t>Additional benchmark datasets</a:t>
            </a:r>
            <a:endParaRPr lang="en-US" sz="1100" dirty="0"/>
          </a:p>
        </p:txBody>
      </p:sp>
      <p:sp>
        <p:nvSpPr>
          <p:cNvPr id="9" name="k0.74"/>
          <p:cNvSpPr/>
          <p:nvPr/>
        </p:nvSpPr>
        <p:spPr>
          <a:xfrm>
            <a:off x="640080" y="3657600"/>
            <a:ext cx="10972800" cy="2057400"/>
          </a:xfrm>
          <a:prstGeom prst="roundRect">
            <a:avLst>
              <a:gd name="adj" fmla="val 3556"/>
            </a:avLst>
          </a:prstGeom>
          <a:solidFill>
            <a:srgbClr val="EAF3F8"/>
          </a:solidFill>
          <a:ln w="9525">
            <a:solidFill>
              <a:srgbClr val="DDE5EC"/>
            </a:solidFill>
            <a:prstDash val="solid"/>
          </a:ln>
        </p:spPr>
      </p:sp>
      <p:sp>
        <p:nvSpPr>
          <p:cNvPr id="10" name="Text 8"/>
          <p:cNvSpPr txBox="1"/>
          <p:nvPr/>
        </p:nvSpPr>
        <p:spPr>
          <a:xfrm>
            <a:off x="914400" y="3822192"/>
            <a:ext cx="10424160" cy="274320"/>
          </a:xfrm>
          <a:prstGeom prst="rect">
            <a:avLst/>
          </a:prstGeom>
          <a:noFill/>
          <a:ln/>
        </p:spPr>
        <p:txBody>
          <a:bodyPr wrap="square" lIns="0" tIns="0" rIns="0" bIns="0" rtlCol="0" anchor="ctr"/>
          <a:lstStyle/>
          <a:p>
            <a:pPr indent="0" marL="0">
              <a:buNone/>
            </a:pPr>
            <a:r>
              <a:rPr lang="en-US" sz="1300" b="1" dirty="0">
                <a:solidFill>
                  <a:srgbClr val="0E4A63"/>
                </a:solidFill>
              </a:rPr>
              <a:t>Concluding position</a:t>
            </a:r>
            <a:endParaRPr lang="en-US" sz="1300" dirty="0"/>
          </a:p>
        </p:txBody>
      </p:sp>
      <p:sp>
        <p:nvSpPr>
          <p:cNvPr id="11" name="Text 9"/>
          <p:cNvSpPr txBox="1"/>
          <p:nvPr/>
        </p:nvSpPr>
        <p:spPr>
          <a:xfrm>
            <a:off x="914400" y="4133088"/>
            <a:ext cx="10424160" cy="1463040"/>
          </a:xfrm>
          <a:prstGeom prst="rect">
            <a:avLst/>
          </a:prstGeom>
          <a:noFill/>
          <a:ln/>
        </p:spPr>
        <p:txBody>
          <a:bodyPr wrap="square" lIns="0" tIns="0" rIns="0" bIns="0" rtlCol="0" anchor="ctr"/>
          <a:lstStyle/>
          <a:p>
            <a:pPr indent="0" marL="0">
              <a:buNone/>
            </a:pPr>
            <a:r>
              <a:rPr lang="en-US" sz="1150" dirty="0">
                <a:solidFill>
                  <a:srgbClr val="14506B"/>
                </a:solidFill>
              </a:rPr>
              <a:t>Recoverable corruption is repaired almost perfectly by simple rules. Destroyed corruption cannot be repaired by anything — not by a rule, and not by a large language model. What matters is distinguishing the two and refusing to trust a repair that should not be trusted.</a:t>
            </a:r>
            <a:endParaRPr lang="en-US" sz="1150" dirty="0"/>
          </a:p>
          <a:p>
            <a:pPr indent="0" marL="0">
              <a:buNone/>
            </a:pPr>
            <a:endParaRPr lang="en-US" sz="1150" dirty="0"/>
          </a:p>
          <a:p>
            <a:pPr indent="0" marL="0">
              <a:buNone/>
            </a:pPr>
            <a:r>
              <a:rPr lang="en-US" sz="1150" dirty="0">
                <a:solidFill>
                  <a:srgbClr val="14506B"/>
                </a:solidFill>
              </a:rPr>
              <a:t>That is the decision layer, and it is the only method tested that is never badly beaten on any dataset. Several of our own proposed improvements were measured and found worthless; identifying them before publication rather than after is the programme working as intended.</a:t>
            </a:r>
            <a:endParaRPr lang="en-US" sz="1150" dirty="0"/>
          </a:p>
        </p:txBody>
      </p:sp>
      <p:sp>
        <p:nvSpPr>
          <p:cNvPr id="12" name="Text 1"/>
          <p:cNvSpPr/>
          <p:nvPr>
            <p:ph idx="102" hasCustomPrompt="1"/>
          </p:nvPr>
        </p:nvSpPr>
        <p:spPr>
          <a:xfrm>
            <a:off x="11338560" y="6382512"/>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theme/theme1.xml><?xml version="1.0" encoding="utf-8"?>
<a:theme xmlns:a="http://schemas.openxmlformats.org/drawingml/2006/main" name="RiskAwareReview2">
  <a:themeElements>
    <a:clrScheme name="RiskAwareReview2">
      <a:dk1>
        <a:srgbClr val="0F1E3D"/>
      </a:dk1>
      <a:lt1>
        <a:srgbClr val="FFFFFF"/>
      </a:lt1>
      <a:dk2>
        <a:srgbClr val="1C7293"/>
      </a:dk2>
      <a:lt2>
        <a:srgbClr val="F1F5F9"/>
      </a:lt2>
      <a:accent1>
        <a:srgbClr val="27AE60"/>
      </a:accent1>
      <a:accent2>
        <a:srgbClr val="F39C12"/>
      </a:accent2>
      <a:accent3>
        <a:srgbClr val="7F8C8D"/>
      </a:accent3>
      <a:accent4>
        <a:srgbClr val="8E44AD"/>
      </a:accent4>
      <a:accent5>
        <a:srgbClr val="C0392B"/>
      </a:accent5>
      <a:accent6>
        <a:srgbClr val="065A82"/>
      </a:accent6>
      <a:hlink>
        <a:srgbClr val="1C7293"/>
      </a:hlink>
      <a:folHlink>
        <a:srgbClr val="7F8C8D"/>
      </a:folHlink>
    </a:clrScheme>
    <a:fontScheme name="RiskAwareReview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Risk-Aware Data Repair - Review 2</dc:title>
  <dc:subject>PptxGenJS Presentation</dc:subject>
  <dc:creator>Saanvi</dc:creator>
  <cp:lastModifiedBy>Saanvi</cp:lastModifiedBy>
  <cp:revision>1</cp:revision>
  <dcterms:created xsi:type="dcterms:W3CDTF">2026-10-17T16:32:02Z</dcterms:created>
  <dcterms:modified xsi:type="dcterms:W3CDTF">2026-10-17T16:32:02Z</dcterms:modified>
</cp:coreProperties>
</file>